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7" d="100"/>
          <a:sy n="87" d="100"/>
        </p:scale>
        <p:origin x="6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9676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339A"/>
        </a:solidFill>
        <a:effectLst/>
      </p:bgPr>
    </p:bg>
    <p:spTree>
      <p:nvGrpSpPr>
        <p:cNvPr id="1" name=""/>
        <p:cNvGrpSpPr/>
        <p:nvPr/>
      </p:nvGrpSpPr>
      <p:grpSpPr>
        <a:xfrm>
          <a:off x="0" y="0"/>
          <a:ext cx="0" cy="0"/>
          <a:chOff x="0" y="0"/>
          <a:chExt cx="0" cy="0"/>
        </a:xfrm>
      </p:grpSpPr>
      <p:sp>
        <p:nvSpPr>
          <p:cNvPr id="2" name="Shape 0"/>
          <p:cNvSpPr/>
          <p:nvPr/>
        </p:nvSpPr>
        <p:spPr>
          <a:xfrm>
            <a:off x="6583680" y="-914400"/>
            <a:ext cx="4114800" cy="4114800"/>
          </a:xfrm>
          <a:prstGeom prst="ellipse">
            <a:avLst/>
          </a:prstGeom>
          <a:solidFill>
            <a:srgbClr val="5B4FCF">
              <a:alpha val="45000"/>
            </a:srgbClr>
          </a:solidFill>
          <a:ln w="12700">
            <a:solidFill>
              <a:srgbClr val="5B4FCF">
                <a:alpha val="45000"/>
              </a:srgbClr>
            </a:solidFill>
            <a:prstDash val="solid"/>
          </a:ln>
        </p:spPr>
      </p:sp>
      <p:sp>
        <p:nvSpPr>
          <p:cNvPr id="3" name="Shape 1"/>
          <p:cNvSpPr/>
          <p:nvPr/>
        </p:nvSpPr>
        <p:spPr>
          <a:xfrm>
            <a:off x="-731520" y="3200400"/>
            <a:ext cx="2743200" cy="2743200"/>
          </a:xfrm>
          <a:prstGeom prst="ellipse">
            <a:avLst/>
          </a:prstGeom>
          <a:solidFill>
            <a:srgbClr val="7C72E0">
              <a:alpha val="40000"/>
            </a:srgbClr>
          </a:solidFill>
          <a:ln w="12700">
            <a:solidFill>
              <a:srgbClr val="7C72E0">
                <a:alpha val="40000"/>
              </a:srgbClr>
            </a:solidFill>
            <a:prstDash val="solid"/>
          </a:ln>
        </p:spPr>
      </p:sp>
      <p:sp>
        <p:nvSpPr>
          <p:cNvPr id="4" name="Shape 2"/>
          <p:cNvSpPr/>
          <p:nvPr/>
        </p:nvSpPr>
        <p:spPr>
          <a:xfrm>
            <a:off x="548640" y="594360"/>
            <a:ext cx="2926080" cy="347472"/>
          </a:xfrm>
          <a:prstGeom prst="roundRect">
            <a:avLst>
              <a:gd name="adj" fmla="val 26316"/>
            </a:avLst>
          </a:prstGeom>
          <a:solidFill>
            <a:srgbClr val="F96167"/>
          </a:solidFill>
          <a:ln w="12700">
            <a:solidFill>
              <a:srgbClr val="F96167"/>
            </a:solidFill>
            <a:prstDash val="solid"/>
          </a:ln>
        </p:spPr>
        <p:txBody>
          <a:bodyPr/>
          <a:lstStyle/>
          <a:p>
            <a:endParaRPr lang="en-ID" dirty="0"/>
          </a:p>
        </p:txBody>
      </p:sp>
      <p:sp>
        <p:nvSpPr>
          <p:cNvPr id="5" name="Text 3"/>
          <p:cNvSpPr/>
          <p:nvPr/>
        </p:nvSpPr>
        <p:spPr>
          <a:xfrm>
            <a:off x="548640" y="602876"/>
            <a:ext cx="2926080" cy="347472"/>
          </a:xfrm>
          <a:prstGeom prst="rect">
            <a:avLst/>
          </a:prstGeom>
          <a:noFill/>
          <a:ln/>
        </p:spPr>
        <p:txBody>
          <a:bodyPr wrap="square" lIns="0" tIns="0" rIns="0" bIns="0" rtlCol="0" anchor="ctr"/>
          <a:lstStyle/>
          <a:p>
            <a:pPr marL="0" indent="0" algn="ctr">
              <a:buNone/>
            </a:pPr>
            <a:r>
              <a:rPr lang="en-US" sz="800" b="1" dirty="0">
                <a:solidFill>
                  <a:srgbClr val="FFFFFF"/>
                </a:solidFill>
              </a:rPr>
              <a:t>LAPORAN HASIL PROTOTIPE</a:t>
            </a:r>
            <a:r>
              <a:rPr lang="id-ID" sz="800" b="1" dirty="0">
                <a:solidFill>
                  <a:srgbClr val="FFFFFF"/>
                </a:solidFill>
              </a:rPr>
              <a:t> DESIGN THINKING</a:t>
            </a:r>
            <a:endParaRPr lang="en-US" sz="800" dirty="0"/>
          </a:p>
        </p:txBody>
      </p:sp>
      <p:sp>
        <p:nvSpPr>
          <p:cNvPr id="6" name="Text 4"/>
          <p:cNvSpPr/>
          <p:nvPr/>
        </p:nvSpPr>
        <p:spPr>
          <a:xfrm>
            <a:off x="548640" y="1143000"/>
            <a:ext cx="6858000" cy="594360"/>
          </a:xfrm>
          <a:prstGeom prst="rect">
            <a:avLst/>
          </a:prstGeom>
          <a:noFill/>
          <a:ln/>
        </p:spPr>
        <p:txBody>
          <a:bodyPr wrap="square" rtlCol="0" anchor="ctr"/>
          <a:lstStyle/>
          <a:p>
            <a:pPr marL="0" indent="0">
              <a:buNone/>
            </a:pPr>
            <a:r>
              <a:rPr lang="en-US" sz="2800" dirty="0">
                <a:solidFill>
                  <a:srgbClr val="EDE9FF"/>
                </a:solidFill>
                <a:latin typeface="Calibri Light" pitchFamily="34" charset="0"/>
                <a:ea typeface="Calibri Light" pitchFamily="34" charset="-122"/>
                <a:cs typeface="Calibri Light" pitchFamily="34" charset="-120"/>
              </a:rPr>
              <a:t>Media Layanan</a:t>
            </a:r>
            <a:endParaRPr lang="en-US" sz="2800" dirty="0"/>
          </a:p>
        </p:txBody>
      </p:sp>
      <p:sp>
        <p:nvSpPr>
          <p:cNvPr id="7" name="Text 5"/>
          <p:cNvSpPr/>
          <p:nvPr/>
        </p:nvSpPr>
        <p:spPr>
          <a:xfrm>
            <a:off x="548640" y="1691640"/>
            <a:ext cx="7772400" cy="96012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"RODA KENDALI"</a:t>
            </a:r>
            <a:endParaRPr lang="en-US" sz="5200" dirty="0"/>
          </a:p>
        </p:txBody>
      </p:sp>
      <p:sp>
        <p:nvSpPr>
          <p:cNvPr id="8" name="Text 6"/>
          <p:cNvSpPr/>
          <p:nvPr/>
        </p:nvSpPr>
        <p:spPr>
          <a:xfrm>
            <a:off x="548640" y="2633472"/>
            <a:ext cx="6858000" cy="457200"/>
          </a:xfrm>
          <a:prstGeom prst="rect">
            <a:avLst/>
          </a:prstGeom>
          <a:noFill/>
          <a:ln/>
        </p:spPr>
        <p:txBody>
          <a:bodyPr wrap="square" rtlCol="0" anchor="ctr"/>
          <a:lstStyle/>
          <a:p>
            <a:pPr marL="0" indent="0">
              <a:buNone/>
            </a:pPr>
            <a:r>
              <a:rPr lang="en-US" sz="1800" dirty="0">
                <a:solidFill>
                  <a:srgbClr val="CCBBFF"/>
                </a:solidFill>
                <a:latin typeface="Calibri Light" pitchFamily="34" charset="0"/>
                <a:ea typeface="Calibri Light" pitchFamily="34" charset="-122"/>
                <a:cs typeface="Calibri Light" pitchFamily="34" charset="-120"/>
              </a:rPr>
              <a:t>Meningkatkan Regulasi Diri Siswa SMA</a:t>
            </a:r>
            <a:endParaRPr lang="en-US" sz="1800" dirty="0"/>
          </a:p>
        </p:txBody>
      </p:sp>
      <p:sp>
        <p:nvSpPr>
          <p:cNvPr id="9" name="Shape 7"/>
          <p:cNvSpPr/>
          <p:nvPr/>
        </p:nvSpPr>
        <p:spPr>
          <a:xfrm>
            <a:off x="548640" y="3246120"/>
            <a:ext cx="3657600" cy="36576"/>
          </a:xfrm>
          <a:prstGeom prst="rect">
            <a:avLst/>
          </a:prstGeom>
          <a:solidFill>
            <a:srgbClr val="F96167"/>
          </a:solidFill>
          <a:ln w="12700">
            <a:solidFill>
              <a:srgbClr val="F96167"/>
            </a:solidFill>
            <a:prstDash val="solid"/>
          </a:ln>
        </p:spPr>
      </p:sp>
      <p:sp>
        <p:nvSpPr>
          <p:cNvPr id="16" name="Text 14"/>
          <p:cNvSpPr/>
          <p:nvPr/>
        </p:nvSpPr>
        <p:spPr>
          <a:xfrm>
            <a:off x="548640" y="3205775"/>
            <a:ext cx="3657600" cy="655611"/>
          </a:xfrm>
          <a:prstGeom prst="rect">
            <a:avLst/>
          </a:prstGeom>
          <a:noFill/>
          <a:ln/>
        </p:spPr>
        <p:txBody>
          <a:bodyPr wrap="square" rtlCol="0" anchor="ctr"/>
          <a:lstStyle/>
          <a:p>
            <a:pPr marL="0" indent="0">
              <a:buNone/>
            </a:pPr>
            <a:r>
              <a:rPr lang="en-US" sz="2000" dirty="0">
                <a:solidFill>
                  <a:srgbClr val="BBAAEE"/>
                </a:solidFill>
                <a:latin typeface="Calibri" pitchFamily="34" charset="0"/>
                <a:ea typeface="Calibri" pitchFamily="34" charset="-122"/>
                <a:cs typeface="Calibri" pitchFamily="34" charset="-120"/>
              </a:rPr>
              <a:t>Fahira Firzha Wianda (26960002)</a:t>
            </a:r>
            <a:endParaRPr lang="en-US" sz="2000" dirty="0"/>
          </a:p>
        </p:txBody>
      </p:sp>
      <p:sp>
        <p:nvSpPr>
          <p:cNvPr id="18" name="Shape 16"/>
          <p:cNvSpPr/>
          <p:nvPr/>
        </p:nvSpPr>
        <p:spPr>
          <a:xfrm>
            <a:off x="7498080" y="1371600"/>
            <a:ext cx="1417320" cy="2286000"/>
          </a:xfrm>
          <a:prstGeom prst="rect">
            <a:avLst/>
          </a:prstGeom>
          <a:solidFill>
            <a:srgbClr val="FFFFFF">
              <a:alpha val="15000"/>
            </a:srgbClr>
          </a:solidFill>
          <a:ln w="12700">
            <a:solidFill>
              <a:srgbClr val="EDE9FF"/>
            </a:solidFill>
            <a:prstDash val="solid"/>
          </a:ln>
        </p:spPr>
      </p:sp>
      <p:sp>
        <p:nvSpPr>
          <p:cNvPr id="19" name="Text 17"/>
          <p:cNvSpPr/>
          <p:nvPr/>
        </p:nvSpPr>
        <p:spPr>
          <a:xfrm>
            <a:off x="7498080" y="1371600"/>
            <a:ext cx="1417320" cy="2286000"/>
          </a:xfrm>
          <a:prstGeom prst="rect">
            <a:avLst/>
          </a:prstGeom>
          <a:noFill/>
          <a:ln/>
        </p:spPr>
        <p:txBody>
          <a:bodyPr wrap="square" rtlCol="0" anchor="ctr"/>
          <a:lstStyle/>
          <a:p>
            <a:pPr marL="0" indent="0" algn="ctr">
              <a:buNone/>
            </a:pPr>
            <a:r>
              <a:rPr lang="en-US" sz="900" dirty="0">
                <a:solidFill>
                  <a:srgbClr val="BBAAEE"/>
                </a:solidFill>
              </a:rPr>
              <a:t>📷</a:t>
            </a:r>
            <a:endParaRPr lang="en-US" sz="900" dirty="0"/>
          </a:p>
          <a:p>
            <a:pPr marL="0" indent="0" algn="ctr">
              <a:buNone/>
            </a:pPr>
            <a:r>
              <a:rPr lang="en-US" sz="900" dirty="0">
                <a:solidFill>
                  <a:srgbClr val="BBAAEE"/>
                </a:solidFill>
              </a:rPr>
              <a:t>Foto</a:t>
            </a:r>
            <a:endParaRPr lang="en-US" sz="900" dirty="0"/>
          </a:p>
          <a:p>
            <a:pPr marL="0" indent="0" algn="ctr">
              <a:buNone/>
            </a:pPr>
            <a:r>
              <a:rPr lang="en-US" sz="900" dirty="0">
                <a:solidFill>
                  <a:srgbClr val="BBAAEE"/>
                </a:solidFill>
              </a:rPr>
              <a:t>Kelompok</a:t>
            </a:r>
            <a:endParaRPr lang="en-US" sz="900" dirty="0"/>
          </a:p>
        </p:txBody>
      </p:sp>
      <p:pic>
        <p:nvPicPr>
          <p:cNvPr id="11" name="Gambar 10">
            <a:extLst>
              <a:ext uri="{FF2B5EF4-FFF2-40B4-BE49-F238E27FC236}">
                <a16:creationId xmlns:a16="http://schemas.microsoft.com/office/drawing/2014/main" id="{AFAA2945-F734-8817-AE9B-637E098C4F58}"/>
              </a:ext>
            </a:extLst>
          </p:cNvPr>
          <p:cNvPicPr>
            <a:picLocks noChangeAspect="1"/>
          </p:cNvPicPr>
          <p:nvPr/>
        </p:nvPicPr>
        <p:blipFill>
          <a:blip r:embed="rId3"/>
          <a:stretch>
            <a:fillRect/>
          </a:stretch>
        </p:blipFill>
        <p:spPr>
          <a:xfrm>
            <a:off x="6936638" y="1195425"/>
            <a:ext cx="1978762" cy="26383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5B4FCF"/>
          </a:solidFill>
          <a:ln w="12700">
            <a:solidFill>
              <a:srgbClr val="5B4FCF"/>
            </a:solidFill>
            <a:prstDash val="solid"/>
          </a:ln>
        </p:spPr>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600" b="1" dirty="0">
                <a:solidFill>
                  <a:srgbClr val="3D339A"/>
                </a:solidFill>
                <a:latin typeface="Calibri" pitchFamily="34" charset="0"/>
                <a:ea typeface="Calibri" pitchFamily="34" charset="-122"/>
                <a:cs typeface="Calibri" pitchFamily="34" charset="-120"/>
              </a:rPr>
              <a:t>Tentang Prototipe Roda Kendali</a:t>
            </a:r>
            <a:endParaRPr lang="en-US" sz="2600" dirty="0"/>
          </a:p>
        </p:txBody>
      </p:sp>
      <p:sp>
        <p:nvSpPr>
          <p:cNvPr id="4" name="Text 2"/>
          <p:cNvSpPr/>
          <p:nvPr/>
        </p:nvSpPr>
        <p:spPr>
          <a:xfrm>
            <a:off x="365760" y="713232"/>
            <a:ext cx="8412480" cy="274320"/>
          </a:xfrm>
          <a:prstGeom prst="rect">
            <a:avLst/>
          </a:prstGeom>
          <a:noFill/>
          <a:ln/>
        </p:spPr>
        <p:txBody>
          <a:bodyPr wrap="square" rtlCol="0" anchor="ctr"/>
          <a:lstStyle/>
          <a:p>
            <a:pPr marL="0" indent="0">
              <a:buNone/>
            </a:pPr>
            <a:r>
              <a:rPr lang="en-US" sz="1100" dirty="0">
                <a:solidFill>
                  <a:srgbClr val="6B7280"/>
                </a:solidFill>
                <a:latin typeface="Calibri Light" pitchFamily="34" charset="0"/>
                <a:ea typeface="Calibri Light" pitchFamily="34" charset="-122"/>
                <a:cs typeface="Calibri Light" pitchFamily="34" charset="-120"/>
              </a:rPr>
              <a:t>Apa itu? • Masalah apa yang dijawab? • Mengapa dipilih?</a:t>
            </a:r>
            <a:endParaRPr lang="en-US" sz="1100" dirty="0"/>
          </a:p>
        </p:txBody>
      </p:sp>
      <p:sp>
        <p:nvSpPr>
          <p:cNvPr id="5" name="Shape 3"/>
          <p:cNvSpPr/>
          <p:nvPr/>
        </p:nvSpPr>
        <p:spPr>
          <a:xfrm>
            <a:off x="365760" y="1115568"/>
            <a:ext cx="2743200" cy="3200400"/>
          </a:xfrm>
          <a:prstGeom prst="rect">
            <a:avLst/>
          </a:prstGeom>
          <a:solidFill>
            <a:srgbClr val="FFFFFF"/>
          </a:solidFill>
          <a:ln w="12700">
            <a:solidFill>
              <a:srgbClr val="E5E7EB"/>
            </a:solidFill>
            <a:prstDash val="solid"/>
          </a:ln>
          <a:effectLst>
            <a:outerShdw blurRad="101600" dist="25400" dir="8100000" algn="bl" rotWithShape="0">
              <a:srgbClr val="000000">
                <a:alpha val="8000"/>
              </a:srgbClr>
            </a:outerShdw>
          </a:effectLst>
        </p:spPr>
      </p:sp>
      <p:sp>
        <p:nvSpPr>
          <p:cNvPr id="6" name="Shape 4"/>
          <p:cNvSpPr/>
          <p:nvPr/>
        </p:nvSpPr>
        <p:spPr>
          <a:xfrm>
            <a:off x="365760" y="1115568"/>
            <a:ext cx="2743200" cy="73152"/>
          </a:xfrm>
          <a:prstGeom prst="rect">
            <a:avLst/>
          </a:prstGeom>
          <a:solidFill>
            <a:srgbClr val="5B4FCF"/>
          </a:solidFill>
          <a:ln w="12700">
            <a:solidFill>
              <a:srgbClr val="5B4FCF"/>
            </a:solidFill>
            <a:prstDash val="solid"/>
          </a:ln>
        </p:spPr>
      </p:sp>
      <p:sp>
        <p:nvSpPr>
          <p:cNvPr id="7" name="Text 5"/>
          <p:cNvSpPr/>
          <p:nvPr/>
        </p:nvSpPr>
        <p:spPr>
          <a:xfrm>
            <a:off x="457200" y="1234440"/>
            <a:ext cx="25603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8" name="Text 6"/>
          <p:cNvSpPr/>
          <p:nvPr/>
        </p:nvSpPr>
        <p:spPr>
          <a:xfrm>
            <a:off x="502920" y="1783080"/>
            <a:ext cx="2468880" cy="411480"/>
          </a:xfrm>
          <a:prstGeom prst="rect">
            <a:avLst/>
          </a:prstGeom>
          <a:noFill/>
          <a:ln/>
        </p:spPr>
        <p:txBody>
          <a:bodyPr wrap="square" rtlCol="0" anchor="ctr"/>
          <a:lstStyle/>
          <a:p>
            <a:pPr marL="0" indent="0" algn="ctr">
              <a:buNone/>
            </a:pPr>
            <a:r>
              <a:rPr lang="en-US" sz="1300" b="1" dirty="0">
                <a:solidFill>
                  <a:srgbClr val="3D339A"/>
                </a:solidFill>
                <a:latin typeface="Calibri" pitchFamily="34" charset="0"/>
                <a:ea typeface="Calibri" pitchFamily="34" charset="-122"/>
                <a:cs typeface="Calibri" pitchFamily="34" charset="-120"/>
              </a:rPr>
              <a:t>Apa itu?</a:t>
            </a:r>
            <a:endParaRPr lang="en-US" sz="1300" dirty="0"/>
          </a:p>
        </p:txBody>
      </p:sp>
      <p:sp>
        <p:nvSpPr>
          <p:cNvPr id="9" name="Text 7"/>
          <p:cNvSpPr/>
          <p:nvPr/>
        </p:nvSpPr>
        <p:spPr>
          <a:xfrm>
            <a:off x="502920" y="2267712"/>
            <a:ext cx="2468880" cy="1828800"/>
          </a:xfrm>
          <a:prstGeom prst="rect">
            <a:avLst/>
          </a:prstGeom>
          <a:noFill/>
          <a:ln/>
        </p:spPr>
        <p:txBody>
          <a:bodyPr wrap="square" rtlCol="0" anchor="t"/>
          <a:lstStyle/>
          <a:p>
            <a:pPr marL="0" indent="0" algn="l">
              <a:buNone/>
            </a:pPr>
            <a:r>
              <a:rPr lang="en-US" sz="1050" dirty="0">
                <a:solidFill>
                  <a:srgbClr val="1A1740"/>
                </a:solidFill>
                <a:latin typeface="Calibri" pitchFamily="34" charset="0"/>
                <a:ea typeface="Calibri" pitchFamily="34" charset="-122"/>
                <a:cs typeface="Calibri" pitchFamily="34" charset="-120"/>
              </a:rPr>
              <a:t>Media </a:t>
            </a:r>
            <a:r>
              <a:rPr lang="en-US" sz="1050" dirty="0" err="1">
                <a:solidFill>
                  <a:srgbClr val="1A1740"/>
                </a:solidFill>
                <a:latin typeface="Calibri" pitchFamily="34" charset="0"/>
                <a:ea typeface="Calibri" pitchFamily="34" charset="-122"/>
                <a:cs typeface="Calibri" pitchFamily="34" charset="-120"/>
              </a:rPr>
              <a:t>layanan</a:t>
            </a:r>
            <a:r>
              <a:rPr lang="en-US" sz="1050" dirty="0">
                <a:solidFill>
                  <a:srgbClr val="1A1740"/>
                </a:solidFill>
                <a:latin typeface="Calibri" pitchFamily="34" charset="0"/>
                <a:ea typeface="Calibri" pitchFamily="34" charset="-122"/>
                <a:cs typeface="Calibri" pitchFamily="34" charset="-120"/>
              </a:rPr>
              <a:t> </a:t>
            </a:r>
            <a:r>
              <a:rPr lang="id-ID" sz="1050" dirty="0">
                <a:solidFill>
                  <a:srgbClr val="1A1740"/>
                </a:solidFill>
                <a:latin typeface="Calibri" pitchFamily="34" charset="0"/>
                <a:ea typeface="Calibri" pitchFamily="34" charset="-122"/>
                <a:cs typeface="Calibri" pitchFamily="34" charset="-120"/>
              </a:rPr>
              <a:t>ini </a:t>
            </a:r>
            <a:r>
              <a:rPr lang="en-US" sz="1050" dirty="0" err="1">
                <a:solidFill>
                  <a:srgbClr val="1A1740"/>
                </a:solidFill>
                <a:latin typeface="Calibri" pitchFamily="34" charset="0"/>
                <a:ea typeface="Calibri" pitchFamily="34" charset="-122"/>
                <a:cs typeface="Calibri" pitchFamily="34" charset="-120"/>
              </a:rPr>
              <a:t>berbentuk</a:t>
            </a:r>
            <a:r>
              <a:rPr lang="en-US" sz="1050" dirty="0">
                <a:solidFill>
                  <a:srgbClr val="1A1740"/>
                </a:solidFill>
                <a:latin typeface="Calibri" pitchFamily="34" charset="0"/>
                <a:ea typeface="Calibri" pitchFamily="34" charset="-122"/>
                <a:cs typeface="Calibri" pitchFamily="34" charset="-120"/>
              </a:rPr>
              <a:t> kincir/</a:t>
            </a:r>
            <a:r>
              <a:rPr lang="en-US" sz="1050" dirty="0" err="1">
                <a:solidFill>
                  <a:srgbClr val="1A1740"/>
                </a:solidFill>
                <a:latin typeface="Calibri" pitchFamily="34" charset="0"/>
                <a:ea typeface="Calibri" pitchFamily="34" charset="-122"/>
                <a:cs typeface="Calibri" pitchFamily="34" charset="-120"/>
              </a:rPr>
              <a:t>bianglala</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dari</a:t>
            </a:r>
            <a:r>
              <a:rPr lang="id-ID" sz="1050" dirty="0">
                <a:solidFill>
                  <a:srgbClr val="1A1740"/>
                </a:solidFill>
                <a:latin typeface="Calibri" pitchFamily="34" charset="0"/>
                <a:ea typeface="Calibri" pitchFamily="34" charset="-122"/>
                <a:cs typeface="Calibri" pitchFamily="34" charset="-120"/>
              </a:rPr>
              <a:t> gabungan</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styrofoam</a:t>
            </a:r>
            <a:r>
              <a:rPr lang="id-ID" sz="1050" dirty="0">
                <a:solidFill>
                  <a:srgbClr val="1A1740"/>
                </a:solidFill>
                <a:latin typeface="Calibri" pitchFamily="34" charset="0"/>
                <a:ea typeface="Calibri" pitchFamily="34" charset="-122"/>
                <a:cs typeface="Calibri" pitchFamily="34" charset="-120"/>
              </a:rPr>
              <a:t> dan </a:t>
            </a:r>
            <a:r>
              <a:rPr lang="id-ID" sz="1050" dirty="0" err="1">
                <a:solidFill>
                  <a:srgbClr val="1A1740"/>
                </a:solidFill>
                <a:latin typeface="Calibri" pitchFamily="34" charset="0"/>
                <a:ea typeface="Calibri" pitchFamily="34" charset="-122"/>
                <a:cs typeface="Calibri" pitchFamily="34" charset="-120"/>
              </a:rPr>
              <a:t>stick</a:t>
            </a:r>
            <a:r>
              <a:rPr lang="id-ID" sz="1050" dirty="0">
                <a:solidFill>
                  <a:srgbClr val="1A1740"/>
                </a:solidFill>
                <a:latin typeface="Calibri" pitchFamily="34" charset="0"/>
                <a:ea typeface="Calibri" pitchFamily="34" charset="-122"/>
                <a:cs typeface="Calibri" pitchFamily="34" charset="-120"/>
              </a:rPr>
              <a:t> kayu</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dengan</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emotikon</a:t>
            </a:r>
            <a:r>
              <a:rPr lang="id-ID" sz="1050" dirty="0">
                <a:solidFill>
                  <a:srgbClr val="1A1740"/>
                </a:solidFill>
                <a:latin typeface="Calibri" pitchFamily="34" charset="0"/>
                <a:ea typeface="Calibri" pitchFamily="34" charset="-122"/>
                <a:cs typeface="Calibri" pitchFamily="34" charset="-120"/>
              </a:rPr>
              <a:t> yang beragam</a:t>
            </a:r>
            <a:r>
              <a:rPr lang="en-US" sz="1050" dirty="0">
                <a:solidFill>
                  <a:srgbClr val="1A1740"/>
                </a:solidFill>
                <a:latin typeface="Calibri" pitchFamily="34" charset="0"/>
                <a:ea typeface="Calibri" pitchFamily="34" charset="-122"/>
                <a:cs typeface="Calibri" pitchFamily="34" charset="-120"/>
              </a:rPr>
              <a:t>. </a:t>
            </a:r>
            <a:r>
              <a:rPr lang="id-ID" sz="1050" dirty="0">
                <a:solidFill>
                  <a:srgbClr val="1A1740"/>
                </a:solidFill>
                <a:latin typeface="Calibri" pitchFamily="34" charset="0"/>
                <a:ea typeface="Calibri" pitchFamily="34" charset="-122"/>
                <a:cs typeface="Calibri" pitchFamily="34" charset="-120"/>
              </a:rPr>
              <a:t>Cara permainannya yaitu s</a:t>
            </a:r>
            <a:r>
              <a:rPr lang="en-US" sz="1050" dirty="0" err="1">
                <a:solidFill>
                  <a:srgbClr val="1A1740"/>
                </a:solidFill>
                <a:latin typeface="Calibri" pitchFamily="34" charset="0"/>
                <a:ea typeface="Calibri" pitchFamily="34" charset="-122"/>
                <a:cs typeface="Calibri" pitchFamily="34" charset="-120"/>
              </a:rPr>
              <a:t>iswa</a:t>
            </a:r>
            <a:r>
              <a:rPr lang="id-ID" sz="1050" dirty="0">
                <a:solidFill>
                  <a:srgbClr val="1A1740"/>
                </a:solidFill>
                <a:latin typeface="Calibri" pitchFamily="34" charset="0"/>
                <a:ea typeface="Calibri" pitchFamily="34" charset="-122"/>
                <a:cs typeface="Calibri" pitchFamily="34" charset="-120"/>
              </a:rPr>
              <a:t> diminta</a:t>
            </a:r>
            <a:r>
              <a:rPr lang="en-US" sz="1050" dirty="0">
                <a:solidFill>
                  <a:srgbClr val="1A1740"/>
                </a:solidFill>
                <a:latin typeface="Calibri" pitchFamily="34" charset="0"/>
                <a:ea typeface="Calibri" pitchFamily="34" charset="-122"/>
                <a:cs typeface="Calibri" pitchFamily="34" charset="-120"/>
              </a:rPr>
              <a:t> memutar roda dan </a:t>
            </a:r>
            <a:r>
              <a:rPr lang="en-US" sz="1050" dirty="0" err="1">
                <a:solidFill>
                  <a:srgbClr val="1A1740"/>
                </a:solidFill>
                <a:latin typeface="Calibri" pitchFamily="34" charset="0"/>
                <a:ea typeface="Calibri" pitchFamily="34" charset="-122"/>
                <a:cs typeface="Calibri" pitchFamily="34" charset="-120"/>
              </a:rPr>
              <a:t>menjalankan</a:t>
            </a:r>
            <a:r>
              <a:rPr lang="id-ID" sz="1050" dirty="0">
                <a:solidFill>
                  <a:srgbClr val="1A1740"/>
                </a:solidFill>
                <a:latin typeface="Calibri" pitchFamily="34" charset="0"/>
                <a:ea typeface="Calibri" pitchFamily="34" charset="-122"/>
                <a:cs typeface="Calibri" pitchFamily="34" charset="-120"/>
              </a:rPr>
              <a:t> beberapa</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aktivitas</a:t>
            </a:r>
            <a:r>
              <a:rPr lang="id-ID" sz="1050" dirty="0">
                <a:solidFill>
                  <a:srgbClr val="1A1740"/>
                </a:solidFill>
                <a:latin typeface="Calibri" pitchFamily="34" charset="0"/>
                <a:ea typeface="Calibri" pitchFamily="34" charset="-122"/>
                <a:cs typeface="Calibri" pitchFamily="34" charset="-120"/>
              </a:rPr>
              <a:t> yang bertujuan untuk</a:t>
            </a:r>
            <a:r>
              <a:rPr lang="en-US" sz="1050" dirty="0">
                <a:solidFill>
                  <a:srgbClr val="1A1740"/>
                </a:solidFill>
                <a:latin typeface="Calibri" pitchFamily="34" charset="0"/>
                <a:ea typeface="Calibri" pitchFamily="34" charset="-122"/>
                <a:cs typeface="Calibri" pitchFamily="34" charset="-120"/>
              </a:rPr>
              <a:t> </a:t>
            </a:r>
            <a:r>
              <a:rPr lang="id-ID" sz="1050" dirty="0" err="1">
                <a:solidFill>
                  <a:srgbClr val="1A1740"/>
                </a:solidFill>
                <a:latin typeface="Calibri" pitchFamily="34" charset="0"/>
                <a:ea typeface="Calibri" pitchFamily="34" charset="-122"/>
                <a:cs typeface="Calibri" pitchFamily="34" charset="-120"/>
              </a:rPr>
              <a:t>mer</a:t>
            </a:r>
            <a:r>
              <a:rPr lang="en-US" sz="1050" dirty="0" err="1">
                <a:solidFill>
                  <a:srgbClr val="1A1740"/>
                </a:solidFill>
                <a:latin typeface="Calibri" pitchFamily="34" charset="0"/>
                <a:ea typeface="Calibri" pitchFamily="34" charset="-122"/>
                <a:cs typeface="Calibri" pitchFamily="34" charset="-120"/>
              </a:rPr>
              <a:t>efleksi</a:t>
            </a:r>
            <a:r>
              <a:rPr lang="id-ID" sz="1050" dirty="0">
                <a:solidFill>
                  <a:srgbClr val="1A1740"/>
                </a:solidFill>
                <a:latin typeface="Calibri" pitchFamily="34" charset="0"/>
                <a:ea typeface="Calibri" pitchFamily="34" charset="-122"/>
                <a:cs typeface="Calibri" pitchFamily="34" charset="-120"/>
              </a:rPr>
              <a:t>kan</a:t>
            </a:r>
            <a:r>
              <a:rPr lang="en-US" sz="1050" dirty="0">
                <a:solidFill>
                  <a:srgbClr val="1A1740"/>
                </a:solidFill>
                <a:latin typeface="Calibri" pitchFamily="34" charset="0"/>
                <a:ea typeface="Calibri" pitchFamily="34" charset="-122"/>
                <a:cs typeface="Calibri" pitchFamily="34" charset="-120"/>
              </a:rPr>
              <a:t> </a:t>
            </a:r>
            <a:r>
              <a:rPr lang="id-ID" sz="1050" dirty="0">
                <a:solidFill>
                  <a:srgbClr val="1A1740"/>
                </a:solidFill>
                <a:latin typeface="Calibri" pitchFamily="34" charset="0"/>
                <a:ea typeface="Calibri" pitchFamily="34" charset="-122"/>
                <a:cs typeface="Calibri" pitchFamily="34" charset="-120"/>
              </a:rPr>
              <a:t>d</a:t>
            </a:r>
            <a:r>
              <a:rPr lang="en-US" sz="1050" dirty="0" err="1">
                <a:solidFill>
                  <a:srgbClr val="1A1740"/>
                </a:solidFill>
                <a:latin typeface="Calibri" pitchFamily="34" charset="0"/>
                <a:ea typeface="Calibri" pitchFamily="34" charset="-122"/>
                <a:cs typeface="Calibri" pitchFamily="34" charset="-120"/>
              </a:rPr>
              <a:t>iri</a:t>
            </a:r>
            <a:r>
              <a:rPr lang="en-US" sz="1050" dirty="0">
                <a:solidFill>
                  <a:srgbClr val="1A1740"/>
                </a:solidFill>
                <a:latin typeface="Calibri" pitchFamily="34" charset="0"/>
                <a:ea typeface="Calibri" pitchFamily="34" charset="-122"/>
                <a:cs typeface="Calibri" pitchFamily="34" charset="-120"/>
              </a:rPr>
              <a:t>,</a:t>
            </a:r>
            <a:r>
              <a:rPr lang="id-ID" sz="1050" dirty="0">
                <a:solidFill>
                  <a:srgbClr val="1A1740"/>
                </a:solidFill>
                <a:latin typeface="Calibri" pitchFamily="34" charset="0"/>
                <a:ea typeface="Calibri" pitchFamily="34" charset="-122"/>
                <a:cs typeface="Calibri" pitchFamily="34" charset="-120"/>
              </a:rPr>
              <a:t> menjawab pertanyaan, menjalankan</a:t>
            </a:r>
            <a:r>
              <a:rPr lang="en-US" sz="1050" dirty="0">
                <a:solidFill>
                  <a:srgbClr val="1A1740"/>
                </a:solidFill>
                <a:latin typeface="Calibri" pitchFamily="34" charset="0"/>
                <a:ea typeface="Calibri" pitchFamily="34" charset="-122"/>
                <a:cs typeface="Calibri" pitchFamily="34" charset="-120"/>
              </a:rPr>
              <a:t> </a:t>
            </a:r>
            <a:r>
              <a:rPr lang="id-ID" sz="1050" dirty="0">
                <a:solidFill>
                  <a:srgbClr val="1A1740"/>
                </a:solidFill>
                <a:latin typeface="Calibri" pitchFamily="34" charset="0"/>
                <a:ea typeface="Calibri" pitchFamily="34" charset="-122"/>
                <a:cs typeface="Calibri" pitchFamily="34" charset="-120"/>
              </a:rPr>
              <a:t>m</a:t>
            </a:r>
            <a:r>
              <a:rPr lang="en-US" sz="1050" dirty="0" err="1">
                <a:solidFill>
                  <a:srgbClr val="1A1740"/>
                </a:solidFill>
                <a:latin typeface="Calibri" pitchFamily="34" charset="0"/>
                <a:ea typeface="Calibri" pitchFamily="34" charset="-122"/>
                <a:cs typeface="Calibri" pitchFamily="34" charset="-120"/>
              </a:rPr>
              <a:t>isi</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atau</a:t>
            </a:r>
            <a:r>
              <a:rPr lang="id-ID" sz="1050" dirty="0">
                <a:solidFill>
                  <a:srgbClr val="1A1740"/>
                </a:solidFill>
                <a:latin typeface="Calibri" pitchFamily="34" charset="0"/>
                <a:ea typeface="Calibri" pitchFamily="34" charset="-122"/>
                <a:cs typeface="Calibri" pitchFamily="34" charset="-120"/>
              </a:rPr>
              <a:t> </a:t>
            </a:r>
            <a:r>
              <a:rPr lang="id-ID" sz="1050" dirty="0" err="1">
                <a:solidFill>
                  <a:srgbClr val="1A1740"/>
                </a:solidFill>
                <a:latin typeface="Calibri" pitchFamily="34" charset="0"/>
                <a:ea typeface="Calibri" pitchFamily="34" charset="-122"/>
                <a:cs typeface="Calibri" pitchFamily="34" charset="-120"/>
              </a:rPr>
              <a:t>melakaukan</a:t>
            </a:r>
            <a:r>
              <a:rPr lang="en-US" sz="1050" dirty="0">
                <a:solidFill>
                  <a:srgbClr val="1A1740"/>
                </a:solidFill>
                <a:latin typeface="Calibri" pitchFamily="34" charset="0"/>
                <a:ea typeface="Calibri" pitchFamily="34" charset="-122"/>
                <a:cs typeface="Calibri" pitchFamily="34" charset="-120"/>
              </a:rPr>
              <a:t> </a:t>
            </a:r>
            <a:r>
              <a:rPr lang="id-ID" sz="1050" dirty="0" err="1">
                <a:solidFill>
                  <a:srgbClr val="1A1740"/>
                </a:solidFill>
                <a:latin typeface="Calibri" pitchFamily="34" charset="0"/>
                <a:ea typeface="Calibri" pitchFamily="34" charset="-122"/>
                <a:cs typeface="Calibri" pitchFamily="34" charset="-120"/>
              </a:rPr>
              <a:t>role</a:t>
            </a:r>
            <a:r>
              <a:rPr lang="id-ID" sz="1050" dirty="0">
                <a:solidFill>
                  <a:srgbClr val="1A1740"/>
                </a:solidFill>
                <a:latin typeface="Calibri" pitchFamily="34" charset="0"/>
                <a:ea typeface="Calibri" pitchFamily="34" charset="-122"/>
                <a:cs typeface="Calibri" pitchFamily="34" charset="-120"/>
              </a:rPr>
              <a:t> </a:t>
            </a:r>
            <a:r>
              <a:rPr lang="id-ID" sz="1050" dirty="0" err="1">
                <a:solidFill>
                  <a:srgbClr val="1A1740"/>
                </a:solidFill>
                <a:latin typeface="Calibri" pitchFamily="34" charset="0"/>
                <a:ea typeface="Calibri" pitchFamily="34" charset="-122"/>
                <a:cs typeface="Calibri" pitchFamily="34" charset="-120"/>
              </a:rPr>
              <a:t>playing</a:t>
            </a:r>
            <a:r>
              <a:rPr lang="id-ID" sz="1050" dirty="0">
                <a:solidFill>
                  <a:srgbClr val="1A1740"/>
                </a:solidFill>
                <a:latin typeface="Calibri" pitchFamily="34" charset="0"/>
                <a:ea typeface="Calibri" pitchFamily="34" charset="-122"/>
                <a:cs typeface="Calibri" pitchFamily="34" charset="-120"/>
              </a:rPr>
              <a:t> di kelas</a:t>
            </a:r>
            <a:r>
              <a:rPr lang="en-US" sz="1050" dirty="0">
                <a:solidFill>
                  <a:srgbClr val="1A1740"/>
                </a:solidFill>
                <a:latin typeface="Calibri" pitchFamily="34" charset="0"/>
                <a:ea typeface="Calibri" pitchFamily="34" charset="-122"/>
                <a:cs typeface="Calibri" pitchFamily="34" charset="-120"/>
              </a:rPr>
              <a:t>.</a:t>
            </a:r>
            <a:endParaRPr lang="en-US" sz="1050" dirty="0"/>
          </a:p>
        </p:txBody>
      </p:sp>
      <p:sp>
        <p:nvSpPr>
          <p:cNvPr id="10" name="Shape 8"/>
          <p:cNvSpPr/>
          <p:nvPr/>
        </p:nvSpPr>
        <p:spPr>
          <a:xfrm>
            <a:off x="3291840" y="1115568"/>
            <a:ext cx="2743200" cy="3200400"/>
          </a:xfrm>
          <a:prstGeom prst="rect">
            <a:avLst/>
          </a:prstGeom>
          <a:solidFill>
            <a:srgbClr val="FFFFFF"/>
          </a:solidFill>
          <a:ln w="12700">
            <a:solidFill>
              <a:srgbClr val="E5E7EB"/>
            </a:solidFill>
            <a:prstDash val="solid"/>
          </a:ln>
          <a:effectLst>
            <a:outerShdw blurRad="101600" dist="25400" dir="8100000" algn="bl" rotWithShape="0">
              <a:srgbClr val="000000">
                <a:alpha val="8000"/>
              </a:srgbClr>
            </a:outerShdw>
          </a:effectLst>
        </p:spPr>
      </p:sp>
      <p:sp>
        <p:nvSpPr>
          <p:cNvPr id="11" name="Shape 9"/>
          <p:cNvSpPr/>
          <p:nvPr/>
        </p:nvSpPr>
        <p:spPr>
          <a:xfrm>
            <a:off x="3291840" y="1115568"/>
            <a:ext cx="2743200" cy="73152"/>
          </a:xfrm>
          <a:prstGeom prst="rect">
            <a:avLst/>
          </a:prstGeom>
          <a:solidFill>
            <a:srgbClr val="F96167"/>
          </a:solidFill>
          <a:ln w="12700">
            <a:solidFill>
              <a:srgbClr val="F96167"/>
            </a:solidFill>
            <a:prstDash val="solid"/>
          </a:ln>
        </p:spPr>
      </p:sp>
      <p:sp>
        <p:nvSpPr>
          <p:cNvPr id="12" name="Text 10"/>
          <p:cNvSpPr/>
          <p:nvPr/>
        </p:nvSpPr>
        <p:spPr>
          <a:xfrm>
            <a:off x="3383280" y="1234440"/>
            <a:ext cx="25603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3429000" y="1783080"/>
            <a:ext cx="2468880" cy="411480"/>
          </a:xfrm>
          <a:prstGeom prst="rect">
            <a:avLst/>
          </a:prstGeom>
          <a:noFill/>
          <a:ln/>
        </p:spPr>
        <p:txBody>
          <a:bodyPr wrap="square" rtlCol="0" anchor="ctr"/>
          <a:lstStyle/>
          <a:p>
            <a:pPr marL="0" indent="0" algn="ctr">
              <a:buNone/>
            </a:pPr>
            <a:r>
              <a:rPr lang="en-US" sz="1300" b="1" dirty="0">
                <a:solidFill>
                  <a:srgbClr val="3D339A"/>
                </a:solidFill>
                <a:latin typeface="Calibri" pitchFamily="34" charset="0"/>
                <a:ea typeface="Calibri" pitchFamily="34" charset="-122"/>
                <a:cs typeface="Calibri" pitchFamily="34" charset="-120"/>
              </a:rPr>
              <a:t>Menjawab Masalah Apa?</a:t>
            </a:r>
            <a:endParaRPr lang="en-US" sz="1300" dirty="0"/>
          </a:p>
        </p:txBody>
      </p:sp>
      <p:sp>
        <p:nvSpPr>
          <p:cNvPr id="14" name="Text 12"/>
          <p:cNvSpPr/>
          <p:nvPr/>
        </p:nvSpPr>
        <p:spPr>
          <a:xfrm>
            <a:off x="3429000" y="2267712"/>
            <a:ext cx="2468880" cy="1828800"/>
          </a:xfrm>
          <a:prstGeom prst="rect">
            <a:avLst/>
          </a:prstGeom>
          <a:noFill/>
          <a:ln/>
        </p:spPr>
        <p:txBody>
          <a:bodyPr wrap="square" rtlCol="0" anchor="t"/>
          <a:lstStyle/>
          <a:p>
            <a:pPr marL="0" indent="0" algn="l">
              <a:buNone/>
            </a:pPr>
            <a:r>
              <a:rPr lang="id-ID" sz="1050" dirty="0">
                <a:solidFill>
                  <a:srgbClr val="1A1740"/>
                </a:solidFill>
                <a:latin typeface="Calibri" pitchFamily="34" charset="0"/>
                <a:ea typeface="Calibri" pitchFamily="34" charset="-122"/>
                <a:cs typeface="Calibri" pitchFamily="34" charset="-120"/>
              </a:rPr>
              <a:t>Roda kendali ini diharapkan mampu menjawab permasalahan peserta didik seperti r</a:t>
            </a:r>
            <a:r>
              <a:rPr lang="en-US" sz="1050" dirty="0" err="1">
                <a:solidFill>
                  <a:srgbClr val="1A1740"/>
                </a:solidFill>
                <a:latin typeface="Calibri" pitchFamily="34" charset="0"/>
                <a:ea typeface="Calibri" pitchFamily="34" charset="-122"/>
                <a:cs typeface="Calibri" pitchFamily="34" charset="-120"/>
              </a:rPr>
              <a:t>endahnya</a:t>
            </a:r>
            <a:r>
              <a:rPr lang="en-US" sz="1050" dirty="0">
                <a:solidFill>
                  <a:srgbClr val="1A1740"/>
                </a:solidFill>
                <a:latin typeface="Calibri" pitchFamily="34" charset="0"/>
                <a:ea typeface="Calibri" pitchFamily="34" charset="-122"/>
                <a:cs typeface="Calibri" pitchFamily="34" charset="-120"/>
              </a:rPr>
              <a:t> kemampuan regulasi </a:t>
            </a:r>
            <a:r>
              <a:rPr lang="en-US" sz="1050" dirty="0" err="1">
                <a:solidFill>
                  <a:srgbClr val="1A1740"/>
                </a:solidFill>
                <a:latin typeface="Calibri" pitchFamily="34" charset="0"/>
                <a:ea typeface="Calibri" pitchFamily="34" charset="-122"/>
                <a:cs typeface="Calibri" pitchFamily="34" charset="-120"/>
              </a:rPr>
              <a:t>diri</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siswa</a:t>
            </a:r>
            <a:r>
              <a:rPr lang="id-ID" sz="1050" dirty="0">
                <a:solidFill>
                  <a:srgbClr val="1A1740"/>
                </a:solidFill>
                <a:latin typeface="Calibri" pitchFamily="34" charset="0"/>
                <a:ea typeface="Calibri" pitchFamily="34" charset="-122"/>
                <a:cs typeface="Calibri" pitchFamily="34" charset="-120"/>
              </a:rPr>
              <a:t> di</a:t>
            </a:r>
            <a:r>
              <a:rPr lang="en-US" sz="1050" dirty="0">
                <a:solidFill>
                  <a:srgbClr val="1A1740"/>
                </a:solidFill>
                <a:latin typeface="Calibri" pitchFamily="34" charset="0"/>
                <a:ea typeface="Calibri" pitchFamily="34" charset="-122"/>
                <a:cs typeface="Calibri" pitchFamily="34" charset="-120"/>
              </a:rPr>
              <a:t> SMA</a:t>
            </a:r>
            <a:r>
              <a:rPr lang="id-ID" sz="1050" dirty="0">
                <a:solidFill>
                  <a:srgbClr val="1A1740"/>
                </a:solidFill>
                <a:latin typeface="Calibri" pitchFamily="34" charset="0"/>
                <a:ea typeface="Calibri" pitchFamily="34" charset="-122"/>
                <a:cs typeface="Calibri" pitchFamily="34" charset="-120"/>
              </a:rPr>
              <a:t> contohnya :</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sulit</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mengenali</a:t>
            </a:r>
            <a:r>
              <a:rPr lang="id-ID" sz="1050" dirty="0">
                <a:solidFill>
                  <a:srgbClr val="1A1740"/>
                </a:solidFill>
                <a:latin typeface="Calibri" pitchFamily="34" charset="0"/>
                <a:ea typeface="Calibri" pitchFamily="34" charset="-122"/>
                <a:cs typeface="Calibri" pitchFamily="34" charset="-120"/>
              </a:rPr>
              <a:t> dan mengendalikan</a:t>
            </a:r>
            <a:r>
              <a:rPr lang="en-US" sz="1050" dirty="0">
                <a:solidFill>
                  <a:srgbClr val="1A1740"/>
                </a:solidFill>
                <a:latin typeface="Calibri" pitchFamily="34" charset="0"/>
                <a:ea typeface="Calibri" pitchFamily="34" charset="-122"/>
                <a:cs typeface="Calibri" pitchFamily="34" charset="-120"/>
              </a:rPr>
              <a:t> emosi, kurang berani mengekspresikan diri, dan </a:t>
            </a:r>
            <a:r>
              <a:rPr lang="en-US" sz="1050" dirty="0" err="1">
                <a:solidFill>
                  <a:srgbClr val="1A1740"/>
                </a:solidFill>
                <a:latin typeface="Calibri" pitchFamily="34" charset="0"/>
                <a:ea typeface="Calibri" pitchFamily="34" charset="-122"/>
                <a:cs typeface="Calibri" pitchFamily="34" charset="-120"/>
              </a:rPr>
              <a:t>rendahnya</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keterlibatan</a:t>
            </a:r>
            <a:r>
              <a:rPr lang="id-ID" sz="1050" dirty="0">
                <a:solidFill>
                  <a:srgbClr val="1A1740"/>
                </a:solidFill>
                <a:latin typeface="Calibri" pitchFamily="34" charset="0"/>
                <a:ea typeface="Calibri" pitchFamily="34" charset="-122"/>
                <a:cs typeface="Calibri" pitchFamily="34" charset="-120"/>
              </a:rPr>
              <a:t> selama dikelas atau</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dalam</a:t>
            </a:r>
            <a:r>
              <a:rPr lang="en-US" sz="1050" dirty="0">
                <a:solidFill>
                  <a:srgbClr val="1A1740"/>
                </a:solidFill>
                <a:latin typeface="Calibri" pitchFamily="34" charset="0"/>
                <a:ea typeface="Calibri" pitchFamily="34" charset="-122"/>
                <a:cs typeface="Calibri" pitchFamily="34" charset="-120"/>
              </a:rPr>
              <a:t> </a:t>
            </a:r>
            <a:r>
              <a:rPr lang="id-ID" sz="1050" dirty="0">
                <a:solidFill>
                  <a:srgbClr val="1A1740"/>
                </a:solidFill>
                <a:latin typeface="Calibri" pitchFamily="34" charset="0"/>
                <a:ea typeface="Calibri" pitchFamily="34" charset="-122"/>
                <a:cs typeface="Calibri" pitchFamily="34" charset="-120"/>
              </a:rPr>
              <a:t>kegiatan </a:t>
            </a:r>
            <a:r>
              <a:rPr lang="en-US" sz="1050" dirty="0" err="1">
                <a:solidFill>
                  <a:srgbClr val="1A1740"/>
                </a:solidFill>
                <a:latin typeface="Calibri" pitchFamily="34" charset="0"/>
                <a:ea typeface="Calibri" pitchFamily="34" charset="-122"/>
                <a:cs typeface="Calibri" pitchFamily="34" charset="-120"/>
              </a:rPr>
              <a:t>layanan</a:t>
            </a:r>
            <a:r>
              <a:rPr lang="en-US" sz="1050" dirty="0">
                <a:solidFill>
                  <a:srgbClr val="1A1740"/>
                </a:solidFill>
                <a:latin typeface="Calibri" pitchFamily="34" charset="0"/>
                <a:ea typeface="Calibri" pitchFamily="34" charset="-122"/>
                <a:cs typeface="Calibri" pitchFamily="34" charset="-120"/>
              </a:rPr>
              <a:t> BK.</a:t>
            </a:r>
            <a:endParaRPr lang="en-US" sz="1050" dirty="0"/>
          </a:p>
        </p:txBody>
      </p:sp>
      <p:sp>
        <p:nvSpPr>
          <p:cNvPr id="15" name="Shape 13"/>
          <p:cNvSpPr/>
          <p:nvPr/>
        </p:nvSpPr>
        <p:spPr>
          <a:xfrm>
            <a:off x="6217920" y="1115568"/>
            <a:ext cx="2743200" cy="3200400"/>
          </a:xfrm>
          <a:prstGeom prst="rect">
            <a:avLst/>
          </a:prstGeom>
          <a:solidFill>
            <a:srgbClr val="FFFFFF"/>
          </a:solidFill>
          <a:ln w="12700">
            <a:solidFill>
              <a:srgbClr val="E5E7EB"/>
            </a:solidFill>
            <a:prstDash val="solid"/>
          </a:ln>
          <a:effectLst>
            <a:outerShdw blurRad="101600" dist="25400" dir="8100000" algn="bl" rotWithShape="0">
              <a:srgbClr val="000000">
                <a:alpha val="8000"/>
              </a:srgbClr>
            </a:outerShdw>
          </a:effectLst>
        </p:spPr>
      </p:sp>
      <p:sp>
        <p:nvSpPr>
          <p:cNvPr id="16" name="Shape 14"/>
          <p:cNvSpPr/>
          <p:nvPr/>
        </p:nvSpPr>
        <p:spPr>
          <a:xfrm>
            <a:off x="6217920" y="1115568"/>
            <a:ext cx="2743200" cy="73152"/>
          </a:xfrm>
          <a:prstGeom prst="rect">
            <a:avLst/>
          </a:prstGeom>
          <a:solidFill>
            <a:srgbClr val="3DAA6E"/>
          </a:solidFill>
          <a:ln w="12700">
            <a:solidFill>
              <a:srgbClr val="3DAA6E"/>
            </a:solidFill>
            <a:prstDash val="solid"/>
          </a:ln>
        </p:spPr>
      </p:sp>
      <p:sp>
        <p:nvSpPr>
          <p:cNvPr id="17" name="Text 15"/>
          <p:cNvSpPr/>
          <p:nvPr/>
        </p:nvSpPr>
        <p:spPr>
          <a:xfrm>
            <a:off x="6309360" y="1234440"/>
            <a:ext cx="2560320" cy="5486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8" name="Text 16"/>
          <p:cNvSpPr/>
          <p:nvPr/>
        </p:nvSpPr>
        <p:spPr>
          <a:xfrm>
            <a:off x="6355080" y="1783080"/>
            <a:ext cx="2468880" cy="411480"/>
          </a:xfrm>
          <a:prstGeom prst="rect">
            <a:avLst/>
          </a:prstGeom>
          <a:noFill/>
          <a:ln/>
        </p:spPr>
        <p:txBody>
          <a:bodyPr wrap="square" rtlCol="0" anchor="ctr"/>
          <a:lstStyle/>
          <a:p>
            <a:pPr marL="0" indent="0" algn="ctr">
              <a:buNone/>
            </a:pPr>
            <a:r>
              <a:rPr lang="en-US" sz="1300" b="1" dirty="0">
                <a:solidFill>
                  <a:srgbClr val="3D339A"/>
                </a:solidFill>
                <a:latin typeface="Calibri" pitchFamily="34" charset="0"/>
                <a:ea typeface="Calibri" pitchFamily="34" charset="-122"/>
                <a:cs typeface="Calibri" pitchFamily="34" charset="-120"/>
              </a:rPr>
              <a:t>Mengapa Dipilih?</a:t>
            </a:r>
            <a:endParaRPr lang="en-US" sz="1300" dirty="0"/>
          </a:p>
        </p:txBody>
      </p:sp>
      <p:sp>
        <p:nvSpPr>
          <p:cNvPr id="19" name="Text 17"/>
          <p:cNvSpPr/>
          <p:nvPr/>
        </p:nvSpPr>
        <p:spPr>
          <a:xfrm>
            <a:off x="6355080" y="2267712"/>
            <a:ext cx="2468880" cy="1828800"/>
          </a:xfrm>
          <a:prstGeom prst="rect">
            <a:avLst/>
          </a:prstGeom>
          <a:noFill/>
          <a:ln/>
        </p:spPr>
        <p:txBody>
          <a:bodyPr wrap="square" rtlCol="0" anchor="t"/>
          <a:lstStyle/>
          <a:p>
            <a:pPr marL="0" indent="0" algn="l">
              <a:buNone/>
            </a:pPr>
            <a:r>
              <a:rPr lang="id-ID" sz="1050" dirty="0">
                <a:solidFill>
                  <a:srgbClr val="1A1740"/>
                </a:solidFill>
                <a:latin typeface="Calibri" pitchFamily="34" charset="0"/>
                <a:ea typeface="Calibri" pitchFamily="34" charset="-122"/>
                <a:cs typeface="Calibri" pitchFamily="34" charset="-120"/>
              </a:rPr>
              <a:t>Produk ini dipilih karena pembuatan dan permainannya s</a:t>
            </a:r>
            <a:r>
              <a:rPr lang="en-US" sz="1050" dirty="0" err="1">
                <a:solidFill>
                  <a:srgbClr val="1A1740"/>
                </a:solidFill>
                <a:latin typeface="Calibri" pitchFamily="34" charset="0"/>
                <a:ea typeface="Calibri" pitchFamily="34" charset="-122"/>
                <a:cs typeface="Calibri" pitchFamily="34" charset="-120"/>
              </a:rPr>
              <a:t>ederhana</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biaya</a:t>
            </a:r>
            <a:r>
              <a:rPr lang="id-ID" sz="1050" dirty="0" err="1">
                <a:solidFill>
                  <a:srgbClr val="1A1740"/>
                </a:solidFill>
                <a:latin typeface="Calibri" pitchFamily="34" charset="0"/>
                <a:ea typeface="Calibri" pitchFamily="34" charset="-122"/>
                <a:cs typeface="Calibri" pitchFamily="34" charset="-120"/>
              </a:rPr>
              <a:t>nya</a:t>
            </a:r>
            <a:r>
              <a:rPr lang="en-US" sz="1050" dirty="0">
                <a:solidFill>
                  <a:srgbClr val="1A1740"/>
                </a:solidFill>
                <a:latin typeface="Calibri" pitchFamily="34" charset="0"/>
                <a:ea typeface="Calibri" pitchFamily="34" charset="-122"/>
                <a:cs typeface="Calibri" pitchFamily="34" charset="-120"/>
              </a:rPr>
              <a:t> terjangkau, tidak butuh </a:t>
            </a:r>
            <a:r>
              <a:rPr lang="en-US" sz="1050" dirty="0" err="1">
                <a:solidFill>
                  <a:srgbClr val="1A1740"/>
                </a:solidFill>
                <a:latin typeface="Calibri" pitchFamily="34" charset="0"/>
                <a:ea typeface="Calibri" pitchFamily="34" charset="-122"/>
                <a:cs typeface="Calibri" pitchFamily="34" charset="-120"/>
              </a:rPr>
              <a:t>teknologi</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rumit</a:t>
            </a:r>
            <a:r>
              <a:rPr lang="id-ID" sz="1050" dirty="0">
                <a:solidFill>
                  <a:srgbClr val="1A1740"/>
                </a:solidFill>
                <a:latin typeface="Calibri" pitchFamily="34" charset="0"/>
                <a:ea typeface="Calibri" pitchFamily="34" charset="-122"/>
                <a:cs typeface="Calibri" pitchFamily="34" charset="-120"/>
              </a:rPr>
              <a:t>, namun tetap interaktif untuk peserta didik di kelas</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Konsep</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permainan</a:t>
            </a:r>
            <a:r>
              <a:rPr lang="id-ID" sz="1050" dirty="0">
                <a:solidFill>
                  <a:srgbClr val="1A1740"/>
                </a:solidFill>
                <a:latin typeface="Calibri" pitchFamily="34" charset="0"/>
                <a:ea typeface="Calibri" pitchFamily="34" charset="-122"/>
                <a:cs typeface="Calibri" pitchFamily="34" charset="-120"/>
              </a:rPr>
              <a:t> ini</a:t>
            </a:r>
            <a:r>
              <a:rPr lang="en-US" sz="1050" dirty="0">
                <a:solidFill>
                  <a:srgbClr val="1A1740"/>
                </a:solidFill>
                <a:latin typeface="Calibri" pitchFamily="34" charset="0"/>
                <a:ea typeface="Calibri" pitchFamily="34" charset="-122"/>
                <a:cs typeface="Calibri" pitchFamily="34" charset="-120"/>
              </a:rPr>
              <a:t> membuat siswa lebih aktif dan tidak </a:t>
            </a:r>
            <a:r>
              <a:rPr lang="en-US" sz="1050" dirty="0" err="1">
                <a:solidFill>
                  <a:srgbClr val="1A1740"/>
                </a:solidFill>
                <a:latin typeface="Calibri" pitchFamily="34" charset="0"/>
                <a:ea typeface="Calibri" pitchFamily="34" charset="-122"/>
                <a:cs typeface="Calibri" pitchFamily="34" charset="-120"/>
              </a:rPr>
              <a:t>bosan</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dibanding</a:t>
            </a:r>
            <a:r>
              <a:rPr lang="id-ID" sz="1050" dirty="0">
                <a:solidFill>
                  <a:srgbClr val="1A1740"/>
                </a:solidFill>
                <a:latin typeface="Calibri" pitchFamily="34" charset="0"/>
                <a:ea typeface="Calibri" pitchFamily="34" charset="-122"/>
                <a:cs typeface="Calibri" pitchFamily="34" charset="-120"/>
              </a:rPr>
              <a:t>kan hanya dengan menggunakan metode</a:t>
            </a:r>
            <a:r>
              <a:rPr lang="en-US" sz="1050" dirty="0">
                <a:solidFill>
                  <a:srgbClr val="1A1740"/>
                </a:solidFill>
                <a:latin typeface="Calibri" pitchFamily="34" charset="0"/>
                <a:ea typeface="Calibri" pitchFamily="34" charset="-122"/>
                <a:cs typeface="Calibri" pitchFamily="34" charset="-120"/>
              </a:rPr>
              <a:t> </a:t>
            </a:r>
            <a:r>
              <a:rPr lang="en-US" sz="1050" dirty="0" err="1">
                <a:solidFill>
                  <a:srgbClr val="1A1740"/>
                </a:solidFill>
                <a:latin typeface="Calibri" pitchFamily="34" charset="0"/>
                <a:ea typeface="Calibri" pitchFamily="34" charset="-122"/>
                <a:cs typeface="Calibri" pitchFamily="34" charset="-120"/>
              </a:rPr>
              <a:t>ceramah</a:t>
            </a:r>
            <a:r>
              <a:rPr lang="id-ID" sz="1050" dirty="0">
                <a:solidFill>
                  <a:srgbClr val="1A1740"/>
                </a:solidFill>
                <a:latin typeface="Calibri" pitchFamily="34" charset="0"/>
                <a:ea typeface="Calibri" pitchFamily="34" charset="-122"/>
                <a:cs typeface="Calibri" pitchFamily="34" charset="-120"/>
              </a:rPr>
              <a:t> satu arah</a:t>
            </a:r>
            <a:r>
              <a:rPr lang="en-US" sz="1050" dirty="0">
                <a:solidFill>
                  <a:srgbClr val="1A1740"/>
                </a:solidFill>
                <a:latin typeface="Calibri" pitchFamily="34" charset="0"/>
                <a:ea typeface="Calibri" pitchFamily="34" charset="-122"/>
                <a:cs typeface="Calibri" pitchFamily="34" charset="-120"/>
              </a:rPr>
              <a:t>.</a:t>
            </a:r>
            <a:endParaRPr lang="en-US" sz="1050" dirty="0"/>
          </a:p>
        </p:txBody>
      </p:sp>
      <p:sp>
        <p:nvSpPr>
          <p:cNvPr id="20" name="Shape 18"/>
          <p:cNvSpPr/>
          <p:nvPr/>
        </p:nvSpPr>
        <p:spPr>
          <a:xfrm>
            <a:off x="8961120" y="1115568"/>
            <a:ext cx="0" cy="0"/>
          </a:xfrm>
          <a:prstGeom prst="rect">
            <a:avLst/>
          </a:prstGeom>
          <a:solidFill>
            <a:srgbClr val="E5E7EB"/>
          </a:solidFill>
          <a:ln w="12700">
            <a:solidFill>
              <a:srgbClr val="E5E7EB"/>
            </a:solidFill>
            <a:prstDash val="solid"/>
          </a:ln>
        </p:spPr>
      </p:sp>
      <p:sp>
        <p:nvSpPr>
          <p:cNvPr id="21" name="Text 19"/>
          <p:cNvSpPr/>
          <p:nvPr/>
        </p:nvSpPr>
        <p:spPr>
          <a:xfrm>
            <a:off x="365760" y="4709160"/>
            <a:ext cx="8412480" cy="274320"/>
          </a:xfrm>
          <a:prstGeom prst="rect">
            <a:avLst/>
          </a:prstGeom>
          <a:noFill/>
          <a:ln/>
        </p:spPr>
        <p:txBody>
          <a:bodyPr wrap="square" rtlCol="0" anchor="ctr"/>
          <a:lstStyle/>
          <a:p>
            <a:pPr marL="0" indent="0">
              <a:buNone/>
            </a:pPr>
            <a:r>
              <a:rPr lang="en-US" sz="1000" i="1" dirty="0">
                <a:solidFill>
                  <a:srgbClr val="6B7280"/>
                </a:solidFill>
                <a:latin typeface="Calibri Light" pitchFamily="34" charset="0"/>
                <a:ea typeface="Calibri Light" pitchFamily="34" charset="-122"/>
                <a:cs typeface="Calibri Light" pitchFamily="34" charset="-120"/>
              </a:rPr>
              <a:t>Prototipe diuji coba kepada siswa kelas XI </a:t>
            </a:r>
            <a:r>
              <a:rPr lang="id-ID" sz="1000" i="1" dirty="0">
                <a:solidFill>
                  <a:srgbClr val="6B7280"/>
                </a:solidFill>
                <a:latin typeface="Calibri Light" pitchFamily="34" charset="0"/>
                <a:ea typeface="Calibri Light" pitchFamily="34" charset="-122"/>
                <a:cs typeface="Calibri Light" pitchFamily="34" charset="-120"/>
              </a:rPr>
              <a:t>L</a:t>
            </a:r>
            <a:r>
              <a:rPr lang="en-US" sz="1000" i="1" dirty="0">
                <a:solidFill>
                  <a:srgbClr val="6B7280"/>
                </a:solidFill>
                <a:latin typeface="Calibri Light" pitchFamily="34" charset="0"/>
                <a:ea typeface="Calibri Light" pitchFamily="34" charset="-122"/>
                <a:cs typeface="Calibri Light" pitchFamily="34" charset="-120"/>
              </a:rPr>
              <a:t> SMAN 1 Cisarua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740"/>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Deskripsi &amp; Analisis Konteks</a:t>
            </a:r>
            <a:endParaRPr lang="en-US" sz="26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100" dirty="0">
                <a:solidFill>
                  <a:srgbClr val="BBAAEE"/>
                </a:solidFill>
                <a:latin typeface="Calibri Light" pitchFamily="34" charset="0"/>
                <a:ea typeface="Calibri Light" pitchFamily="34" charset="-122"/>
                <a:cs typeface="Calibri Light" pitchFamily="34" charset="-120"/>
              </a:rPr>
              <a:t>Praktik kurang baik yang menjadi latar belakang perancangan solusi</a:t>
            </a:r>
            <a:endParaRPr lang="en-US" sz="1100" dirty="0"/>
          </a:p>
        </p:txBody>
      </p:sp>
      <p:sp>
        <p:nvSpPr>
          <p:cNvPr id="4" name="Shape 2"/>
          <p:cNvSpPr/>
          <p:nvPr/>
        </p:nvSpPr>
        <p:spPr>
          <a:xfrm>
            <a:off x="457200" y="1188720"/>
            <a:ext cx="4114800" cy="1600200"/>
          </a:xfrm>
          <a:prstGeom prst="rect">
            <a:avLst/>
          </a:prstGeom>
          <a:solidFill>
            <a:srgbClr val="FFFFFF">
              <a:alpha val="8000"/>
            </a:srgbClr>
          </a:solidFill>
          <a:ln w="12700">
            <a:solidFill>
              <a:srgbClr val="7C72E0"/>
            </a:solidFill>
            <a:prstDash val="solid"/>
          </a:ln>
        </p:spPr>
      </p:sp>
      <p:sp>
        <p:nvSpPr>
          <p:cNvPr id="5" name="Text 3"/>
          <p:cNvSpPr/>
          <p:nvPr/>
        </p:nvSpPr>
        <p:spPr>
          <a:xfrm>
            <a:off x="548640" y="128016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6" name="Text 4"/>
          <p:cNvSpPr/>
          <p:nvPr/>
        </p:nvSpPr>
        <p:spPr>
          <a:xfrm>
            <a:off x="1143000" y="1298448"/>
            <a:ext cx="3291840" cy="365760"/>
          </a:xfrm>
          <a:prstGeom prst="rect">
            <a:avLst/>
          </a:prstGeom>
          <a:noFill/>
          <a:ln/>
        </p:spPr>
        <p:txBody>
          <a:bodyPr wrap="square" rtlCol="0" anchor="ctr"/>
          <a:lstStyle/>
          <a:p>
            <a:pPr marL="0" indent="0">
              <a:buNone/>
            </a:pPr>
            <a:r>
              <a:rPr lang="en-US" sz="1200" b="1" dirty="0">
                <a:solidFill>
                  <a:srgbClr val="CCBBFF"/>
                </a:solidFill>
                <a:latin typeface="Calibri" pitchFamily="34" charset="0"/>
                <a:ea typeface="Calibri" pitchFamily="34" charset="-122"/>
                <a:cs typeface="Calibri" pitchFamily="34" charset="-120"/>
              </a:rPr>
              <a:t>Regulasi Diri Rendah</a:t>
            </a:r>
            <a:endParaRPr lang="en-US" sz="1200" dirty="0"/>
          </a:p>
        </p:txBody>
      </p:sp>
      <p:sp>
        <p:nvSpPr>
          <p:cNvPr id="7" name="Text 5"/>
          <p:cNvSpPr/>
          <p:nvPr/>
        </p:nvSpPr>
        <p:spPr>
          <a:xfrm>
            <a:off x="1143000" y="1664208"/>
            <a:ext cx="3291840" cy="1005840"/>
          </a:xfrm>
          <a:prstGeom prst="rect">
            <a:avLst/>
          </a:prstGeom>
          <a:noFill/>
          <a:ln/>
        </p:spPr>
        <p:txBody>
          <a:bodyPr wrap="square" rtlCol="0" anchor="ctr"/>
          <a:lstStyle/>
          <a:p>
            <a:pPr marL="0" indent="0">
              <a:buNone/>
            </a:pPr>
            <a:r>
              <a:rPr lang="en-US" sz="950" dirty="0">
                <a:solidFill>
                  <a:srgbClr val="DDDDEE"/>
                </a:solidFill>
                <a:latin typeface="Calibri" pitchFamily="34" charset="0"/>
                <a:ea typeface="Calibri" pitchFamily="34" charset="-122"/>
                <a:cs typeface="Calibri" pitchFamily="34" charset="-120"/>
              </a:rPr>
              <a:t>Siswa kesulitan mengenali dan mengelola emosi. Banyak yang bereaksi impulsif saat menghadapi konflik sosial maupun </a:t>
            </a:r>
            <a:r>
              <a:rPr lang="en-US" sz="950" dirty="0" err="1">
                <a:solidFill>
                  <a:srgbClr val="DDDDEE"/>
                </a:solidFill>
                <a:latin typeface="Calibri" pitchFamily="34" charset="0"/>
                <a:ea typeface="Calibri" pitchFamily="34" charset="-122"/>
                <a:cs typeface="Calibri" pitchFamily="34" charset="-120"/>
              </a:rPr>
              <a:t>tekanan</a:t>
            </a:r>
            <a:r>
              <a:rPr lang="en-US" sz="950" dirty="0">
                <a:solidFill>
                  <a:srgbClr val="DDDDEE"/>
                </a:solidFill>
                <a:latin typeface="Calibri" pitchFamily="34" charset="0"/>
                <a:ea typeface="Calibri" pitchFamily="34" charset="-122"/>
                <a:cs typeface="Calibri" pitchFamily="34" charset="-120"/>
              </a:rPr>
              <a:t> </a:t>
            </a:r>
            <a:r>
              <a:rPr lang="en-US" sz="950" dirty="0" err="1">
                <a:solidFill>
                  <a:srgbClr val="DDDDEE"/>
                </a:solidFill>
                <a:latin typeface="Calibri" pitchFamily="34" charset="0"/>
                <a:ea typeface="Calibri" pitchFamily="34" charset="-122"/>
                <a:cs typeface="Calibri" pitchFamily="34" charset="-120"/>
              </a:rPr>
              <a:t>akademik</a:t>
            </a:r>
            <a:r>
              <a:rPr lang="id-ID" sz="950" dirty="0">
                <a:solidFill>
                  <a:srgbClr val="DDDDEE"/>
                </a:solidFill>
                <a:latin typeface="Calibri" pitchFamily="34" charset="0"/>
                <a:ea typeface="Calibri" pitchFamily="34" charset="-122"/>
                <a:cs typeface="Calibri" pitchFamily="34" charset="-120"/>
              </a:rPr>
              <a:t> di sekolah</a:t>
            </a:r>
            <a:r>
              <a:rPr lang="en-US" sz="950" dirty="0">
                <a:solidFill>
                  <a:srgbClr val="DDDDEE"/>
                </a:solidFill>
                <a:latin typeface="Calibri" pitchFamily="34" charset="0"/>
                <a:ea typeface="Calibri" pitchFamily="34" charset="-122"/>
                <a:cs typeface="Calibri" pitchFamily="34" charset="-120"/>
              </a:rPr>
              <a:t>.</a:t>
            </a:r>
            <a:endParaRPr lang="en-US" sz="950" dirty="0"/>
          </a:p>
        </p:txBody>
      </p:sp>
      <p:sp>
        <p:nvSpPr>
          <p:cNvPr id="8" name="Shape 6"/>
          <p:cNvSpPr/>
          <p:nvPr/>
        </p:nvSpPr>
        <p:spPr>
          <a:xfrm>
            <a:off x="4800600" y="1188720"/>
            <a:ext cx="4114800" cy="1600200"/>
          </a:xfrm>
          <a:prstGeom prst="rect">
            <a:avLst/>
          </a:prstGeom>
          <a:solidFill>
            <a:srgbClr val="FFFFFF">
              <a:alpha val="8000"/>
            </a:srgbClr>
          </a:solidFill>
          <a:ln w="12700">
            <a:solidFill>
              <a:srgbClr val="7C72E0"/>
            </a:solidFill>
            <a:prstDash val="solid"/>
          </a:ln>
        </p:spPr>
      </p:sp>
      <p:sp>
        <p:nvSpPr>
          <p:cNvPr id="9" name="Text 7"/>
          <p:cNvSpPr/>
          <p:nvPr/>
        </p:nvSpPr>
        <p:spPr>
          <a:xfrm>
            <a:off x="4892040" y="128016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0" name="Text 8"/>
          <p:cNvSpPr/>
          <p:nvPr/>
        </p:nvSpPr>
        <p:spPr>
          <a:xfrm>
            <a:off x="5486400" y="1298448"/>
            <a:ext cx="3291840" cy="365760"/>
          </a:xfrm>
          <a:prstGeom prst="rect">
            <a:avLst/>
          </a:prstGeom>
          <a:noFill/>
          <a:ln/>
        </p:spPr>
        <p:txBody>
          <a:bodyPr wrap="square" rtlCol="0" anchor="ctr"/>
          <a:lstStyle/>
          <a:p>
            <a:pPr marL="0" indent="0">
              <a:buNone/>
            </a:pPr>
            <a:r>
              <a:rPr lang="en-US" sz="1200" b="1" dirty="0">
                <a:solidFill>
                  <a:srgbClr val="CCBBFF"/>
                </a:solidFill>
                <a:latin typeface="Calibri" pitchFamily="34" charset="0"/>
                <a:ea typeface="Calibri" pitchFamily="34" charset="-122"/>
                <a:cs typeface="Calibri" pitchFamily="34" charset="-120"/>
              </a:rPr>
              <a:t>Ekspresi Diri Tertutup</a:t>
            </a:r>
            <a:endParaRPr lang="en-US" sz="1200" dirty="0"/>
          </a:p>
        </p:txBody>
      </p:sp>
      <p:sp>
        <p:nvSpPr>
          <p:cNvPr id="11" name="Text 9"/>
          <p:cNvSpPr/>
          <p:nvPr/>
        </p:nvSpPr>
        <p:spPr>
          <a:xfrm>
            <a:off x="5486400" y="1664208"/>
            <a:ext cx="3291840" cy="1005840"/>
          </a:xfrm>
          <a:prstGeom prst="rect">
            <a:avLst/>
          </a:prstGeom>
          <a:noFill/>
          <a:ln/>
        </p:spPr>
        <p:txBody>
          <a:bodyPr wrap="square" rtlCol="0" anchor="ctr"/>
          <a:lstStyle/>
          <a:p>
            <a:pPr marL="0" indent="0">
              <a:buNone/>
            </a:pPr>
            <a:r>
              <a:rPr lang="en-US" sz="950" dirty="0">
                <a:solidFill>
                  <a:srgbClr val="DDDDEE"/>
                </a:solidFill>
                <a:latin typeface="Calibri" pitchFamily="34" charset="0"/>
                <a:ea typeface="Calibri" pitchFamily="34" charset="-122"/>
                <a:cs typeface="Calibri" pitchFamily="34" charset="-120"/>
              </a:rPr>
              <a:t>Budaya malu dan takut dihakimi membuat siswa tidak berani menyampaikan perasaan atau pendapat secara terbuka di </a:t>
            </a:r>
            <a:r>
              <a:rPr lang="en-US" sz="950" dirty="0" err="1">
                <a:solidFill>
                  <a:srgbClr val="DDDDEE"/>
                </a:solidFill>
                <a:latin typeface="Calibri" pitchFamily="34" charset="0"/>
                <a:ea typeface="Calibri" pitchFamily="34" charset="-122"/>
                <a:cs typeface="Calibri" pitchFamily="34" charset="-120"/>
              </a:rPr>
              <a:t>depan</a:t>
            </a:r>
            <a:r>
              <a:rPr lang="en-US" sz="950" dirty="0">
                <a:solidFill>
                  <a:srgbClr val="DDDDEE"/>
                </a:solidFill>
                <a:latin typeface="Calibri" pitchFamily="34" charset="0"/>
                <a:ea typeface="Calibri" pitchFamily="34" charset="-122"/>
                <a:cs typeface="Calibri" pitchFamily="34" charset="-120"/>
              </a:rPr>
              <a:t> </a:t>
            </a:r>
            <a:r>
              <a:rPr lang="en-US" sz="950" dirty="0" err="1">
                <a:solidFill>
                  <a:srgbClr val="DDDDEE"/>
                </a:solidFill>
                <a:latin typeface="Calibri" pitchFamily="34" charset="0"/>
                <a:ea typeface="Calibri" pitchFamily="34" charset="-122"/>
                <a:cs typeface="Calibri" pitchFamily="34" charset="-120"/>
              </a:rPr>
              <a:t>teman</a:t>
            </a:r>
            <a:r>
              <a:rPr lang="id-ID" sz="950" dirty="0">
                <a:solidFill>
                  <a:srgbClr val="DDDDEE"/>
                </a:solidFill>
                <a:latin typeface="Calibri" pitchFamily="34" charset="0"/>
                <a:ea typeface="Calibri" pitchFamily="34" charset="-122"/>
                <a:cs typeface="Calibri" pitchFamily="34" charset="-120"/>
              </a:rPr>
              <a:t>-temannya</a:t>
            </a:r>
            <a:r>
              <a:rPr lang="en-US" sz="950" dirty="0">
                <a:solidFill>
                  <a:srgbClr val="DDDDEE"/>
                </a:solidFill>
                <a:latin typeface="Calibri" pitchFamily="34" charset="0"/>
                <a:ea typeface="Calibri" pitchFamily="34" charset="-122"/>
                <a:cs typeface="Calibri" pitchFamily="34" charset="-120"/>
              </a:rPr>
              <a:t>.</a:t>
            </a:r>
            <a:endParaRPr lang="en-US" sz="950" dirty="0"/>
          </a:p>
        </p:txBody>
      </p:sp>
      <p:sp>
        <p:nvSpPr>
          <p:cNvPr id="12" name="Shape 10"/>
          <p:cNvSpPr/>
          <p:nvPr/>
        </p:nvSpPr>
        <p:spPr>
          <a:xfrm>
            <a:off x="457200" y="2971800"/>
            <a:ext cx="4114800" cy="1600200"/>
          </a:xfrm>
          <a:prstGeom prst="rect">
            <a:avLst/>
          </a:prstGeom>
          <a:solidFill>
            <a:srgbClr val="FFFFFF">
              <a:alpha val="8000"/>
            </a:srgbClr>
          </a:solidFill>
          <a:ln w="12700">
            <a:solidFill>
              <a:srgbClr val="7C72E0"/>
            </a:solidFill>
            <a:prstDash val="solid"/>
          </a:ln>
        </p:spPr>
      </p:sp>
      <p:sp>
        <p:nvSpPr>
          <p:cNvPr id="13" name="Text 11"/>
          <p:cNvSpPr/>
          <p:nvPr/>
        </p:nvSpPr>
        <p:spPr>
          <a:xfrm>
            <a:off x="548640" y="306324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4" name="Text 12"/>
          <p:cNvSpPr/>
          <p:nvPr/>
        </p:nvSpPr>
        <p:spPr>
          <a:xfrm>
            <a:off x="1143000" y="3081528"/>
            <a:ext cx="3291840" cy="365760"/>
          </a:xfrm>
          <a:prstGeom prst="rect">
            <a:avLst/>
          </a:prstGeom>
          <a:noFill/>
          <a:ln/>
        </p:spPr>
        <p:txBody>
          <a:bodyPr wrap="square" rtlCol="0" anchor="ctr"/>
          <a:lstStyle/>
          <a:p>
            <a:pPr marL="0" indent="0">
              <a:buNone/>
            </a:pPr>
            <a:r>
              <a:rPr lang="en-US" sz="1200" b="1" dirty="0">
                <a:solidFill>
                  <a:srgbClr val="CCBBFF"/>
                </a:solidFill>
                <a:latin typeface="Calibri" pitchFamily="34" charset="0"/>
                <a:ea typeface="Calibri" pitchFamily="34" charset="-122"/>
                <a:cs typeface="Calibri" pitchFamily="34" charset="-120"/>
              </a:rPr>
              <a:t>Layanan BK Monoton</a:t>
            </a:r>
            <a:endParaRPr lang="en-US" sz="1200" dirty="0"/>
          </a:p>
        </p:txBody>
      </p:sp>
      <p:sp>
        <p:nvSpPr>
          <p:cNvPr id="15" name="Text 13"/>
          <p:cNvSpPr/>
          <p:nvPr/>
        </p:nvSpPr>
        <p:spPr>
          <a:xfrm>
            <a:off x="1143000" y="3447288"/>
            <a:ext cx="3291840" cy="1005840"/>
          </a:xfrm>
          <a:prstGeom prst="rect">
            <a:avLst/>
          </a:prstGeom>
          <a:noFill/>
          <a:ln/>
        </p:spPr>
        <p:txBody>
          <a:bodyPr wrap="square" rtlCol="0" anchor="ctr"/>
          <a:lstStyle/>
          <a:p>
            <a:pPr marL="0" indent="0">
              <a:buNone/>
            </a:pPr>
            <a:r>
              <a:rPr lang="en-US" sz="950" dirty="0">
                <a:solidFill>
                  <a:srgbClr val="DDDDEE"/>
                </a:solidFill>
                <a:latin typeface="Calibri" pitchFamily="34" charset="0"/>
                <a:ea typeface="Calibri" pitchFamily="34" charset="-122"/>
                <a:cs typeface="Calibri" pitchFamily="34" charset="-120"/>
              </a:rPr>
              <a:t>Metode ceramah yang </a:t>
            </a:r>
            <a:r>
              <a:rPr lang="en-US" sz="950" dirty="0" err="1">
                <a:solidFill>
                  <a:srgbClr val="DDDDEE"/>
                </a:solidFill>
                <a:latin typeface="Calibri" pitchFamily="34" charset="0"/>
                <a:ea typeface="Calibri" pitchFamily="34" charset="-122"/>
                <a:cs typeface="Calibri" pitchFamily="34" charset="-120"/>
              </a:rPr>
              <a:t>dominan</a:t>
            </a:r>
            <a:r>
              <a:rPr lang="en-US" sz="950" dirty="0">
                <a:solidFill>
                  <a:srgbClr val="DDDDEE"/>
                </a:solidFill>
                <a:latin typeface="Calibri" pitchFamily="34" charset="0"/>
                <a:ea typeface="Calibri" pitchFamily="34" charset="-122"/>
                <a:cs typeface="Calibri" pitchFamily="34" charset="-120"/>
              </a:rPr>
              <a:t> </a:t>
            </a:r>
            <a:r>
              <a:rPr lang="id-ID" sz="950" dirty="0">
                <a:solidFill>
                  <a:srgbClr val="DDDDEE"/>
                </a:solidFill>
                <a:latin typeface="Calibri" pitchFamily="34" charset="0"/>
                <a:ea typeface="Calibri" pitchFamily="34" charset="-122"/>
                <a:cs typeface="Calibri" pitchFamily="34" charset="-120"/>
              </a:rPr>
              <a:t>satu arah </a:t>
            </a:r>
            <a:r>
              <a:rPr lang="en-US" sz="950" dirty="0" err="1">
                <a:solidFill>
                  <a:srgbClr val="DDDDEE"/>
                </a:solidFill>
                <a:latin typeface="Calibri" pitchFamily="34" charset="0"/>
                <a:ea typeface="Calibri" pitchFamily="34" charset="-122"/>
                <a:cs typeface="Calibri" pitchFamily="34" charset="-120"/>
              </a:rPr>
              <a:t>membuat</a:t>
            </a:r>
            <a:r>
              <a:rPr lang="en-US" sz="950" dirty="0">
                <a:solidFill>
                  <a:srgbClr val="DDDDEE"/>
                </a:solidFill>
                <a:latin typeface="Calibri" pitchFamily="34" charset="0"/>
                <a:ea typeface="Calibri" pitchFamily="34" charset="-122"/>
                <a:cs typeface="Calibri" pitchFamily="34" charset="-120"/>
              </a:rPr>
              <a:t> siswa pasif dan tidak tertarik mengikuti layanan bimbingan. Partisipasi siswa sangat rendah.</a:t>
            </a:r>
            <a:endParaRPr lang="en-US" sz="950" dirty="0"/>
          </a:p>
        </p:txBody>
      </p:sp>
      <p:sp>
        <p:nvSpPr>
          <p:cNvPr id="16" name="Shape 14"/>
          <p:cNvSpPr/>
          <p:nvPr/>
        </p:nvSpPr>
        <p:spPr>
          <a:xfrm>
            <a:off x="4800600" y="2971800"/>
            <a:ext cx="4114800" cy="1600200"/>
          </a:xfrm>
          <a:prstGeom prst="rect">
            <a:avLst/>
          </a:prstGeom>
          <a:solidFill>
            <a:srgbClr val="FFFFFF">
              <a:alpha val="8000"/>
            </a:srgbClr>
          </a:solidFill>
          <a:ln w="12700">
            <a:solidFill>
              <a:srgbClr val="7C72E0"/>
            </a:solidFill>
            <a:prstDash val="solid"/>
          </a:ln>
        </p:spPr>
      </p:sp>
      <p:sp>
        <p:nvSpPr>
          <p:cNvPr id="17" name="Text 15"/>
          <p:cNvSpPr/>
          <p:nvPr/>
        </p:nvSpPr>
        <p:spPr>
          <a:xfrm>
            <a:off x="4892040" y="3063240"/>
            <a:ext cx="54864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8" name="Text 16"/>
          <p:cNvSpPr/>
          <p:nvPr/>
        </p:nvSpPr>
        <p:spPr>
          <a:xfrm>
            <a:off x="5486400" y="3081528"/>
            <a:ext cx="3291840" cy="365760"/>
          </a:xfrm>
          <a:prstGeom prst="rect">
            <a:avLst/>
          </a:prstGeom>
          <a:noFill/>
          <a:ln/>
        </p:spPr>
        <p:txBody>
          <a:bodyPr wrap="square" rtlCol="0" anchor="ctr"/>
          <a:lstStyle/>
          <a:p>
            <a:pPr marL="0" indent="0">
              <a:buNone/>
            </a:pPr>
            <a:r>
              <a:rPr lang="en-US" sz="1200" b="1" dirty="0">
                <a:solidFill>
                  <a:srgbClr val="CCBBFF"/>
                </a:solidFill>
                <a:latin typeface="Calibri" pitchFamily="34" charset="0"/>
                <a:ea typeface="Calibri" pitchFamily="34" charset="-122"/>
                <a:cs typeface="Calibri" pitchFamily="34" charset="-120"/>
              </a:rPr>
              <a:t>Kurang Kesadaran Diri</a:t>
            </a:r>
            <a:endParaRPr lang="en-US" sz="1200" dirty="0"/>
          </a:p>
        </p:txBody>
      </p:sp>
      <p:sp>
        <p:nvSpPr>
          <p:cNvPr id="19" name="Text 17"/>
          <p:cNvSpPr/>
          <p:nvPr/>
        </p:nvSpPr>
        <p:spPr>
          <a:xfrm>
            <a:off x="5486400" y="3447288"/>
            <a:ext cx="3291840" cy="1005840"/>
          </a:xfrm>
          <a:prstGeom prst="rect">
            <a:avLst/>
          </a:prstGeom>
          <a:noFill/>
          <a:ln/>
        </p:spPr>
        <p:txBody>
          <a:bodyPr wrap="square" rtlCol="0" anchor="ctr"/>
          <a:lstStyle/>
          <a:p>
            <a:pPr marL="0" indent="0">
              <a:buNone/>
            </a:pPr>
            <a:r>
              <a:rPr lang="en-US" sz="950" dirty="0">
                <a:solidFill>
                  <a:srgbClr val="DDDDEE"/>
                </a:solidFill>
                <a:latin typeface="Calibri" pitchFamily="34" charset="0"/>
                <a:ea typeface="Calibri" pitchFamily="34" charset="-122"/>
                <a:cs typeface="Calibri" pitchFamily="34" charset="-120"/>
              </a:rPr>
              <a:t>Sebagian siswa belum menyadari pentingnya pengembangan regulasi diri, sehingga kegiatan layanan belum dianggap kebutuhan utama.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96167"/>
          </a:solidFill>
          <a:ln w="12700">
            <a:solidFill>
              <a:srgbClr val="F96167"/>
            </a:solidFill>
            <a:prstDash val="solid"/>
          </a:ln>
        </p:spPr>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600" b="1" dirty="0">
                <a:solidFill>
                  <a:srgbClr val="3D339A"/>
                </a:solidFill>
                <a:latin typeface="Calibri" pitchFamily="34" charset="0"/>
                <a:ea typeface="Calibri" pitchFamily="34" charset="-122"/>
                <a:cs typeface="Calibri" pitchFamily="34" charset="-120"/>
              </a:rPr>
              <a:t>Perumusan Tujuan</a:t>
            </a:r>
            <a:endParaRPr lang="en-US" sz="2600" dirty="0"/>
          </a:p>
        </p:txBody>
      </p:sp>
      <p:sp>
        <p:nvSpPr>
          <p:cNvPr id="4" name="Shape 2"/>
          <p:cNvSpPr/>
          <p:nvPr/>
        </p:nvSpPr>
        <p:spPr>
          <a:xfrm>
            <a:off x="365760" y="914400"/>
            <a:ext cx="4114800" cy="3749040"/>
          </a:xfrm>
          <a:prstGeom prst="rect">
            <a:avLst/>
          </a:prstGeom>
          <a:solidFill>
            <a:srgbClr val="5B4FCF"/>
          </a:solidFill>
          <a:ln w="12700">
            <a:solidFill>
              <a:srgbClr val="5B4FCF"/>
            </a:solidFill>
            <a:prstDash val="solid"/>
          </a:ln>
          <a:effectLst>
            <a:outerShdw blurRad="127000" dist="38100" dir="8100000" algn="bl" rotWithShape="0">
              <a:srgbClr val="000000">
                <a:alpha val="15000"/>
              </a:srgbClr>
            </a:outerShdw>
          </a:effectLst>
        </p:spPr>
      </p:sp>
      <p:sp>
        <p:nvSpPr>
          <p:cNvPr id="5" name="Text 3"/>
          <p:cNvSpPr/>
          <p:nvPr/>
        </p:nvSpPr>
        <p:spPr>
          <a:xfrm>
            <a:off x="502920" y="1051560"/>
            <a:ext cx="3840480" cy="365760"/>
          </a:xfrm>
          <a:prstGeom prst="rect">
            <a:avLst/>
          </a:prstGeom>
          <a:noFill/>
          <a:ln/>
        </p:spPr>
        <p:txBody>
          <a:bodyPr wrap="square"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 INSIGHT</a:t>
            </a:r>
            <a:endParaRPr lang="en-US" sz="1300" dirty="0"/>
          </a:p>
        </p:txBody>
      </p:sp>
      <p:sp>
        <p:nvSpPr>
          <p:cNvPr id="6" name="Text 4"/>
          <p:cNvSpPr/>
          <p:nvPr/>
        </p:nvSpPr>
        <p:spPr>
          <a:xfrm>
            <a:off x="502920" y="1389888"/>
            <a:ext cx="3840480" cy="274320"/>
          </a:xfrm>
          <a:prstGeom prst="rect">
            <a:avLst/>
          </a:prstGeom>
          <a:noFill/>
          <a:ln/>
        </p:spPr>
        <p:txBody>
          <a:bodyPr wrap="square" rtlCol="0" anchor="ctr"/>
          <a:lstStyle/>
          <a:p>
            <a:pPr marL="0" indent="0">
              <a:buNone/>
            </a:pPr>
            <a:r>
              <a:rPr lang="en-US" sz="1000" dirty="0">
                <a:solidFill>
                  <a:srgbClr val="CCBBFF"/>
                </a:solidFill>
                <a:latin typeface="Calibri Light" pitchFamily="34" charset="0"/>
                <a:ea typeface="Calibri Light" pitchFamily="34" charset="-122"/>
                <a:cs typeface="Calibri Light" pitchFamily="34" charset="-120"/>
              </a:rPr>
              <a:t>Pemahaman Inti</a:t>
            </a:r>
            <a:endParaRPr lang="en-US" sz="1000" dirty="0"/>
          </a:p>
        </p:txBody>
      </p:sp>
      <p:sp>
        <p:nvSpPr>
          <p:cNvPr id="7" name="Shape 5"/>
          <p:cNvSpPr/>
          <p:nvPr/>
        </p:nvSpPr>
        <p:spPr>
          <a:xfrm>
            <a:off x="502920" y="1691640"/>
            <a:ext cx="3749040" cy="36576"/>
          </a:xfrm>
          <a:prstGeom prst="rect">
            <a:avLst/>
          </a:prstGeom>
          <a:solidFill>
            <a:srgbClr val="F96167"/>
          </a:solidFill>
          <a:ln w="12700">
            <a:solidFill>
              <a:srgbClr val="F96167"/>
            </a:solidFill>
            <a:prstDash val="solid"/>
          </a:ln>
        </p:spPr>
      </p:sp>
      <p:sp>
        <p:nvSpPr>
          <p:cNvPr id="8" name="Text 6"/>
          <p:cNvSpPr/>
          <p:nvPr/>
        </p:nvSpPr>
        <p:spPr>
          <a:xfrm>
            <a:off x="502920" y="1764793"/>
            <a:ext cx="3840480" cy="3300984"/>
          </a:xfrm>
          <a:prstGeom prst="rect">
            <a:avLst/>
          </a:prstGeom>
          <a:noFill/>
          <a:ln/>
        </p:spPr>
        <p:txBody>
          <a:bodyPr wrap="square" rtlCol="0" anchor="t"/>
          <a:lstStyle/>
          <a:p>
            <a:pPr marL="0" indent="0" algn="just">
              <a:buNone/>
            </a:pPr>
            <a:r>
              <a:rPr lang="id-ID" sz="1100" dirty="0"/>
              <a:t>Siswa SMA membutuhkan media layanan BK yang interaktif, menyenangkan, dan tidak monoton agar mereka tidak merasa bosan saat layanan Bimbingan dan Konseling. Oleh karena itu, diperlukan media yang mampu menciptakan suasana aman, santai, dan tidak menghakimi sehingga siswa dapat belajar memahami dirinya dengan lebih baik. Produk layanan BK “ Roda Kendali Diri” hadir sebagai media berbasis permainan yang menarik dan edukatif untuk membantu siswa melatih kemampuan regulasi diri. Keunggulan produk ini terletak pada konsep permainan yang interaktif, visual yang menarik, serta aktivitas reflektif yang membuat siswa belajar tanpa merasa sedang “diceramahi”. Melalui permainan ini, siswa dapat belajar mengenali emosi, mengontrol respons diri, meningkatkan keberanian berekspresi, dan melatih pengambilan keputusan secara positif dengan cara yang lebih menyenangkan dan mudah dipahami.</a:t>
            </a:r>
          </a:p>
          <a:p>
            <a:pPr marL="0" indent="0" algn="l">
              <a:buNone/>
            </a:pPr>
            <a:endParaRPr lang="id-ID" sz="1200" dirty="0"/>
          </a:p>
          <a:p>
            <a:pPr marL="0" indent="0" algn="l">
              <a:buNone/>
            </a:pPr>
            <a:endParaRPr lang="en-US" sz="1200" dirty="0"/>
          </a:p>
        </p:txBody>
      </p:sp>
      <p:sp>
        <p:nvSpPr>
          <p:cNvPr id="9" name="Shape 7"/>
          <p:cNvSpPr/>
          <p:nvPr/>
        </p:nvSpPr>
        <p:spPr>
          <a:xfrm>
            <a:off x="4663440" y="914400"/>
            <a:ext cx="4206240" cy="3749040"/>
          </a:xfrm>
          <a:prstGeom prst="rect">
            <a:avLst/>
          </a:prstGeom>
          <a:solidFill>
            <a:srgbClr val="FFFFFF"/>
          </a:solidFill>
          <a:ln w="12700">
            <a:solidFill>
              <a:srgbClr val="E5E7EB"/>
            </a:solidFill>
            <a:prstDash val="solid"/>
          </a:ln>
          <a:effectLst>
            <a:outerShdw blurRad="127000" dist="38100" dir="8100000" algn="bl" rotWithShape="0">
              <a:srgbClr val="000000">
                <a:alpha val="8000"/>
              </a:srgbClr>
            </a:outerShdw>
          </a:effectLst>
        </p:spPr>
      </p:sp>
      <p:sp>
        <p:nvSpPr>
          <p:cNvPr id="10" name="Shape 8"/>
          <p:cNvSpPr/>
          <p:nvPr/>
        </p:nvSpPr>
        <p:spPr>
          <a:xfrm>
            <a:off x="4663440" y="914400"/>
            <a:ext cx="4206240" cy="64008"/>
          </a:xfrm>
          <a:prstGeom prst="rect">
            <a:avLst/>
          </a:prstGeom>
          <a:solidFill>
            <a:srgbClr val="F96167"/>
          </a:solidFill>
          <a:ln w="12700">
            <a:solidFill>
              <a:srgbClr val="F96167"/>
            </a:solidFill>
            <a:prstDash val="solid"/>
          </a:ln>
        </p:spPr>
      </p:sp>
      <p:sp>
        <p:nvSpPr>
          <p:cNvPr id="11" name="Text 9"/>
          <p:cNvSpPr/>
          <p:nvPr/>
        </p:nvSpPr>
        <p:spPr>
          <a:xfrm>
            <a:off x="4800600" y="1051560"/>
            <a:ext cx="3931920" cy="365760"/>
          </a:xfrm>
          <a:prstGeom prst="rect">
            <a:avLst/>
          </a:prstGeom>
          <a:noFill/>
          <a:ln/>
        </p:spPr>
        <p:txBody>
          <a:bodyPr wrap="square" rtlCol="0" anchor="ctr"/>
          <a:lstStyle/>
          <a:p>
            <a:pPr marL="0" indent="0">
              <a:buNone/>
            </a:pPr>
            <a:r>
              <a:rPr lang="en-US" sz="1300" b="1" kern="0" spc="200" dirty="0">
                <a:solidFill>
                  <a:srgbClr val="3D339A"/>
                </a:solidFill>
                <a:latin typeface="Calibri" pitchFamily="34" charset="0"/>
                <a:ea typeface="Calibri" pitchFamily="34" charset="-122"/>
                <a:cs typeface="Calibri" pitchFamily="34" charset="-120"/>
              </a:rPr>
              <a:t>🎯 HMW</a:t>
            </a:r>
            <a:r>
              <a:rPr lang="id-ID" sz="1300" b="1" kern="0" spc="200" dirty="0">
                <a:solidFill>
                  <a:srgbClr val="3D339A"/>
                </a:solidFill>
                <a:latin typeface="Calibri" pitchFamily="34" charset="0"/>
                <a:ea typeface="Calibri" pitchFamily="34" charset="-122"/>
                <a:cs typeface="Calibri" pitchFamily="34" charset="-120"/>
              </a:rPr>
              <a:t> (HOW MIGHT WE...)</a:t>
            </a:r>
            <a:endParaRPr lang="en-US" sz="1300" dirty="0"/>
          </a:p>
        </p:txBody>
      </p:sp>
      <p:sp>
        <p:nvSpPr>
          <p:cNvPr id="12" name="Text 10"/>
          <p:cNvSpPr/>
          <p:nvPr/>
        </p:nvSpPr>
        <p:spPr>
          <a:xfrm>
            <a:off x="4800600" y="1389888"/>
            <a:ext cx="3931920" cy="274320"/>
          </a:xfrm>
          <a:prstGeom prst="rect">
            <a:avLst/>
          </a:prstGeom>
          <a:noFill/>
          <a:ln/>
        </p:spPr>
        <p:txBody>
          <a:bodyPr wrap="square" rtlCol="0" anchor="ctr"/>
          <a:lstStyle/>
          <a:p>
            <a:pPr marL="0" indent="0">
              <a:buNone/>
            </a:pPr>
            <a:r>
              <a:rPr lang="en-US" sz="1000" dirty="0">
                <a:solidFill>
                  <a:srgbClr val="6B7280"/>
                </a:solidFill>
                <a:latin typeface="Calibri Light" pitchFamily="34" charset="0"/>
                <a:ea typeface="Calibri Light" pitchFamily="34" charset="-122"/>
                <a:cs typeface="Calibri Light" pitchFamily="34" charset="-120"/>
              </a:rPr>
              <a:t>Bagaimana Kita Bisa...</a:t>
            </a:r>
            <a:endParaRPr lang="en-US" sz="1000" dirty="0"/>
          </a:p>
        </p:txBody>
      </p:sp>
      <p:sp>
        <p:nvSpPr>
          <p:cNvPr id="13" name="Shape 11"/>
          <p:cNvSpPr/>
          <p:nvPr/>
        </p:nvSpPr>
        <p:spPr>
          <a:xfrm>
            <a:off x="4800600" y="1691640"/>
            <a:ext cx="3840480" cy="36576"/>
          </a:xfrm>
          <a:prstGeom prst="rect">
            <a:avLst/>
          </a:prstGeom>
          <a:solidFill>
            <a:srgbClr val="5B4FCF"/>
          </a:solidFill>
          <a:ln w="12700">
            <a:solidFill>
              <a:srgbClr val="5B4FCF"/>
            </a:solidFill>
            <a:prstDash val="solid"/>
          </a:ln>
        </p:spPr>
      </p:sp>
      <p:sp>
        <p:nvSpPr>
          <p:cNvPr id="14" name="Shape 12"/>
          <p:cNvSpPr/>
          <p:nvPr/>
        </p:nvSpPr>
        <p:spPr>
          <a:xfrm>
            <a:off x="4800600" y="1828800"/>
            <a:ext cx="3840480" cy="1280160"/>
          </a:xfrm>
          <a:prstGeom prst="roundRect">
            <a:avLst>
              <a:gd name="adj" fmla="val 5714"/>
            </a:avLst>
          </a:prstGeom>
          <a:solidFill>
            <a:srgbClr val="EDE9FF"/>
          </a:solidFill>
          <a:ln w="12700">
            <a:solidFill>
              <a:srgbClr val="EDE9FF"/>
            </a:solidFill>
            <a:prstDash val="solid"/>
          </a:ln>
        </p:spPr>
      </p:sp>
      <p:sp>
        <p:nvSpPr>
          <p:cNvPr id="15" name="Text 13"/>
          <p:cNvSpPr/>
          <p:nvPr/>
        </p:nvSpPr>
        <p:spPr>
          <a:xfrm>
            <a:off x="4892040" y="1901952"/>
            <a:ext cx="3657600" cy="1143000"/>
          </a:xfrm>
          <a:prstGeom prst="rect">
            <a:avLst/>
          </a:prstGeom>
          <a:noFill/>
          <a:ln/>
        </p:spPr>
        <p:txBody>
          <a:bodyPr wrap="square" rtlCol="0" anchor="t"/>
          <a:lstStyle/>
          <a:p>
            <a:pPr marL="0" indent="0" algn="l">
              <a:buNone/>
            </a:pPr>
            <a:r>
              <a:rPr lang="en-US" sz="1050" dirty="0">
                <a:solidFill>
                  <a:srgbClr val="3D339A"/>
                </a:solidFill>
                <a:latin typeface="Calibri" pitchFamily="34" charset="0"/>
                <a:ea typeface="Calibri" pitchFamily="34" charset="-122"/>
                <a:cs typeface="Calibri" pitchFamily="34" charset="-120"/>
              </a:rPr>
              <a:t>1</a:t>
            </a:r>
            <a:r>
              <a:rPr lang="id-ID" sz="1050" dirty="0">
                <a:solidFill>
                  <a:srgbClr val="3D339A"/>
                </a:solidFill>
                <a:latin typeface="Calibri" pitchFamily="34" charset="0"/>
                <a:ea typeface="Calibri" pitchFamily="34" charset="-122"/>
                <a:cs typeface="Calibri" pitchFamily="34" charset="-120"/>
              </a:rPr>
              <a:t>. </a:t>
            </a:r>
            <a:r>
              <a:rPr lang="en-US" sz="1050" dirty="0" err="1">
                <a:solidFill>
                  <a:srgbClr val="3D339A"/>
                </a:solidFill>
                <a:latin typeface="Calibri" pitchFamily="34" charset="0"/>
                <a:ea typeface="Calibri" pitchFamily="34" charset="-122"/>
                <a:cs typeface="Calibri" pitchFamily="34" charset="-120"/>
              </a:rPr>
              <a:t>merancang</a:t>
            </a:r>
            <a:r>
              <a:rPr lang="en-US" sz="1050" dirty="0">
                <a:solidFill>
                  <a:srgbClr val="3D339A"/>
                </a:solidFill>
                <a:latin typeface="Calibri" pitchFamily="34" charset="0"/>
                <a:ea typeface="Calibri" pitchFamily="34" charset="-122"/>
                <a:cs typeface="Calibri" pitchFamily="34" charset="-120"/>
              </a:rPr>
              <a:t> media layanan BK yang mampu meningkatkan regulasi diri siswa SMA melalui pendekatan yang interaktif, menyenangkan, dan berbasis permainan?</a:t>
            </a:r>
            <a:endParaRPr lang="en-US" sz="1050" dirty="0"/>
          </a:p>
        </p:txBody>
      </p:sp>
      <p:sp>
        <p:nvSpPr>
          <p:cNvPr id="16" name="Shape 14"/>
          <p:cNvSpPr/>
          <p:nvPr/>
        </p:nvSpPr>
        <p:spPr>
          <a:xfrm>
            <a:off x="4800600" y="3291840"/>
            <a:ext cx="3840480" cy="1280160"/>
          </a:xfrm>
          <a:prstGeom prst="roundRect">
            <a:avLst>
              <a:gd name="adj" fmla="val 5714"/>
            </a:avLst>
          </a:prstGeom>
          <a:solidFill>
            <a:srgbClr val="EDE9FF"/>
          </a:solidFill>
          <a:ln w="12700">
            <a:solidFill>
              <a:srgbClr val="EDE9FF"/>
            </a:solidFill>
            <a:prstDash val="solid"/>
          </a:ln>
        </p:spPr>
      </p:sp>
      <p:sp>
        <p:nvSpPr>
          <p:cNvPr id="17" name="Text 15"/>
          <p:cNvSpPr/>
          <p:nvPr/>
        </p:nvSpPr>
        <p:spPr>
          <a:xfrm>
            <a:off x="4892040" y="3364992"/>
            <a:ext cx="3657600" cy="1143000"/>
          </a:xfrm>
          <a:prstGeom prst="rect">
            <a:avLst/>
          </a:prstGeom>
          <a:noFill/>
          <a:ln/>
        </p:spPr>
        <p:txBody>
          <a:bodyPr wrap="square" rtlCol="0" anchor="t"/>
          <a:lstStyle/>
          <a:p>
            <a:pPr marL="0" indent="0" algn="l">
              <a:buNone/>
            </a:pPr>
            <a:r>
              <a:rPr lang="en-US" sz="1050" dirty="0">
                <a:solidFill>
                  <a:srgbClr val="3D339A"/>
                </a:solidFill>
                <a:latin typeface="Calibri" pitchFamily="34" charset="0"/>
                <a:ea typeface="Calibri" pitchFamily="34" charset="-122"/>
                <a:cs typeface="Calibri" pitchFamily="34" charset="-120"/>
              </a:rPr>
              <a:t>2. </a:t>
            </a:r>
            <a:r>
              <a:rPr lang="en-US" sz="1050" dirty="0" err="1">
                <a:solidFill>
                  <a:srgbClr val="3D339A"/>
                </a:solidFill>
                <a:latin typeface="Calibri" pitchFamily="34" charset="0"/>
                <a:ea typeface="Calibri" pitchFamily="34" charset="-122"/>
                <a:cs typeface="Calibri" pitchFamily="34" charset="-120"/>
              </a:rPr>
              <a:t>menciptakan</a:t>
            </a:r>
            <a:r>
              <a:rPr lang="en-US" sz="1050" dirty="0">
                <a:solidFill>
                  <a:srgbClr val="3D339A"/>
                </a:solidFill>
                <a:latin typeface="Calibri" pitchFamily="34" charset="0"/>
                <a:ea typeface="Calibri" pitchFamily="34" charset="-122"/>
                <a:cs typeface="Calibri" pitchFamily="34" charset="-120"/>
              </a:rPr>
              <a:t> ruang aman bagi siswa untuk mengekspresikan emosi, berefleksi diri, dan melatih keberanian berbicara di depan teman-temannya?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DAA6E"/>
          </a:solidFill>
          <a:ln w="12700">
            <a:solidFill>
              <a:srgbClr val="3DAA6E"/>
            </a:solidFill>
            <a:prstDash val="solid"/>
          </a:ln>
        </p:spPr>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600" b="1" dirty="0">
                <a:solidFill>
                  <a:srgbClr val="3D339A"/>
                </a:solidFill>
                <a:latin typeface="Calibri" pitchFamily="34" charset="0"/>
                <a:ea typeface="Calibri" pitchFamily="34" charset="-122"/>
                <a:cs typeface="Calibri" pitchFamily="34" charset="-120"/>
              </a:rPr>
              <a:t>Deskripsi Solusi &amp; Inovasi</a:t>
            </a:r>
            <a:endParaRPr lang="en-US" sz="2600" dirty="0"/>
          </a:p>
        </p:txBody>
      </p:sp>
      <p:sp>
        <p:nvSpPr>
          <p:cNvPr id="4" name="Text 2"/>
          <p:cNvSpPr/>
          <p:nvPr/>
        </p:nvSpPr>
        <p:spPr>
          <a:xfrm>
            <a:off x="365760" y="713232"/>
            <a:ext cx="8412480" cy="274320"/>
          </a:xfrm>
          <a:prstGeom prst="rect">
            <a:avLst/>
          </a:prstGeom>
          <a:noFill/>
          <a:ln/>
        </p:spPr>
        <p:txBody>
          <a:bodyPr wrap="square" rtlCol="0" anchor="ctr"/>
          <a:lstStyle/>
          <a:p>
            <a:pPr marL="0" indent="0">
              <a:buNone/>
            </a:pPr>
            <a:r>
              <a:rPr lang="en-US" sz="1100" dirty="0">
                <a:solidFill>
                  <a:srgbClr val="6B7280"/>
                </a:solidFill>
                <a:latin typeface="Calibri Light" pitchFamily="34" charset="0"/>
                <a:ea typeface="Calibri Light" pitchFamily="34" charset="-122"/>
                <a:cs typeface="Calibri Light" pitchFamily="34" charset="-120"/>
              </a:rPr>
              <a:t>Cara kerja Media Layanan Roda Kendali</a:t>
            </a:r>
            <a:endParaRPr lang="en-US" sz="1100" dirty="0"/>
          </a:p>
        </p:txBody>
      </p:sp>
      <p:sp>
        <p:nvSpPr>
          <p:cNvPr id="5" name="Shape 3"/>
          <p:cNvSpPr/>
          <p:nvPr/>
        </p:nvSpPr>
        <p:spPr>
          <a:xfrm>
            <a:off x="2286000" y="2103120"/>
            <a:ext cx="228600" cy="54864"/>
          </a:xfrm>
          <a:prstGeom prst="rect">
            <a:avLst/>
          </a:prstGeom>
          <a:solidFill>
            <a:srgbClr val="E5E7EB"/>
          </a:solidFill>
          <a:ln w="12700">
            <a:solidFill>
              <a:srgbClr val="E5E7EB"/>
            </a:solidFill>
            <a:prstDash val="solid"/>
          </a:ln>
        </p:spPr>
      </p:sp>
      <p:sp>
        <p:nvSpPr>
          <p:cNvPr id="6" name="Shape 4"/>
          <p:cNvSpPr/>
          <p:nvPr/>
        </p:nvSpPr>
        <p:spPr>
          <a:xfrm>
            <a:off x="365760" y="1097280"/>
            <a:ext cx="1920240" cy="274320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7" name="Shape 5"/>
          <p:cNvSpPr/>
          <p:nvPr/>
        </p:nvSpPr>
        <p:spPr>
          <a:xfrm>
            <a:off x="960120" y="1207008"/>
            <a:ext cx="731520" cy="731520"/>
          </a:xfrm>
          <a:prstGeom prst="ellipse">
            <a:avLst/>
          </a:prstGeom>
          <a:solidFill>
            <a:srgbClr val="5B4FCF"/>
          </a:solidFill>
          <a:ln w="12700">
            <a:solidFill>
              <a:srgbClr val="5B4FCF"/>
            </a:solidFill>
            <a:prstDash val="solid"/>
          </a:ln>
        </p:spPr>
      </p:sp>
      <p:sp>
        <p:nvSpPr>
          <p:cNvPr id="8" name="Text 6"/>
          <p:cNvSpPr/>
          <p:nvPr/>
        </p:nvSpPr>
        <p:spPr>
          <a:xfrm>
            <a:off x="960120" y="120700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457200" y="2084832"/>
            <a:ext cx="1737360" cy="411480"/>
          </a:xfrm>
          <a:prstGeom prst="rect">
            <a:avLst/>
          </a:prstGeom>
          <a:noFill/>
          <a:ln/>
        </p:spPr>
        <p:txBody>
          <a:bodyPr wrap="square" rtlCol="0" anchor="ctr"/>
          <a:lstStyle/>
          <a:p>
            <a:pPr marL="0" indent="0" algn="ctr">
              <a:buNone/>
            </a:pPr>
            <a:r>
              <a:rPr lang="en-US" sz="1100" b="1" dirty="0">
                <a:solidFill>
                  <a:srgbClr val="3D339A"/>
                </a:solidFill>
                <a:latin typeface="Calibri" pitchFamily="34" charset="0"/>
                <a:ea typeface="Calibri" pitchFamily="34" charset="-122"/>
                <a:cs typeface="Calibri" pitchFamily="34" charset="-120"/>
              </a:rPr>
              <a:t>Putar Roda</a:t>
            </a:r>
            <a:endParaRPr lang="en-US" sz="1100" dirty="0"/>
          </a:p>
        </p:txBody>
      </p:sp>
      <p:sp>
        <p:nvSpPr>
          <p:cNvPr id="10" name="Text 8"/>
          <p:cNvSpPr/>
          <p:nvPr/>
        </p:nvSpPr>
        <p:spPr>
          <a:xfrm>
            <a:off x="457200" y="2542032"/>
            <a:ext cx="1737360" cy="1188720"/>
          </a:xfrm>
          <a:prstGeom prst="rect">
            <a:avLst/>
          </a:prstGeom>
          <a:noFill/>
          <a:ln/>
        </p:spPr>
        <p:txBody>
          <a:bodyPr wrap="square" rtlCol="0" anchor="t"/>
          <a:lstStyle/>
          <a:p>
            <a:pPr marL="0" indent="0" algn="ctr">
              <a:buNone/>
            </a:pPr>
            <a:r>
              <a:rPr lang="en-US" sz="950" dirty="0">
                <a:solidFill>
                  <a:srgbClr val="1A1740"/>
                </a:solidFill>
                <a:latin typeface="Calibri" pitchFamily="34" charset="0"/>
                <a:ea typeface="Calibri" pitchFamily="34" charset="-122"/>
                <a:cs typeface="Calibri" pitchFamily="34" charset="-120"/>
              </a:rPr>
              <a:t>Siswa memutar roda kincir. Roda berhenti pada salah satu emotikon secara acak.</a:t>
            </a:r>
            <a:endParaRPr lang="en-US" sz="950" dirty="0"/>
          </a:p>
        </p:txBody>
      </p:sp>
      <p:sp>
        <p:nvSpPr>
          <p:cNvPr id="11" name="Shape 9"/>
          <p:cNvSpPr/>
          <p:nvPr/>
        </p:nvSpPr>
        <p:spPr>
          <a:xfrm>
            <a:off x="4480560" y="2103120"/>
            <a:ext cx="228600" cy="54864"/>
          </a:xfrm>
          <a:prstGeom prst="rect">
            <a:avLst/>
          </a:prstGeom>
          <a:solidFill>
            <a:srgbClr val="E5E7EB"/>
          </a:solidFill>
          <a:ln w="12700">
            <a:solidFill>
              <a:srgbClr val="E5E7EB"/>
            </a:solidFill>
            <a:prstDash val="solid"/>
          </a:ln>
        </p:spPr>
      </p:sp>
      <p:sp>
        <p:nvSpPr>
          <p:cNvPr id="12" name="Shape 10"/>
          <p:cNvSpPr/>
          <p:nvPr/>
        </p:nvSpPr>
        <p:spPr>
          <a:xfrm>
            <a:off x="2560320" y="1097280"/>
            <a:ext cx="1920240" cy="274320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13" name="Shape 11"/>
          <p:cNvSpPr/>
          <p:nvPr/>
        </p:nvSpPr>
        <p:spPr>
          <a:xfrm>
            <a:off x="3154680" y="1207008"/>
            <a:ext cx="731520" cy="731520"/>
          </a:xfrm>
          <a:prstGeom prst="ellipse">
            <a:avLst/>
          </a:prstGeom>
          <a:solidFill>
            <a:srgbClr val="F96167"/>
          </a:solidFill>
          <a:ln w="12700">
            <a:solidFill>
              <a:srgbClr val="F96167"/>
            </a:solidFill>
            <a:prstDash val="solid"/>
          </a:ln>
        </p:spPr>
      </p:sp>
      <p:sp>
        <p:nvSpPr>
          <p:cNvPr id="14" name="Text 12"/>
          <p:cNvSpPr/>
          <p:nvPr/>
        </p:nvSpPr>
        <p:spPr>
          <a:xfrm>
            <a:off x="3154680" y="120700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5" name="Text 13"/>
          <p:cNvSpPr/>
          <p:nvPr/>
        </p:nvSpPr>
        <p:spPr>
          <a:xfrm>
            <a:off x="2651760" y="2084832"/>
            <a:ext cx="1737360" cy="411480"/>
          </a:xfrm>
          <a:prstGeom prst="rect">
            <a:avLst/>
          </a:prstGeom>
          <a:noFill/>
          <a:ln/>
        </p:spPr>
        <p:txBody>
          <a:bodyPr wrap="square" rtlCol="0" anchor="ctr"/>
          <a:lstStyle/>
          <a:p>
            <a:pPr marL="0" indent="0" algn="ctr">
              <a:buNone/>
            </a:pPr>
            <a:r>
              <a:rPr lang="en-US" sz="1100" b="1" dirty="0">
                <a:solidFill>
                  <a:srgbClr val="3D339A"/>
                </a:solidFill>
                <a:latin typeface="Calibri" pitchFamily="34" charset="0"/>
                <a:ea typeface="Calibri" pitchFamily="34" charset="-122"/>
                <a:cs typeface="Calibri" pitchFamily="34" charset="-120"/>
              </a:rPr>
              <a:t>Baca Instruksi</a:t>
            </a:r>
            <a:endParaRPr lang="en-US" sz="1100" dirty="0"/>
          </a:p>
        </p:txBody>
      </p:sp>
      <p:sp>
        <p:nvSpPr>
          <p:cNvPr id="16" name="Text 14"/>
          <p:cNvSpPr/>
          <p:nvPr/>
        </p:nvSpPr>
        <p:spPr>
          <a:xfrm>
            <a:off x="2651760" y="2542032"/>
            <a:ext cx="1737360" cy="1188720"/>
          </a:xfrm>
          <a:prstGeom prst="rect">
            <a:avLst/>
          </a:prstGeom>
          <a:noFill/>
          <a:ln/>
        </p:spPr>
        <p:txBody>
          <a:bodyPr wrap="square" rtlCol="0" anchor="t"/>
          <a:lstStyle/>
          <a:p>
            <a:pPr marL="0" indent="0" algn="ctr">
              <a:buNone/>
            </a:pPr>
            <a:r>
              <a:rPr lang="en-US" sz="950" dirty="0">
                <a:solidFill>
                  <a:srgbClr val="1A1740"/>
                </a:solidFill>
                <a:latin typeface="Calibri" pitchFamily="34" charset="0"/>
                <a:ea typeface="Calibri" pitchFamily="34" charset="-122"/>
                <a:cs typeface="Calibri" pitchFamily="34" charset="-120"/>
              </a:rPr>
              <a:t>Emotikon menunjukkan satu dari tiga aktivitas: </a:t>
            </a:r>
            <a:r>
              <a:rPr lang="id-ID" sz="950" dirty="0">
                <a:solidFill>
                  <a:srgbClr val="1A1740"/>
                </a:solidFill>
                <a:latin typeface="Calibri" pitchFamily="34" charset="0"/>
                <a:ea typeface="Calibri" pitchFamily="34" charset="-122"/>
                <a:cs typeface="Calibri" pitchFamily="34" charset="-120"/>
              </a:rPr>
              <a:t>Pertanyaan </a:t>
            </a:r>
            <a:r>
              <a:rPr lang="en-US" sz="950" dirty="0" err="1">
                <a:solidFill>
                  <a:srgbClr val="1A1740"/>
                </a:solidFill>
                <a:latin typeface="Calibri" pitchFamily="34" charset="0"/>
                <a:ea typeface="Calibri" pitchFamily="34" charset="-122"/>
                <a:cs typeface="Calibri" pitchFamily="34" charset="-120"/>
              </a:rPr>
              <a:t>Refleksi</a:t>
            </a:r>
            <a:r>
              <a:rPr lang="en-US" sz="950" dirty="0">
                <a:solidFill>
                  <a:srgbClr val="1A1740"/>
                </a:solidFill>
                <a:latin typeface="Calibri" pitchFamily="34" charset="0"/>
                <a:ea typeface="Calibri" pitchFamily="34" charset="-122"/>
                <a:cs typeface="Calibri" pitchFamily="34" charset="-120"/>
              </a:rPr>
              <a:t> Diri, Misi, atau Role Playing.</a:t>
            </a:r>
            <a:endParaRPr lang="en-US" sz="950" dirty="0"/>
          </a:p>
        </p:txBody>
      </p:sp>
      <p:sp>
        <p:nvSpPr>
          <p:cNvPr id="17" name="Shape 15"/>
          <p:cNvSpPr/>
          <p:nvPr/>
        </p:nvSpPr>
        <p:spPr>
          <a:xfrm>
            <a:off x="6675120" y="2103120"/>
            <a:ext cx="228600" cy="54864"/>
          </a:xfrm>
          <a:prstGeom prst="rect">
            <a:avLst/>
          </a:prstGeom>
          <a:solidFill>
            <a:srgbClr val="E5E7EB"/>
          </a:solidFill>
          <a:ln w="12700">
            <a:solidFill>
              <a:srgbClr val="E5E7EB"/>
            </a:solidFill>
            <a:prstDash val="solid"/>
          </a:ln>
        </p:spPr>
      </p:sp>
      <p:sp>
        <p:nvSpPr>
          <p:cNvPr id="18" name="Shape 16"/>
          <p:cNvSpPr/>
          <p:nvPr/>
        </p:nvSpPr>
        <p:spPr>
          <a:xfrm>
            <a:off x="4754880" y="1097280"/>
            <a:ext cx="1920240" cy="274320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19" name="Shape 17"/>
          <p:cNvSpPr/>
          <p:nvPr/>
        </p:nvSpPr>
        <p:spPr>
          <a:xfrm>
            <a:off x="5349240" y="1207008"/>
            <a:ext cx="731520" cy="731520"/>
          </a:xfrm>
          <a:prstGeom prst="ellipse">
            <a:avLst/>
          </a:prstGeom>
          <a:solidFill>
            <a:srgbClr val="5B4FCF"/>
          </a:solidFill>
          <a:ln w="12700">
            <a:solidFill>
              <a:srgbClr val="5B4FCF"/>
            </a:solidFill>
            <a:prstDash val="solid"/>
          </a:ln>
        </p:spPr>
      </p:sp>
      <p:sp>
        <p:nvSpPr>
          <p:cNvPr id="20" name="Text 18"/>
          <p:cNvSpPr/>
          <p:nvPr/>
        </p:nvSpPr>
        <p:spPr>
          <a:xfrm>
            <a:off x="5349240" y="120700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21" name="Text 19"/>
          <p:cNvSpPr/>
          <p:nvPr/>
        </p:nvSpPr>
        <p:spPr>
          <a:xfrm>
            <a:off x="4846320" y="2084832"/>
            <a:ext cx="1737360" cy="411480"/>
          </a:xfrm>
          <a:prstGeom prst="rect">
            <a:avLst/>
          </a:prstGeom>
          <a:noFill/>
          <a:ln/>
        </p:spPr>
        <p:txBody>
          <a:bodyPr wrap="square" rtlCol="0" anchor="ctr"/>
          <a:lstStyle/>
          <a:p>
            <a:pPr marL="0" indent="0" algn="ctr">
              <a:buNone/>
            </a:pPr>
            <a:r>
              <a:rPr lang="en-US" sz="1100" b="1" dirty="0">
                <a:solidFill>
                  <a:srgbClr val="3D339A"/>
                </a:solidFill>
                <a:latin typeface="Calibri" pitchFamily="34" charset="0"/>
                <a:ea typeface="Calibri" pitchFamily="34" charset="-122"/>
                <a:cs typeface="Calibri" pitchFamily="34" charset="-120"/>
              </a:rPr>
              <a:t>Lakukan Aktivitas</a:t>
            </a:r>
            <a:endParaRPr lang="en-US" sz="1100" dirty="0"/>
          </a:p>
        </p:txBody>
      </p:sp>
      <p:sp>
        <p:nvSpPr>
          <p:cNvPr id="22" name="Text 20"/>
          <p:cNvSpPr/>
          <p:nvPr/>
        </p:nvSpPr>
        <p:spPr>
          <a:xfrm>
            <a:off x="4846320" y="2542032"/>
            <a:ext cx="1737360" cy="1188720"/>
          </a:xfrm>
          <a:prstGeom prst="rect">
            <a:avLst/>
          </a:prstGeom>
          <a:noFill/>
          <a:ln/>
        </p:spPr>
        <p:txBody>
          <a:bodyPr wrap="square" rtlCol="0" anchor="t"/>
          <a:lstStyle/>
          <a:p>
            <a:pPr marL="0" indent="0" algn="ctr">
              <a:buNone/>
            </a:pPr>
            <a:r>
              <a:rPr lang="en-US" sz="950" dirty="0">
                <a:solidFill>
                  <a:srgbClr val="1A1740"/>
                </a:solidFill>
                <a:latin typeface="Calibri" pitchFamily="34" charset="0"/>
                <a:ea typeface="Calibri" pitchFamily="34" charset="-122"/>
                <a:cs typeface="Calibri" pitchFamily="34" charset="-120"/>
              </a:rPr>
              <a:t>Siswa menjalankan instruksi </a:t>
            </a:r>
            <a:r>
              <a:rPr lang="en-US" sz="950" dirty="0" err="1">
                <a:solidFill>
                  <a:srgbClr val="1A1740"/>
                </a:solidFill>
                <a:latin typeface="Calibri" pitchFamily="34" charset="0"/>
                <a:ea typeface="Calibri" pitchFamily="34" charset="-122"/>
                <a:cs typeface="Calibri" pitchFamily="34" charset="-120"/>
              </a:rPr>
              <a:t>sesuai</a:t>
            </a:r>
            <a:r>
              <a:rPr lang="en-US" sz="950" dirty="0">
                <a:solidFill>
                  <a:srgbClr val="1A1740"/>
                </a:solidFill>
                <a:latin typeface="Calibri" pitchFamily="34" charset="0"/>
                <a:ea typeface="Calibri" pitchFamily="34" charset="-122"/>
                <a:cs typeface="Calibri" pitchFamily="34" charset="-120"/>
              </a:rPr>
              <a:t> </a:t>
            </a:r>
            <a:r>
              <a:rPr lang="id-ID" sz="950" dirty="0">
                <a:solidFill>
                  <a:srgbClr val="1A1740"/>
                </a:solidFill>
                <a:latin typeface="Calibri" pitchFamily="34" charset="0"/>
                <a:ea typeface="Calibri" pitchFamily="34" charset="-122"/>
                <a:cs typeface="Calibri" pitchFamily="34" charset="-120"/>
              </a:rPr>
              <a:t>tulisan di kertas yang tertera pada </a:t>
            </a:r>
            <a:r>
              <a:rPr lang="en-US" sz="950" dirty="0" err="1">
                <a:solidFill>
                  <a:srgbClr val="1A1740"/>
                </a:solidFill>
                <a:latin typeface="Calibri" pitchFamily="34" charset="0"/>
                <a:ea typeface="Calibri" pitchFamily="34" charset="-122"/>
                <a:cs typeface="Calibri" pitchFamily="34" charset="-120"/>
              </a:rPr>
              <a:t>emotikon</a:t>
            </a:r>
            <a:r>
              <a:rPr lang="en-US" sz="950" dirty="0">
                <a:solidFill>
                  <a:srgbClr val="1A1740"/>
                </a:solidFill>
                <a:latin typeface="Calibri" pitchFamily="34" charset="0"/>
                <a:ea typeface="Calibri" pitchFamily="34" charset="-122"/>
                <a:cs typeface="Calibri" pitchFamily="34" charset="-120"/>
              </a:rPr>
              <a:t> di depan kelompok atau </a:t>
            </a:r>
            <a:r>
              <a:rPr lang="en-US" sz="950" dirty="0" err="1">
                <a:solidFill>
                  <a:srgbClr val="1A1740"/>
                </a:solidFill>
                <a:latin typeface="Calibri" pitchFamily="34" charset="0"/>
                <a:ea typeface="Calibri" pitchFamily="34" charset="-122"/>
                <a:cs typeface="Calibri" pitchFamily="34" charset="-120"/>
              </a:rPr>
              <a:t>secara</a:t>
            </a:r>
            <a:r>
              <a:rPr lang="en-US" sz="950" dirty="0">
                <a:solidFill>
                  <a:srgbClr val="1A1740"/>
                </a:solidFill>
                <a:latin typeface="Calibri" pitchFamily="34" charset="0"/>
                <a:ea typeface="Calibri" pitchFamily="34" charset="-122"/>
                <a:cs typeface="Calibri" pitchFamily="34" charset="-120"/>
              </a:rPr>
              <a:t> </a:t>
            </a:r>
            <a:r>
              <a:rPr lang="en-US" sz="950" dirty="0" err="1">
                <a:solidFill>
                  <a:srgbClr val="1A1740"/>
                </a:solidFill>
                <a:latin typeface="Calibri" pitchFamily="34" charset="0"/>
                <a:ea typeface="Calibri" pitchFamily="34" charset="-122"/>
                <a:cs typeface="Calibri" pitchFamily="34" charset="-120"/>
              </a:rPr>
              <a:t>individu</a:t>
            </a:r>
            <a:r>
              <a:rPr lang="id-ID" sz="950" dirty="0">
                <a:solidFill>
                  <a:srgbClr val="1A1740"/>
                </a:solidFill>
                <a:latin typeface="Calibri" pitchFamily="34" charset="0"/>
                <a:ea typeface="Calibri" pitchFamily="34" charset="-122"/>
                <a:cs typeface="Calibri" pitchFamily="34" charset="-120"/>
              </a:rPr>
              <a:t> di kelas</a:t>
            </a:r>
            <a:r>
              <a:rPr lang="en-US" sz="950" dirty="0">
                <a:solidFill>
                  <a:srgbClr val="1A1740"/>
                </a:solidFill>
                <a:latin typeface="Calibri" pitchFamily="34" charset="0"/>
                <a:ea typeface="Calibri" pitchFamily="34" charset="-122"/>
                <a:cs typeface="Calibri" pitchFamily="34" charset="-120"/>
              </a:rPr>
              <a:t>.</a:t>
            </a:r>
            <a:endParaRPr lang="en-US" sz="950" dirty="0"/>
          </a:p>
        </p:txBody>
      </p:sp>
      <p:sp>
        <p:nvSpPr>
          <p:cNvPr id="23" name="Shape 21"/>
          <p:cNvSpPr/>
          <p:nvPr/>
        </p:nvSpPr>
        <p:spPr>
          <a:xfrm>
            <a:off x="6949440" y="1097280"/>
            <a:ext cx="1920240" cy="274320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24" name="Shape 22"/>
          <p:cNvSpPr/>
          <p:nvPr/>
        </p:nvSpPr>
        <p:spPr>
          <a:xfrm>
            <a:off x="7543800" y="1207008"/>
            <a:ext cx="731520" cy="731520"/>
          </a:xfrm>
          <a:prstGeom prst="ellipse">
            <a:avLst/>
          </a:prstGeom>
          <a:solidFill>
            <a:srgbClr val="F96167"/>
          </a:solidFill>
          <a:ln w="12700">
            <a:solidFill>
              <a:srgbClr val="F96167"/>
            </a:solidFill>
            <a:prstDash val="solid"/>
          </a:ln>
        </p:spPr>
      </p:sp>
      <p:sp>
        <p:nvSpPr>
          <p:cNvPr id="25" name="Text 23"/>
          <p:cNvSpPr/>
          <p:nvPr/>
        </p:nvSpPr>
        <p:spPr>
          <a:xfrm>
            <a:off x="7543800" y="1207008"/>
            <a:ext cx="731520" cy="73152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6" name="Text 24"/>
          <p:cNvSpPr/>
          <p:nvPr/>
        </p:nvSpPr>
        <p:spPr>
          <a:xfrm>
            <a:off x="7040880" y="2084832"/>
            <a:ext cx="1737360" cy="411480"/>
          </a:xfrm>
          <a:prstGeom prst="rect">
            <a:avLst/>
          </a:prstGeom>
          <a:noFill/>
          <a:ln/>
        </p:spPr>
        <p:txBody>
          <a:bodyPr wrap="square" rtlCol="0" anchor="ctr"/>
          <a:lstStyle/>
          <a:p>
            <a:pPr marL="0" indent="0" algn="ctr">
              <a:buNone/>
            </a:pPr>
            <a:r>
              <a:rPr lang="en-US" sz="1100" b="1" dirty="0">
                <a:solidFill>
                  <a:srgbClr val="3D339A"/>
                </a:solidFill>
                <a:latin typeface="Calibri" pitchFamily="34" charset="0"/>
                <a:ea typeface="Calibri" pitchFamily="34" charset="-122"/>
                <a:cs typeface="Calibri" pitchFamily="34" charset="-120"/>
              </a:rPr>
              <a:t>Diskusi &amp; Refleksi</a:t>
            </a:r>
            <a:endParaRPr lang="en-US" sz="1100" dirty="0"/>
          </a:p>
        </p:txBody>
      </p:sp>
      <p:sp>
        <p:nvSpPr>
          <p:cNvPr id="27" name="Text 25"/>
          <p:cNvSpPr/>
          <p:nvPr/>
        </p:nvSpPr>
        <p:spPr>
          <a:xfrm>
            <a:off x="7040880" y="2542032"/>
            <a:ext cx="1737360" cy="1188720"/>
          </a:xfrm>
          <a:prstGeom prst="rect">
            <a:avLst/>
          </a:prstGeom>
          <a:noFill/>
          <a:ln/>
        </p:spPr>
        <p:txBody>
          <a:bodyPr wrap="square" rtlCol="0" anchor="t"/>
          <a:lstStyle/>
          <a:p>
            <a:pPr marL="0" indent="0" algn="ctr">
              <a:buNone/>
            </a:pPr>
            <a:r>
              <a:rPr lang="en-US" sz="950" dirty="0">
                <a:solidFill>
                  <a:srgbClr val="1A1740"/>
                </a:solidFill>
                <a:latin typeface="Calibri" pitchFamily="34" charset="0"/>
                <a:ea typeface="Calibri" pitchFamily="34" charset="-122"/>
                <a:cs typeface="Calibri" pitchFamily="34" charset="-120"/>
              </a:rPr>
              <a:t>Guru BK memfasilitasi diskusi dan penguatan makna dari aktivitas yang telah dilakukan.</a:t>
            </a:r>
            <a:endParaRPr lang="en-US" sz="950" dirty="0"/>
          </a:p>
        </p:txBody>
      </p:sp>
      <p:sp>
        <p:nvSpPr>
          <p:cNvPr id="28" name="Text 26"/>
          <p:cNvSpPr/>
          <p:nvPr/>
        </p:nvSpPr>
        <p:spPr>
          <a:xfrm>
            <a:off x="365760" y="3977640"/>
            <a:ext cx="2743200" cy="274320"/>
          </a:xfrm>
          <a:prstGeom prst="rect">
            <a:avLst/>
          </a:prstGeom>
          <a:noFill/>
          <a:ln/>
        </p:spPr>
        <p:txBody>
          <a:bodyPr wrap="square" rtlCol="0" anchor="ctr"/>
          <a:lstStyle/>
          <a:p>
            <a:pPr marL="0" indent="0">
              <a:buNone/>
            </a:pPr>
            <a:r>
              <a:rPr lang="en-US" sz="1000" b="1" dirty="0">
                <a:solidFill>
                  <a:srgbClr val="3D339A"/>
                </a:solidFill>
                <a:latin typeface="Calibri" pitchFamily="34" charset="0"/>
                <a:ea typeface="Calibri" pitchFamily="34" charset="-122"/>
                <a:cs typeface="Calibri" pitchFamily="34" charset="-120"/>
              </a:rPr>
              <a:t>3 Jenis Aktivitas Utama:</a:t>
            </a:r>
            <a:endParaRPr lang="en-US" sz="1000" dirty="0"/>
          </a:p>
        </p:txBody>
      </p:sp>
      <p:sp>
        <p:nvSpPr>
          <p:cNvPr id="29" name="Shape 27"/>
          <p:cNvSpPr/>
          <p:nvPr/>
        </p:nvSpPr>
        <p:spPr>
          <a:xfrm>
            <a:off x="3200400" y="3931920"/>
            <a:ext cx="1737360" cy="411480"/>
          </a:xfrm>
          <a:prstGeom prst="roundRect">
            <a:avLst>
              <a:gd name="adj" fmla="val 22222"/>
            </a:avLst>
          </a:prstGeom>
          <a:solidFill>
            <a:srgbClr val="5B4FCF"/>
          </a:solidFill>
          <a:ln w="12700">
            <a:solidFill>
              <a:srgbClr val="5B4FCF"/>
            </a:solidFill>
            <a:prstDash val="solid"/>
          </a:ln>
        </p:spPr>
      </p:sp>
      <p:sp>
        <p:nvSpPr>
          <p:cNvPr id="30" name="Text 28"/>
          <p:cNvSpPr/>
          <p:nvPr/>
        </p:nvSpPr>
        <p:spPr>
          <a:xfrm>
            <a:off x="3200400" y="3931920"/>
            <a:ext cx="1737360" cy="411480"/>
          </a:xfrm>
          <a:prstGeom prst="rect">
            <a:avLst/>
          </a:prstGeom>
          <a:noFill/>
          <a:ln/>
        </p:spPr>
        <p:txBody>
          <a:bodyPr wrap="square" lIns="0" tIns="0" rIns="0" bIns="0" rtlCol="0" anchor="ctr"/>
          <a:lstStyle/>
          <a:p>
            <a:pPr marL="0" indent="0" algn="ctr">
              <a:buNone/>
            </a:pPr>
            <a:r>
              <a:rPr lang="en-US" sz="1000" b="1" dirty="0">
                <a:solidFill>
                  <a:srgbClr val="FFFFFF"/>
                </a:solidFill>
              </a:rPr>
              <a:t>🪞 Refleksi Diri</a:t>
            </a:r>
            <a:endParaRPr lang="en-US" sz="1000" dirty="0"/>
          </a:p>
        </p:txBody>
      </p:sp>
      <p:sp>
        <p:nvSpPr>
          <p:cNvPr id="31" name="Shape 29"/>
          <p:cNvSpPr/>
          <p:nvPr/>
        </p:nvSpPr>
        <p:spPr>
          <a:xfrm>
            <a:off x="5120640" y="3931920"/>
            <a:ext cx="1737360" cy="411480"/>
          </a:xfrm>
          <a:prstGeom prst="roundRect">
            <a:avLst>
              <a:gd name="adj" fmla="val 22222"/>
            </a:avLst>
          </a:prstGeom>
          <a:solidFill>
            <a:srgbClr val="FF8C42"/>
          </a:solidFill>
          <a:ln w="12700">
            <a:solidFill>
              <a:srgbClr val="FF8C42"/>
            </a:solidFill>
            <a:prstDash val="solid"/>
          </a:ln>
        </p:spPr>
      </p:sp>
      <p:sp>
        <p:nvSpPr>
          <p:cNvPr id="32" name="Text 30"/>
          <p:cNvSpPr/>
          <p:nvPr/>
        </p:nvSpPr>
        <p:spPr>
          <a:xfrm>
            <a:off x="5120640" y="3931920"/>
            <a:ext cx="1737360" cy="411480"/>
          </a:xfrm>
          <a:prstGeom prst="rect">
            <a:avLst/>
          </a:prstGeom>
          <a:noFill/>
          <a:ln/>
        </p:spPr>
        <p:txBody>
          <a:bodyPr wrap="square" lIns="0" tIns="0" rIns="0" bIns="0" rtlCol="0" anchor="ctr"/>
          <a:lstStyle/>
          <a:p>
            <a:pPr marL="0" indent="0" algn="ctr">
              <a:buNone/>
            </a:pPr>
            <a:r>
              <a:rPr lang="en-US" sz="1000" b="1" dirty="0">
                <a:solidFill>
                  <a:srgbClr val="FFFFFF"/>
                </a:solidFill>
              </a:rPr>
              <a:t>🏆 </a:t>
            </a:r>
            <a:r>
              <a:rPr lang="id-ID" sz="1000" b="1" dirty="0" err="1">
                <a:solidFill>
                  <a:srgbClr val="FFFFFF"/>
                </a:solidFill>
              </a:rPr>
              <a:t>Challenge</a:t>
            </a:r>
            <a:endParaRPr lang="en-US" sz="1000" dirty="0"/>
          </a:p>
        </p:txBody>
      </p:sp>
      <p:sp>
        <p:nvSpPr>
          <p:cNvPr id="33" name="Shape 31"/>
          <p:cNvSpPr/>
          <p:nvPr/>
        </p:nvSpPr>
        <p:spPr>
          <a:xfrm>
            <a:off x="7040880" y="3931920"/>
            <a:ext cx="1737360" cy="411480"/>
          </a:xfrm>
          <a:prstGeom prst="roundRect">
            <a:avLst>
              <a:gd name="adj" fmla="val 22222"/>
            </a:avLst>
          </a:prstGeom>
          <a:solidFill>
            <a:srgbClr val="F96167"/>
          </a:solidFill>
          <a:ln w="12700">
            <a:solidFill>
              <a:srgbClr val="F96167"/>
            </a:solidFill>
            <a:prstDash val="solid"/>
          </a:ln>
        </p:spPr>
      </p:sp>
      <p:sp>
        <p:nvSpPr>
          <p:cNvPr id="34" name="Text 32"/>
          <p:cNvSpPr/>
          <p:nvPr/>
        </p:nvSpPr>
        <p:spPr>
          <a:xfrm>
            <a:off x="7040880" y="3931920"/>
            <a:ext cx="1737360" cy="411480"/>
          </a:xfrm>
          <a:prstGeom prst="rect">
            <a:avLst/>
          </a:prstGeom>
          <a:noFill/>
          <a:ln/>
        </p:spPr>
        <p:txBody>
          <a:bodyPr wrap="square" lIns="0" tIns="0" rIns="0" bIns="0" rtlCol="0" anchor="ctr"/>
          <a:lstStyle/>
          <a:p>
            <a:pPr marL="0" indent="0" algn="ctr">
              <a:buNone/>
            </a:pPr>
            <a:r>
              <a:rPr lang="en-US" sz="1000" b="1" dirty="0">
                <a:solidFill>
                  <a:srgbClr val="FFFFFF"/>
                </a:solidFill>
              </a:rPr>
              <a:t>🎭 Role Playing</a:t>
            </a:r>
            <a:endParaRPr lang="en-US" sz="1000" dirty="0"/>
          </a:p>
        </p:txBody>
      </p:sp>
      <p:sp>
        <p:nvSpPr>
          <p:cNvPr id="35" name="Shape 33"/>
          <p:cNvSpPr/>
          <p:nvPr/>
        </p:nvSpPr>
        <p:spPr>
          <a:xfrm>
            <a:off x="9006840" y="1097280"/>
            <a:ext cx="0" cy="0"/>
          </a:xfrm>
          <a:prstGeom prst="rect">
            <a:avLst/>
          </a:prstGeom>
          <a:solidFill>
            <a:srgbClr val="E5E7EB"/>
          </a:solidFill>
          <a:ln w="12700">
            <a:solidFill>
              <a:srgbClr val="E5E7EB"/>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8C42"/>
          </a:solidFill>
          <a:ln w="12700">
            <a:solidFill>
              <a:srgbClr val="FF8C42"/>
            </a:solidFill>
            <a:prstDash val="solid"/>
          </a:ln>
        </p:spPr>
      </p:sp>
      <p:sp>
        <p:nvSpPr>
          <p:cNvPr id="3" name="Text 1"/>
          <p:cNvSpPr/>
          <p:nvPr/>
        </p:nvSpPr>
        <p:spPr>
          <a:xfrm>
            <a:off x="365760" y="228600"/>
            <a:ext cx="5943600" cy="502920"/>
          </a:xfrm>
          <a:prstGeom prst="rect">
            <a:avLst/>
          </a:prstGeom>
          <a:noFill/>
          <a:ln/>
        </p:spPr>
        <p:txBody>
          <a:bodyPr wrap="square" rtlCol="0" anchor="ctr"/>
          <a:lstStyle/>
          <a:p>
            <a:pPr marL="0" indent="0">
              <a:buNone/>
            </a:pPr>
            <a:r>
              <a:rPr lang="en-US" sz="2600" b="1" dirty="0">
                <a:solidFill>
                  <a:srgbClr val="3D339A"/>
                </a:solidFill>
                <a:latin typeface="Calibri" pitchFamily="34" charset="0"/>
                <a:ea typeface="Calibri" pitchFamily="34" charset="-122"/>
                <a:cs typeface="Calibri" pitchFamily="34" charset="-120"/>
              </a:rPr>
              <a:t>Uji Coba Prototipe</a:t>
            </a:r>
            <a:endParaRPr lang="en-US" sz="2600" dirty="0"/>
          </a:p>
        </p:txBody>
      </p:sp>
      <p:sp>
        <p:nvSpPr>
          <p:cNvPr id="4" name="Shape 2"/>
          <p:cNvSpPr/>
          <p:nvPr/>
        </p:nvSpPr>
        <p:spPr>
          <a:xfrm>
            <a:off x="365760" y="914400"/>
            <a:ext cx="3474720" cy="594360"/>
          </a:xfrm>
          <a:prstGeom prst="roundRect">
            <a:avLst>
              <a:gd name="adj" fmla="val 12308"/>
            </a:avLst>
          </a:prstGeom>
          <a:solidFill>
            <a:srgbClr val="EDE9FF"/>
          </a:solidFill>
          <a:ln w="12700">
            <a:solidFill>
              <a:srgbClr val="EDE9FF"/>
            </a:solidFill>
            <a:prstDash val="solid"/>
          </a:ln>
        </p:spPr>
      </p:sp>
      <p:sp>
        <p:nvSpPr>
          <p:cNvPr id="5" name="Text 3"/>
          <p:cNvSpPr/>
          <p:nvPr/>
        </p:nvSpPr>
        <p:spPr>
          <a:xfrm>
            <a:off x="502920" y="914400"/>
            <a:ext cx="3291840" cy="594360"/>
          </a:xfrm>
          <a:prstGeom prst="rect">
            <a:avLst/>
          </a:prstGeom>
          <a:noFill/>
          <a:ln/>
        </p:spPr>
        <p:txBody>
          <a:bodyPr wrap="square" rtlCol="0" anchor="ctr"/>
          <a:lstStyle/>
          <a:p>
            <a:pPr marL="0" indent="0">
              <a:buNone/>
            </a:pPr>
            <a:r>
              <a:rPr lang="en-US" sz="1050" dirty="0">
                <a:solidFill>
                  <a:srgbClr val="3D339A"/>
                </a:solidFill>
                <a:latin typeface="Calibri" pitchFamily="34" charset="0"/>
                <a:ea typeface="Calibri" pitchFamily="34" charset="-122"/>
                <a:cs typeface="Calibri" pitchFamily="34" charset="-120"/>
              </a:rPr>
              <a:t>👥  Pengguna: Siswa Kelas XI G SMAN 1 Cisarua</a:t>
            </a:r>
            <a:endParaRPr lang="en-US" sz="1050" dirty="0"/>
          </a:p>
        </p:txBody>
      </p:sp>
      <p:sp>
        <p:nvSpPr>
          <p:cNvPr id="6" name="Shape 4"/>
          <p:cNvSpPr/>
          <p:nvPr/>
        </p:nvSpPr>
        <p:spPr>
          <a:xfrm>
            <a:off x="365760" y="1691640"/>
            <a:ext cx="3474720" cy="822960"/>
          </a:xfrm>
          <a:prstGeom prst="rect">
            <a:avLst/>
          </a:prstGeom>
          <a:solidFill>
            <a:srgbClr val="FFFFFF"/>
          </a:solidFill>
          <a:ln w="12700">
            <a:solidFill>
              <a:srgbClr val="E5E7EB"/>
            </a:solidFill>
            <a:prstDash val="solid"/>
          </a:ln>
          <a:effectLst>
            <a:outerShdw blurRad="63500" dist="25400" dir="8100000" algn="bl" rotWithShape="0">
              <a:srgbClr val="000000">
                <a:alpha val="7000"/>
              </a:srgbClr>
            </a:outerShdw>
          </a:effectLst>
        </p:spPr>
      </p:sp>
      <p:sp>
        <p:nvSpPr>
          <p:cNvPr id="7" name="Shape 5"/>
          <p:cNvSpPr/>
          <p:nvPr/>
        </p:nvSpPr>
        <p:spPr>
          <a:xfrm>
            <a:off x="365760" y="1691640"/>
            <a:ext cx="54864" cy="822960"/>
          </a:xfrm>
          <a:prstGeom prst="rect">
            <a:avLst/>
          </a:prstGeom>
          <a:solidFill>
            <a:srgbClr val="FF8C42"/>
          </a:solidFill>
          <a:ln w="12700">
            <a:solidFill>
              <a:srgbClr val="FF8C42"/>
            </a:solidFill>
            <a:prstDash val="solid"/>
          </a:ln>
        </p:spPr>
      </p:sp>
      <p:sp>
        <p:nvSpPr>
          <p:cNvPr id="8" name="Text 6"/>
          <p:cNvSpPr/>
          <p:nvPr/>
        </p:nvSpPr>
        <p:spPr>
          <a:xfrm>
            <a:off x="548640" y="1737360"/>
            <a:ext cx="3108960" cy="301752"/>
          </a:xfrm>
          <a:prstGeom prst="rect">
            <a:avLst/>
          </a:prstGeom>
          <a:noFill/>
          <a:ln/>
        </p:spPr>
        <p:txBody>
          <a:bodyPr wrap="square" rtlCol="0" anchor="ctr"/>
          <a:lstStyle/>
          <a:p>
            <a:pPr marL="0" indent="0">
              <a:buNone/>
            </a:pPr>
            <a:r>
              <a:rPr lang="en-US" sz="1100" b="1" dirty="0">
                <a:solidFill>
                  <a:srgbClr val="3D339A"/>
                </a:solidFill>
                <a:latin typeface="Calibri" pitchFamily="34" charset="0"/>
                <a:ea typeface="Calibri" pitchFamily="34" charset="-122"/>
                <a:cs typeface="Calibri" pitchFamily="34" charset="-120"/>
              </a:rPr>
              <a:t>🎙️  Dengan Moderasi</a:t>
            </a:r>
            <a:endParaRPr lang="en-US" sz="1100" dirty="0"/>
          </a:p>
        </p:txBody>
      </p:sp>
      <p:sp>
        <p:nvSpPr>
          <p:cNvPr id="9" name="Text 7"/>
          <p:cNvSpPr/>
          <p:nvPr/>
        </p:nvSpPr>
        <p:spPr>
          <a:xfrm>
            <a:off x="548640" y="2029968"/>
            <a:ext cx="3108960" cy="34747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Penguji memberikan penjelasan &amp; arahan sebelum siswa mencoba media.</a:t>
            </a:r>
            <a:endParaRPr lang="en-US" sz="950" dirty="0"/>
          </a:p>
        </p:txBody>
      </p:sp>
      <p:sp>
        <p:nvSpPr>
          <p:cNvPr id="10" name="Shape 8"/>
          <p:cNvSpPr/>
          <p:nvPr/>
        </p:nvSpPr>
        <p:spPr>
          <a:xfrm>
            <a:off x="365760" y="2651760"/>
            <a:ext cx="3474720" cy="822960"/>
          </a:xfrm>
          <a:prstGeom prst="rect">
            <a:avLst/>
          </a:prstGeom>
          <a:solidFill>
            <a:srgbClr val="FFFFFF"/>
          </a:solidFill>
          <a:ln w="12700">
            <a:solidFill>
              <a:srgbClr val="E5E7EB"/>
            </a:solidFill>
            <a:prstDash val="solid"/>
          </a:ln>
          <a:effectLst>
            <a:outerShdw blurRad="63500" dist="25400" dir="8100000" algn="bl" rotWithShape="0">
              <a:srgbClr val="000000">
                <a:alpha val="7000"/>
              </a:srgbClr>
            </a:outerShdw>
          </a:effectLst>
        </p:spPr>
      </p:sp>
      <p:sp>
        <p:nvSpPr>
          <p:cNvPr id="11" name="Shape 9"/>
          <p:cNvSpPr/>
          <p:nvPr/>
        </p:nvSpPr>
        <p:spPr>
          <a:xfrm>
            <a:off x="365760" y="2651760"/>
            <a:ext cx="54864" cy="822960"/>
          </a:xfrm>
          <a:prstGeom prst="rect">
            <a:avLst/>
          </a:prstGeom>
          <a:solidFill>
            <a:srgbClr val="FF8C42"/>
          </a:solidFill>
          <a:ln w="12700">
            <a:solidFill>
              <a:srgbClr val="FF8C42"/>
            </a:solidFill>
            <a:prstDash val="solid"/>
          </a:ln>
        </p:spPr>
      </p:sp>
      <p:sp>
        <p:nvSpPr>
          <p:cNvPr id="12" name="Text 10"/>
          <p:cNvSpPr/>
          <p:nvPr/>
        </p:nvSpPr>
        <p:spPr>
          <a:xfrm>
            <a:off x="548640" y="2697480"/>
            <a:ext cx="3108960" cy="301752"/>
          </a:xfrm>
          <a:prstGeom prst="rect">
            <a:avLst/>
          </a:prstGeom>
          <a:noFill/>
          <a:ln/>
        </p:spPr>
        <p:txBody>
          <a:bodyPr wrap="square" rtlCol="0" anchor="ctr"/>
          <a:lstStyle/>
          <a:p>
            <a:pPr marL="0" indent="0">
              <a:buNone/>
            </a:pPr>
            <a:r>
              <a:rPr lang="en-US" sz="1100" b="1" dirty="0">
                <a:solidFill>
                  <a:srgbClr val="3D339A"/>
                </a:solidFill>
                <a:latin typeface="Calibri" pitchFamily="34" charset="0"/>
                <a:ea typeface="Calibri" pitchFamily="34" charset="-122"/>
                <a:cs typeface="Calibri" pitchFamily="34" charset="-120"/>
              </a:rPr>
              <a:t>👀  Uji Coba Langsung</a:t>
            </a:r>
            <a:endParaRPr lang="en-US" sz="1100" dirty="0"/>
          </a:p>
        </p:txBody>
      </p:sp>
      <p:sp>
        <p:nvSpPr>
          <p:cNvPr id="13" name="Text 11"/>
          <p:cNvSpPr/>
          <p:nvPr/>
        </p:nvSpPr>
        <p:spPr>
          <a:xfrm>
            <a:off x="548640" y="2990088"/>
            <a:ext cx="3108960" cy="34747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Penguji mengamati ekspresi, reaksi, dan keterlibatan siswa secara langsung.</a:t>
            </a:r>
            <a:endParaRPr lang="en-US" sz="950" dirty="0"/>
          </a:p>
        </p:txBody>
      </p:sp>
      <p:sp>
        <p:nvSpPr>
          <p:cNvPr id="14" name="Shape 12"/>
          <p:cNvSpPr/>
          <p:nvPr/>
        </p:nvSpPr>
        <p:spPr>
          <a:xfrm>
            <a:off x="365760" y="3611880"/>
            <a:ext cx="3474720" cy="822960"/>
          </a:xfrm>
          <a:prstGeom prst="rect">
            <a:avLst/>
          </a:prstGeom>
          <a:solidFill>
            <a:srgbClr val="FFFFFF"/>
          </a:solidFill>
          <a:ln w="12700">
            <a:solidFill>
              <a:srgbClr val="E5E7EB"/>
            </a:solidFill>
            <a:prstDash val="solid"/>
          </a:ln>
          <a:effectLst>
            <a:outerShdw blurRad="63500" dist="25400" dir="8100000" algn="bl" rotWithShape="0">
              <a:srgbClr val="000000">
                <a:alpha val="7000"/>
              </a:srgbClr>
            </a:outerShdw>
          </a:effectLst>
        </p:spPr>
      </p:sp>
      <p:sp>
        <p:nvSpPr>
          <p:cNvPr id="15" name="Shape 13"/>
          <p:cNvSpPr/>
          <p:nvPr/>
        </p:nvSpPr>
        <p:spPr>
          <a:xfrm>
            <a:off x="365760" y="3611880"/>
            <a:ext cx="54864" cy="822960"/>
          </a:xfrm>
          <a:prstGeom prst="rect">
            <a:avLst/>
          </a:prstGeom>
          <a:solidFill>
            <a:srgbClr val="FF8C42"/>
          </a:solidFill>
          <a:ln w="12700">
            <a:solidFill>
              <a:srgbClr val="FF8C42"/>
            </a:solidFill>
            <a:prstDash val="solid"/>
          </a:ln>
        </p:spPr>
      </p:sp>
      <p:sp>
        <p:nvSpPr>
          <p:cNvPr id="16" name="Text 14"/>
          <p:cNvSpPr/>
          <p:nvPr/>
        </p:nvSpPr>
        <p:spPr>
          <a:xfrm>
            <a:off x="548640" y="3657600"/>
            <a:ext cx="3108960" cy="301752"/>
          </a:xfrm>
          <a:prstGeom prst="rect">
            <a:avLst/>
          </a:prstGeom>
          <a:noFill/>
          <a:ln/>
        </p:spPr>
        <p:txBody>
          <a:bodyPr wrap="square" rtlCol="0" anchor="ctr"/>
          <a:lstStyle/>
          <a:p>
            <a:pPr marL="0" indent="0">
              <a:buNone/>
            </a:pPr>
            <a:r>
              <a:rPr lang="en-US" sz="1100" b="1" dirty="0">
                <a:solidFill>
                  <a:srgbClr val="3D339A"/>
                </a:solidFill>
                <a:latin typeface="Calibri" pitchFamily="34" charset="0"/>
                <a:ea typeface="Calibri" pitchFamily="34" charset="-122"/>
                <a:cs typeface="Calibri" pitchFamily="34" charset="-120"/>
              </a:rPr>
              <a:t>🔍  Metode Eksploratif</a:t>
            </a:r>
            <a:endParaRPr lang="en-US" sz="1100" dirty="0"/>
          </a:p>
        </p:txBody>
      </p:sp>
      <p:sp>
        <p:nvSpPr>
          <p:cNvPr id="17" name="Text 15"/>
          <p:cNvSpPr/>
          <p:nvPr/>
        </p:nvSpPr>
        <p:spPr>
          <a:xfrm>
            <a:off x="548640" y="3950208"/>
            <a:ext cx="3108960" cy="347472"/>
          </a:xfrm>
          <a:prstGeom prst="rect">
            <a:avLst/>
          </a:prstGeom>
          <a:noFill/>
          <a:ln/>
        </p:spPr>
        <p:txBody>
          <a:bodyPr wrap="square" rtlCol="0" anchor="ctr"/>
          <a:lstStyle/>
          <a:p>
            <a:pPr marL="0" indent="0">
              <a:buNone/>
            </a:pPr>
            <a:r>
              <a:rPr lang="en-US" sz="950" dirty="0">
                <a:solidFill>
                  <a:srgbClr val="6B7280"/>
                </a:solidFill>
                <a:latin typeface="Calibri" pitchFamily="34" charset="0"/>
                <a:ea typeface="Calibri" pitchFamily="34" charset="-122"/>
                <a:cs typeface="Calibri" pitchFamily="34" charset="-120"/>
              </a:rPr>
              <a:t>Siswa bebas menyampaikan pendapat, kritik, dan saran </a:t>
            </a:r>
            <a:r>
              <a:rPr lang="en-US" sz="950" dirty="0" err="1">
                <a:solidFill>
                  <a:srgbClr val="6B7280"/>
                </a:solidFill>
                <a:latin typeface="Calibri" pitchFamily="34" charset="0"/>
                <a:ea typeface="Calibri" pitchFamily="34" charset="-122"/>
                <a:cs typeface="Calibri" pitchFamily="34" charset="-120"/>
              </a:rPr>
              <a:t>secara</a:t>
            </a:r>
            <a:r>
              <a:rPr lang="en-US" sz="950" dirty="0">
                <a:solidFill>
                  <a:srgbClr val="6B7280"/>
                </a:solidFill>
                <a:latin typeface="Calibri" pitchFamily="34" charset="0"/>
                <a:ea typeface="Calibri" pitchFamily="34" charset="-122"/>
                <a:cs typeface="Calibri" pitchFamily="34" charset="-120"/>
              </a:rPr>
              <a:t> </a:t>
            </a:r>
            <a:r>
              <a:rPr lang="en-US" sz="950" dirty="0" err="1">
                <a:solidFill>
                  <a:srgbClr val="6B7280"/>
                </a:solidFill>
                <a:latin typeface="Calibri" pitchFamily="34" charset="0"/>
                <a:ea typeface="Calibri" pitchFamily="34" charset="-122"/>
                <a:cs typeface="Calibri" pitchFamily="34" charset="-120"/>
              </a:rPr>
              <a:t>terbuka</a:t>
            </a:r>
            <a:r>
              <a:rPr lang="id-ID" sz="950" dirty="0">
                <a:solidFill>
                  <a:srgbClr val="6B7280"/>
                </a:solidFill>
                <a:latin typeface="Calibri" pitchFamily="34" charset="0"/>
                <a:ea typeface="Calibri" pitchFamily="34" charset="-122"/>
                <a:cs typeface="Calibri" pitchFamily="34" charset="-120"/>
              </a:rPr>
              <a:t> terhadap produk yang diuji</a:t>
            </a:r>
            <a:r>
              <a:rPr lang="en-US" sz="950" dirty="0">
                <a:solidFill>
                  <a:srgbClr val="6B7280"/>
                </a:solidFill>
                <a:latin typeface="Calibri" pitchFamily="34" charset="0"/>
                <a:ea typeface="Calibri" pitchFamily="34" charset="-122"/>
                <a:cs typeface="Calibri" pitchFamily="34" charset="-120"/>
              </a:rPr>
              <a:t>.</a:t>
            </a:r>
            <a:endParaRPr lang="en-US" sz="950" dirty="0"/>
          </a:p>
        </p:txBody>
      </p:sp>
      <p:sp>
        <p:nvSpPr>
          <p:cNvPr id="18" name="Shape 16"/>
          <p:cNvSpPr/>
          <p:nvPr/>
        </p:nvSpPr>
        <p:spPr>
          <a:xfrm>
            <a:off x="4114800" y="777240"/>
            <a:ext cx="2240280" cy="1874520"/>
          </a:xfrm>
          <a:prstGeom prst="rect">
            <a:avLst/>
          </a:prstGeom>
          <a:solidFill>
            <a:srgbClr val="C8C8C8">
              <a:alpha val="70000"/>
            </a:srgbClr>
          </a:solidFill>
          <a:ln w="12700">
            <a:solidFill>
              <a:srgbClr val="6B7280"/>
            </a:solidFill>
            <a:prstDash val="solid"/>
          </a:ln>
        </p:spPr>
      </p:sp>
      <p:sp>
        <p:nvSpPr>
          <p:cNvPr id="19" name="Text 17"/>
          <p:cNvSpPr/>
          <p:nvPr/>
        </p:nvSpPr>
        <p:spPr>
          <a:xfrm>
            <a:off x="4114800" y="777240"/>
            <a:ext cx="2240280" cy="1874520"/>
          </a:xfrm>
          <a:prstGeom prst="rect">
            <a:avLst/>
          </a:prstGeom>
          <a:noFill/>
          <a:ln/>
        </p:spPr>
        <p:txBody>
          <a:bodyPr wrap="square" rtlCol="0" anchor="ctr"/>
          <a:lstStyle/>
          <a:p>
            <a:pPr marL="0" indent="0" algn="ctr">
              <a:buNone/>
            </a:pPr>
            <a:r>
              <a:rPr lang="en-US" sz="950" dirty="0">
                <a:solidFill>
                  <a:srgbClr val="888888"/>
                </a:solidFill>
              </a:rPr>
              <a:t>📷</a:t>
            </a:r>
            <a:endParaRPr lang="en-US" sz="950" dirty="0"/>
          </a:p>
          <a:p>
            <a:pPr marL="0" indent="0" algn="ctr">
              <a:buNone/>
            </a:pPr>
            <a:r>
              <a:rPr lang="en-US" sz="950" dirty="0">
                <a:solidFill>
                  <a:srgbClr val="888888"/>
                </a:solidFill>
              </a:rPr>
              <a:t>Foto Prototipe</a:t>
            </a:r>
            <a:endParaRPr lang="en-US" sz="950" dirty="0"/>
          </a:p>
          <a:p>
            <a:pPr marL="0" indent="0" algn="ctr">
              <a:buNone/>
            </a:pPr>
            <a:r>
              <a:rPr lang="en-US" sz="950" dirty="0">
                <a:solidFill>
                  <a:srgbClr val="888888"/>
                </a:solidFill>
              </a:rPr>
              <a:t>Roda Kendali</a:t>
            </a:r>
            <a:endParaRPr lang="en-US" sz="950" dirty="0"/>
          </a:p>
        </p:txBody>
      </p:sp>
      <p:sp>
        <p:nvSpPr>
          <p:cNvPr id="20" name="Shape 18"/>
          <p:cNvSpPr/>
          <p:nvPr/>
        </p:nvSpPr>
        <p:spPr>
          <a:xfrm>
            <a:off x="6492240" y="777240"/>
            <a:ext cx="2240280" cy="1874520"/>
          </a:xfrm>
          <a:prstGeom prst="rect">
            <a:avLst/>
          </a:prstGeom>
          <a:solidFill>
            <a:srgbClr val="C8C8C8">
              <a:alpha val="70000"/>
            </a:srgbClr>
          </a:solidFill>
          <a:ln w="12700">
            <a:solidFill>
              <a:srgbClr val="6B7280"/>
            </a:solidFill>
            <a:prstDash val="solid"/>
          </a:ln>
        </p:spPr>
      </p:sp>
      <p:sp>
        <p:nvSpPr>
          <p:cNvPr id="21" name="Text 19"/>
          <p:cNvSpPr/>
          <p:nvPr/>
        </p:nvSpPr>
        <p:spPr>
          <a:xfrm>
            <a:off x="6492240" y="777240"/>
            <a:ext cx="2240280" cy="1874520"/>
          </a:xfrm>
          <a:prstGeom prst="rect">
            <a:avLst/>
          </a:prstGeom>
          <a:noFill/>
          <a:ln/>
        </p:spPr>
        <p:txBody>
          <a:bodyPr wrap="square" rtlCol="0" anchor="ctr"/>
          <a:lstStyle/>
          <a:p>
            <a:pPr marL="0" indent="0" algn="ctr">
              <a:buNone/>
            </a:pPr>
            <a:r>
              <a:rPr lang="en-US" sz="950" dirty="0">
                <a:solidFill>
                  <a:srgbClr val="888888"/>
                </a:solidFill>
              </a:rPr>
              <a:t>📷</a:t>
            </a:r>
            <a:endParaRPr lang="en-US" sz="950" dirty="0"/>
          </a:p>
          <a:p>
            <a:pPr marL="0" indent="0" algn="ctr">
              <a:buNone/>
            </a:pPr>
            <a:r>
              <a:rPr lang="en-US" sz="950" dirty="0">
                <a:solidFill>
                  <a:srgbClr val="888888"/>
                </a:solidFill>
              </a:rPr>
              <a:t>Foto Bersama</a:t>
            </a:r>
            <a:endParaRPr lang="en-US" sz="950" dirty="0"/>
          </a:p>
          <a:p>
            <a:pPr marL="0" indent="0" algn="ctr">
              <a:buNone/>
            </a:pPr>
            <a:r>
              <a:rPr lang="en-US" sz="950" dirty="0">
                <a:solidFill>
                  <a:srgbClr val="888888"/>
                </a:solidFill>
              </a:rPr>
              <a:t>Siswa</a:t>
            </a:r>
            <a:endParaRPr lang="en-US" sz="950" dirty="0"/>
          </a:p>
        </p:txBody>
      </p:sp>
      <p:sp>
        <p:nvSpPr>
          <p:cNvPr id="22" name="Shape 20"/>
          <p:cNvSpPr/>
          <p:nvPr/>
        </p:nvSpPr>
        <p:spPr>
          <a:xfrm>
            <a:off x="4114800" y="2834640"/>
            <a:ext cx="2240280" cy="1874520"/>
          </a:xfrm>
          <a:prstGeom prst="rect">
            <a:avLst/>
          </a:prstGeom>
          <a:solidFill>
            <a:srgbClr val="C8C8C8">
              <a:alpha val="70000"/>
            </a:srgbClr>
          </a:solidFill>
          <a:ln w="12700">
            <a:solidFill>
              <a:srgbClr val="6B7280"/>
            </a:solidFill>
            <a:prstDash val="solid"/>
          </a:ln>
        </p:spPr>
        <p:txBody>
          <a:bodyPr/>
          <a:lstStyle/>
          <a:p>
            <a:endParaRPr lang="id-ID" dirty="0"/>
          </a:p>
        </p:txBody>
      </p:sp>
      <p:sp>
        <p:nvSpPr>
          <p:cNvPr id="23" name="Text 21"/>
          <p:cNvSpPr/>
          <p:nvPr/>
        </p:nvSpPr>
        <p:spPr>
          <a:xfrm>
            <a:off x="4114800" y="2834640"/>
            <a:ext cx="2240280" cy="1874520"/>
          </a:xfrm>
          <a:prstGeom prst="rect">
            <a:avLst/>
          </a:prstGeom>
          <a:noFill/>
          <a:ln/>
        </p:spPr>
        <p:txBody>
          <a:bodyPr wrap="square" rtlCol="0" anchor="ctr"/>
          <a:lstStyle/>
          <a:p>
            <a:pPr marL="0" indent="0" algn="ctr">
              <a:buNone/>
            </a:pPr>
            <a:r>
              <a:rPr lang="en-US" sz="950" dirty="0">
                <a:solidFill>
                  <a:srgbClr val="888888"/>
                </a:solidFill>
              </a:rPr>
              <a:t>📷</a:t>
            </a:r>
            <a:endParaRPr lang="en-US" sz="950" dirty="0"/>
          </a:p>
          <a:p>
            <a:pPr marL="0" indent="0" algn="ctr">
              <a:buNone/>
            </a:pPr>
            <a:r>
              <a:rPr lang="en-US" sz="950" dirty="0">
                <a:solidFill>
                  <a:srgbClr val="888888"/>
                </a:solidFill>
              </a:rPr>
              <a:t>Foto Siswa</a:t>
            </a:r>
            <a:endParaRPr lang="en-US" sz="950" dirty="0"/>
          </a:p>
          <a:p>
            <a:pPr marL="0" indent="0" algn="ctr">
              <a:buNone/>
            </a:pPr>
            <a:r>
              <a:rPr lang="en-US" sz="950" dirty="0">
                <a:solidFill>
                  <a:srgbClr val="888888"/>
                </a:solidFill>
              </a:rPr>
              <a:t>Membaca Refleksi</a:t>
            </a:r>
            <a:endParaRPr lang="en-US" sz="950" dirty="0"/>
          </a:p>
        </p:txBody>
      </p:sp>
      <p:sp>
        <p:nvSpPr>
          <p:cNvPr id="24" name="Shape 22"/>
          <p:cNvSpPr/>
          <p:nvPr/>
        </p:nvSpPr>
        <p:spPr>
          <a:xfrm>
            <a:off x="6492240" y="2834640"/>
            <a:ext cx="2240280" cy="1874520"/>
          </a:xfrm>
          <a:prstGeom prst="rect">
            <a:avLst/>
          </a:prstGeom>
          <a:solidFill>
            <a:srgbClr val="C8C8C8">
              <a:alpha val="70000"/>
            </a:srgbClr>
          </a:solidFill>
          <a:ln w="12700">
            <a:solidFill>
              <a:srgbClr val="6B7280"/>
            </a:solidFill>
            <a:prstDash val="solid"/>
          </a:ln>
        </p:spPr>
      </p:sp>
      <p:sp>
        <p:nvSpPr>
          <p:cNvPr id="25" name="Text 23"/>
          <p:cNvSpPr/>
          <p:nvPr/>
        </p:nvSpPr>
        <p:spPr>
          <a:xfrm>
            <a:off x="6492240" y="2834640"/>
            <a:ext cx="2240280" cy="1874520"/>
          </a:xfrm>
          <a:prstGeom prst="rect">
            <a:avLst/>
          </a:prstGeom>
          <a:noFill/>
          <a:ln/>
        </p:spPr>
        <p:txBody>
          <a:bodyPr wrap="square" rtlCol="0" anchor="ctr"/>
          <a:lstStyle/>
          <a:p>
            <a:pPr marL="0" indent="0" algn="ctr">
              <a:buNone/>
            </a:pPr>
            <a:r>
              <a:rPr lang="en-US" sz="950" dirty="0">
                <a:solidFill>
                  <a:srgbClr val="888888"/>
                </a:solidFill>
              </a:rPr>
              <a:t>📷</a:t>
            </a:r>
            <a:endParaRPr lang="en-US" sz="950" dirty="0"/>
          </a:p>
          <a:p>
            <a:pPr marL="0" indent="0" algn="ctr">
              <a:buNone/>
            </a:pPr>
            <a:r>
              <a:rPr lang="en-US" sz="950" dirty="0">
                <a:solidFill>
                  <a:srgbClr val="888888"/>
                </a:solidFill>
              </a:rPr>
              <a:t>Foto Siswa</a:t>
            </a:r>
            <a:endParaRPr lang="en-US" sz="950" dirty="0"/>
          </a:p>
          <a:p>
            <a:pPr marL="0" indent="0" algn="ctr">
              <a:buNone/>
            </a:pPr>
            <a:r>
              <a:rPr lang="en-US" sz="950" dirty="0">
                <a:solidFill>
                  <a:srgbClr val="888888"/>
                </a:solidFill>
              </a:rPr>
              <a:t>Role Playing</a:t>
            </a:r>
            <a:endParaRPr lang="en-US" sz="950" dirty="0"/>
          </a:p>
        </p:txBody>
      </p:sp>
      <p:pic>
        <p:nvPicPr>
          <p:cNvPr id="27" name="Gambar 26">
            <a:extLst>
              <a:ext uri="{FF2B5EF4-FFF2-40B4-BE49-F238E27FC236}">
                <a16:creationId xmlns:a16="http://schemas.microsoft.com/office/drawing/2014/main" id="{66A5D40A-13A3-6768-FC5A-BB053C3145D6}"/>
              </a:ext>
            </a:extLst>
          </p:cNvPr>
          <p:cNvPicPr>
            <a:picLocks noChangeAspect="1"/>
          </p:cNvPicPr>
          <p:nvPr/>
        </p:nvPicPr>
        <p:blipFill>
          <a:blip r:embed="rId3"/>
          <a:stretch>
            <a:fillRect/>
          </a:stretch>
        </p:blipFill>
        <p:spPr>
          <a:xfrm>
            <a:off x="4114800" y="777239"/>
            <a:ext cx="2240279" cy="1874521"/>
          </a:xfrm>
          <a:prstGeom prst="rect">
            <a:avLst/>
          </a:prstGeom>
        </p:spPr>
      </p:pic>
      <p:pic>
        <p:nvPicPr>
          <p:cNvPr id="29" name="Gambar 28">
            <a:extLst>
              <a:ext uri="{FF2B5EF4-FFF2-40B4-BE49-F238E27FC236}">
                <a16:creationId xmlns:a16="http://schemas.microsoft.com/office/drawing/2014/main" id="{911029A7-C42D-575A-D276-258CF5DECBB9}"/>
              </a:ext>
            </a:extLst>
          </p:cNvPr>
          <p:cNvPicPr>
            <a:picLocks noChangeAspect="1"/>
          </p:cNvPicPr>
          <p:nvPr/>
        </p:nvPicPr>
        <p:blipFill>
          <a:blip r:embed="rId4"/>
          <a:srcRect r="8445"/>
          <a:stretch>
            <a:fillRect/>
          </a:stretch>
        </p:blipFill>
        <p:spPr>
          <a:xfrm>
            <a:off x="6492240" y="777240"/>
            <a:ext cx="2240280" cy="1861948"/>
          </a:xfrm>
          <a:prstGeom prst="rect">
            <a:avLst/>
          </a:prstGeom>
        </p:spPr>
      </p:pic>
      <p:pic>
        <p:nvPicPr>
          <p:cNvPr id="35" name="Gambar 34">
            <a:extLst>
              <a:ext uri="{FF2B5EF4-FFF2-40B4-BE49-F238E27FC236}">
                <a16:creationId xmlns:a16="http://schemas.microsoft.com/office/drawing/2014/main" id="{EECAA7AA-DF0F-E590-2FE3-3DC39B32CEE2}"/>
              </a:ext>
            </a:extLst>
          </p:cNvPr>
          <p:cNvPicPr>
            <a:picLocks noChangeAspect="1"/>
          </p:cNvPicPr>
          <p:nvPr/>
        </p:nvPicPr>
        <p:blipFill>
          <a:blip r:embed="rId5"/>
          <a:srcRect l="17779"/>
          <a:stretch>
            <a:fillRect/>
          </a:stretch>
        </p:blipFill>
        <p:spPr>
          <a:xfrm>
            <a:off x="4114800" y="2834640"/>
            <a:ext cx="2313293" cy="1874520"/>
          </a:xfrm>
          <a:prstGeom prst="rect">
            <a:avLst/>
          </a:prstGeom>
        </p:spPr>
      </p:pic>
      <p:pic>
        <p:nvPicPr>
          <p:cNvPr id="37" name="Gambar 36">
            <a:extLst>
              <a:ext uri="{FF2B5EF4-FFF2-40B4-BE49-F238E27FC236}">
                <a16:creationId xmlns:a16="http://schemas.microsoft.com/office/drawing/2014/main" id="{09AEE472-AC34-E6B2-6B97-11E694CD4AAB}"/>
              </a:ext>
            </a:extLst>
          </p:cNvPr>
          <p:cNvPicPr>
            <a:picLocks noChangeAspect="1"/>
          </p:cNvPicPr>
          <p:nvPr/>
        </p:nvPicPr>
        <p:blipFill>
          <a:blip r:embed="rId6"/>
          <a:srcRect t="37262" r="8657" b="21493"/>
          <a:stretch>
            <a:fillRect/>
          </a:stretch>
        </p:blipFill>
        <p:spPr>
          <a:xfrm>
            <a:off x="6492240" y="2834640"/>
            <a:ext cx="2240280" cy="1874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5B4FCF"/>
          </a:solidFill>
          <a:ln w="12700">
            <a:solidFill>
              <a:srgbClr val="5B4FCF"/>
            </a:solidFill>
            <a:prstDash val="solid"/>
          </a:ln>
        </p:spPr>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600" b="1" dirty="0">
                <a:solidFill>
                  <a:srgbClr val="3D339A"/>
                </a:solidFill>
                <a:latin typeface="Calibri" pitchFamily="34" charset="0"/>
                <a:ea typeface="Calibri" pitchFamily="34" charset="-122"/>
                <a:cs typeface="Calibri" pitchFamily="34" charset="-120"/>
              </a:rPr>
              <a:t>Hasil User Testing</a:t>
            </a:r>
            <a:endParaRPr lang="en-US" sz="2600" dirty="0"/>
          </a:p>
        </p:txBody>
      </p:sp>
      <p:sp>
        <p:nvSpPr>
          <p:cNvPr id="4" name="Shape 2"/>
          <p:cNvSpPr/>
          <p:nvPr/>
        </p:nvSpPr>
        <p:spPr>
          <a:xfrm>
            <a:off x="365760" y="914400"/>
            <a:ext cx="2697480" cy="384048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5" name="Shape 3"/>
          <p:cNvSpPr/>
          <p:nvPr/>
        </p:nvSpPr>
        <p:spPr>
          <a:xfrm>
            <a:off x="365760" y="914400"/>
            <a:ext cx="2697480" cy="73152"/>
          </a:xfrm>
          <a:prstGeom prst="rect">
            <a:avLst/>
          </a:prstGeom>
          <a:solidFill>
            <a:srgbClr val="3DAA6E"/>
          </a:solidFill>
          <a:ln w="12700">
            <a:solidFill>
              <a:srgbClr val="3DAA6E"/>
            </a:solidFill>
            <a:prstDash val="solid"/>
          </a:ln>
        </p:spPr>
      </p:sp>
      <p:sp>
        <p:nvSpPr>
          <p:cNvPr id="6" name="Text 4"/>
          <p:cNvSpPr/>
          <p:nvPr/>
        </p:nvSpPr>
        <p:spPr>
          <a:xfrm>
            <a:off x="457200" y="1005840"/>
            <a:ext cx="2514600" cy="384048"/>
          </a:xfrm>
          <a:prstGeom prst="rect">
            <a:avLst/>
          </a:prstGeom>
          <a:noFill/>
          <a:ln/>
        </p:spPr>
        <p:txBody>
          <a:bodyPr wrap="square" rtlCol="0" anchor="ctr"/>
          <a:lstStyle/>
          <a:p>
            <a:pPr marL="0" indent="0">
              <a:buNone/>
            </a:pPr>
            <a:r>
              <a:rPr lang="en-US" sz="1100" b="1" dirty="0">
                <a:solidFill>
                  <a:srgbClr val="3DAA6E"/>
                </a:solidFill>
                <a:latin typeface="Calibri" pitchFamily="34" charset="0"/>
                <a:ea typeface="Calibri" pitchFamily="34" charset="-122"/>
                <a:cs typeface="Calibri" pitchFamily="34" charset="-120"/>
              </a:rPr>
              <a:t>✅ Sudah Berhasil</a:t>
            </a:r>
            <a:endParaRPr lang="en-US" sz="1100" dirty="0"/>
          </a:p>
        </p:txBody>
      </p:sp>
      <p:sp>
        <p:nvSpPr>
          <p:cNvPr id="7" name="Shape 5"/>
          <p:cNvSpPr/>
          <p:nvPr/>
        </p:nvSpPr>
        <p:spPr>
          <a:xfrm>
            <a:off x="530352" y="1600200"/>
            <a:ext cx="109728" cy="109728"/>
          </a:xfrm>
          <a:prstGeom prst="ellipse">
            <a:avLst/>
          </a:prstGeom>
          <a:solidFill>
            <a:srgbClr val="3DAA6E"/>
          </a:solidFill>
          <a:ln w="12700">
            <a:solidFill>
              <a:srgbClr val="3DAA6E"/>
            </a:solidFill>
            <a:prstDash val="solid"/>
          </a:ln>
        </p:spPr>
      </p:sp>
      <p:sp>
        <p:nvSpPr>
          <p:cNvPr id="8" name="Text 6"/>
          <p:cNvSpPr/>
          <p:nvPr/>
        </p:nvSpPr>
        <p:spPr>
          <a:xfrm>
            <a:off x="713232" y="1536192"/>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Bentuk kincir/bianglala dinilai unik dan menarik</a:t>
            </a:r>
            <a:endParaRPr lang="en-US" sz="950" dirty="0"/>
          </a:p>
        </p:txBody>
      </p:sp>
      <p:sp>
        <p:nvSpPr>
          <p:cNvPr id="9" name="Shape 7"/>
          <p:cNvSpPr/>
          <p:nvPr/>
        </p:nvSpPr>
        <p:spPr>
          <a:xfrm>
            <a:off x="530352" y="2221992"/>
            <a:ext cx="109728" cy="109728"/>
          </a:xfrm>
          <a:prstGeom prst="ellipse">
            <a:avLst/>
          </a:prstGeom>
          <a:solidFill>
            <a:srgbClr val="3DAA6E"/>
          </a:solidFill>
          <a:ln w="12700">
            <a:solidFill>
              <a:srgbClr val="3DAA6E"/>
            </a:solidFill>
            <a:prstDash val="solid"/>
          </a:ln>
        </p:spPr>
      </p:sp>
      <p:sp>
        <p:nvSpPr>
          <p:cNvPr id="10" name="Text 8"/>
          <p:cNvSpPr/>
          <p:nvPr/>
        </p:nvSpPr>
        <p:spPr>
          <a:xfrm>
            <a:off x="713232" y="2157984"/>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Cara penggunaan sederhana &amp; mudah dipahami</a:t>
            </a:r>
            <a:endParaRPr lang="en-US" sz="950" dirty="0"/>
          </a:p>
        </p:txBody>
      </p:sp>
      <p:sp>
        <p:nvSpPr>
          <p:cNvPr id="11" name="Shape 9"/>
          <p:cNvSpPr/>
          <p:nvPr/>
        </p:nvSpPr>
        <p:spPr>
          <a:xfrm>
            <a:off x="530352" y="2843784"/>
            <a:ext cx="109728" cy="109728"/>
          </a:xfrm>
          <a:prstGeom prst="ellipse">
            <a:avLst/>
          </a:prstGeom>
          <a:solidFill>
            <a:srgbClr val="3DAA6E"/>
          </a:solidFill>
          <a:ln w="12700">
            <a:solidFill>
              <a:srgbClr val="3DAA6E"/>
            </a:solidFill>
            <a:prstDash val="solid"/>
          </a:ln>
        </p:spPr>
      </p:sp>
      <p:sp>
        <p:nvSpPr>
          <p:cNvPr id="12" name="Text 10"/>
          <p:cNvSpPr/>
          <p:nvPr/>
        </p:nvSpPr>
        <p:spPr>
          <a:xfrm>
            <a:off x="713232" y="2779776"/>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Aktivitas refleksi, misi, role playing membuat suasana menyenangkan</a:t>
            </a:r>
            <a:endParaRPr lang="en-US" sz="950" dirty="0"/>
          </a:p>
        </p:txBody>
      </p:sp>
      <p:sp>
        <p:nvSpPr>
          <p:cNvPr id="13" name="Shape 11"/>
          <p:cNvSpPr/>
          <p:nvPr/>
        </p:nvSpPr>
        <p:spPr>
          <a:xfrm>
            <a:off x="530352" y="3465576"/>
            <a:ext cx="109728" cy="109728"/>
          </a:xfrm>
          <a:prstGeom prst="ellipse">
            <a:avLst/>
          </a:prstGeom>
          <a:solidFill>
            <a:srgbClr val="3DAA6E"/>
          </a:solidFill>
          <a:ln w="12700">
            <a:solidFill>
              <a:srgbClr val="3DAA6E"/>
            </a:solidFill>
            <a:prstDash val="solid"/>
          </a:ln>
        </p:spPr>
      </p:sp>
      <p:sp>
        <p:nvSpPr>
          <p:cNvPr id="14" name="Text 12"/>
          <p:cNvSpPr/>
          <p:nvPr/>
        </p:nvSpPr>
        <p:spPr>
          <a:xfrm>
            <a:off x="713232" y="3401568"/>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Siswa lebih aktif menyampaikan pendapat</a:t>
            </a:r>
            <a:endParaRPr lang="en-US" sz="950" dirty="0"/>
          </a:p>
        </p:txBody>
      </p:sp>
      <p:sp>
        <p:nvSpPr>
          <p:cNvPr id="15" name="Shape 13"/>
          <p:cNvSpPr/>
          <p:nvPr/>
        </p:nvSpPr>
        <p:spPr>
          <a:xfrm>
            <a:off x="530352" y="4087368"/>
            <a:ext cx="109728" cy="109728"/>
          </a:xfrm>
          <a:prstGeom prst="ellipse">
            <a:avLst/>
          </a:prstGeom>
          <a:solidFill>
            <a:srgbClr val="3DAA6E"/>
          </a:solidFill>
          <a:ln w="12700">
            <a:solidFill>
              <a:srgbClr val="3DAA6E"/>
            </a:solidFill>
            <a:prstDash val="solid"/>
          </a:ln>
        </p:spPr>
      </p:sp>
      <p:sp>
        <p:nvSpPr>
          <p:cNvPr id="16" name="Text 14"/>
          <p:cNvSpPr/>
          <p:nvPr/>
        </p:nvSpPr>
        <p:spPr>
          <a:xfrm>
            <a:off x="713232" y="4023360"/>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Menciptakan suasana layanan interaktif</a:t>
            </a:r>
            <a:endParaRPr lang="en-US" sz="950" dirty="0"/>
          </a:p>
        </p:txBody>
      </p:sp>
      <p:sp>
        <p:nvSpPr>
          <p:cNvPr id="17" name="Shape 15"/>
          <p:cNvSpPr/>
          <p:nvPr/>
        </p:nvSpPr>
        <p:spPr>
          <a:xfrm>
            <a:off x="3200400" y="914400"/>
            <a:ext cx="2697480" cy="384048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txBody>
          <a:bodyPr/>
          <a:lstStyle/>
          <a:p>
            <a:endParaRPr lang="id-ID" dirty="0"/>
          </a:p>
        </p:txBody>
      </p:sp>
      <p:sp>
        <p:nvSpPr>
          <p:cNvPr id="18" name="Shape 16"/>
          <p:cNvSpPr/>
          <p:nvPr/>
        </p:nvSpPr>
        <p:spPr>
          <a:xfrm>
            <a:off x="3200400" y="914400"/>
            <a:ext cx="2697480" cy="73152"/>
          </a:xfrm>
          <a:prstGeom prst="rect">
            <a:avLst/>
          </a:prstGeom>
          <a:solidFill>
            <a:srgbClr val="F96167"/>
          </a:solidFill>
          <a:ln w="12700">
            <a:solidFill>
              <a:srgbClr val="F96167"/>
            </a:solidFill>
            <a:prstDash val="solid"/>
          </a:ln>
        </p:spPr>
      </p:sp>
      <p:sp>
        <p:nvSpPr>
          <p:cNvPr id="19" name="Text 17"/>
          <p:cNvSpPr/>
          <p:nvPr/>
        </p:nvSpPr>
        <p:spPr>
          <a:xfrm>
            <a:off x="3291840" y="1005840"/>
            <a:ext cx="2514600" cy="384048"/>
          </a:xfrm>
          <a:prstGeom prst="rect">
            <a:avLst/>
          </a:prstGeom>
          <a:noFill/>
          <a:ln/>
        </p:spPr>
        <p:txBody>
          <a:bodyPr wrap="square" rtlCol="0" anchor="ctr"/>
          <a:lstStyle/>
          <a:p>
            <a:pPr marL="0" indent="0">
              <a:buNone/>
            </a:pPr>
            <a:r>
              <a:rPr lang="en-US" sz="1100" b="1" dirty="0">
                <a:solidFill>
                  <a:srgbClr val="F96167"/>
                </a:solidFill>
                <a:latin typeface="Calibri" pitchFamily="34" charset="0"/>
                <a:ea typeface="Calibri" pitchFamily="34" charset="-122"/>
                <a:cs typeface="Calibri" pitchFamily="34" charset="-120"/>
              </a:rPr>
              <a:t>⚠️ Perlu Diperbaiki</a:t>
            </a:r>
            <a:endParaRPr lang="en-US" sz="1100" dirty="0"/>
          </a:p>
        </p:txBody>
      </p:sp>
      <p:sp>
        <p:nvSpPr>
          <p:cNvPr id="20" name="Shape 18"/>
          <p:cNvSpPr/>
          <p:nvPr/>
        </p:nvSpPr>
        <p:spPr>
          <a:xfrm>
            <a:off x="3364992" y="1600200"/>
            <a:ext cx="109728" cy="109728"/>
          </a:xfrm>
          <a:prstGeom prst="ellipse">
            <a:avLst/>
          </a:prstGeom>
          <a:solidFill>
            <a:srgbClr val="F96167"/>
          </a:solidFill>
          <a:ln w="12700">
            <a:solidFill>
              <a:srgbClr val="F96167"/>
            </a:solidFill>
            <a:prstDash val="solid"/>
          </a:ln>
        </p:spPr>
      </p:sp>
      <p:sp>
        <p:nvSpPr>
          <p:cNvPr id="21" name="Text 19"/>
          <p:cNvSpPr/>
          <p:nvPr/>
        </p:nvSpPr>
        <p:spPr>
          <a:xfrm>
            <a:off x="3547872" y="1536192"/>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Bahan styrofoam kurang stabil saat roda diputar</a:t>
            </a:r>
            <a:endParaRPr lang="en-US" sz="950" dirty="0"/>
          </a:p>
        </p:txBody>
      </p:sp>
      <p:sp>
        <p:nvSpPr>
          <p:cNvPr id="22" name="Shape 20"/>
          <p:cNvSpPr/>
          <p:nvPr/>
        </p:nvSpPr>
        <p:spPr>
          <a:xfrm>
            <a:off x="3364992" y="2221992"/>
            <a:ext cx="109728" cy="109728"/>
          </a:xfrm>
          <a:prstGeom prst="ellipse">
            <a:avLst/>
          </a:prstGeom>
          <a:solidFill>
            <a:srgbClr val="F96167"/>
          </a:solidFill>
          <a:ln w="12700">
            <a:solidFill>
              <a:srgbClr val="F96167"/>
            </a:solidFill>
            <a:prstDash val="solid"/>
          </a:ln>
        </p:spPr>
      </p:sp>
      <p:sp>
        <p:nvSpPr>
          <p:cNvPr id="23" name="Text 21"/>
          <p:cNvSpPr/>
          <p:nvPr/>
        </p:nvSpPr>
        <p:spPr>
          <a:xfrm>
            <a:off x="3547872" y="2157984"/>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Tulisan </a:t>
            </a:r>
            <a:r>
              <a:rPr lang="id-ID" sz="950" dirty="0">
                <a:solidFill>
                  <a:srgbClr val="1A1740"/>
                </a:solidFill>
                <a:latin typeface="Calibri" pitchFamily="34" charset="0"/>
                <a:ea typeface="Calibri" pitchFamily="34" charset="-122"/>
                <a:cs typeface="Calibri" pitchFamily="34" charset="-120"/>
              </a:rPr>
              <a:t>dalam</a:t>
            </a:r>
            <a:r>
              <a:rPr lang="en-US" sz="950" dirty="0">
                <a:solidFill>
                  <a:srgbClr val="1A1740"/>
                </a:solidFill>
                <a:latin typeface="Calibri" pitchFamily="34" charset="0"/>
                <a:ea typeface="Calibri" pitchFamily="34" charset="-122"/>
                <a:cs typeface="Calibri" pitchFamily="34" charset="-120"/>
              </a:rPr>
              <a:t> emotikon </a:t>
            </a:r>
            <a:r>
              <a:rPr lang="en-US" sz="950" dirty="0" err="1">
                <a:solidFill>
                  <a:srgbClr val="1A1740"/>
                </a:solidFill>
                <a:latin typeface="Calibri" pitchFamily="34" charset="0"/>
                <a:ea typeface="Calibri" pitchFamily="34" charset="-122"/>
                <a:cs typeface="Calibri" pitchFamily="34" charset="-120"/>
              </a:rPr>
              <a:t>masih</a:t>
            </a:r>
            <a:r>
              <a:rPr lang="en-US" sz="950" dirty="0">
                <a:solidFill>
                  <a:srgbClr val="1A1740"/>
                </a:solidFill>
                <a:latin typeface="Calibri" pitchFamily="34" charset="0"/>
                <a:ea typeface="Calibri" pitchFamily="34" charset="-122"/>
                <a:cs typeface="Calibri" pitchFamily="34" charset="-120"/>
              </a:rPr>
              <a:t> </a:t>
            </a:r>
            <a:r>
              <a:rPr lang="id-ID" sz="950" dirty="0">
                <a:solidFill>
                  <a:srgbClr val="1A1740"/>
                </a:solidFill>
                <a:latin typeface="Calibri" pitchFamily="34" charset="0"/>
                <a:ea typeface="Calibri" pitchFamily="34" charset="-122"/>
                <a:cs typeface="Calibri" pitchFamily="34" charset="-120"/>
              </a:rPr>
              <a:t>belum jelas</a:t>
            </a:r>
            <a:endParaRPr lang="en-US" sz="950" dirty="0"/>
          </a:p>
        </p:txBody>
      </p:sp>
      <p:sp>
        <p:nvSpPr>
          <p:cNvPr id="24" name="Shape 22"/>
          <p:cNvSpPr/>
          <p:nvPr/>
        </p:nvSpPr>
        <p:spPr>
          <a:xfrm>
            <a:off x="3364992" y="2843784"/>
            <a:ext cx="109728" cy="109728"/>
          </a:xfrm>
          <a:prstGeom prst="ellipse">
            <a:avLst/>
          </a:prstGeom>
          <a:solidFill>
            <a:srgbClr val="F96167"/>
          </a:solidFill>
          <a:ln w="12700">
            <a:solidFill>
              <a:srgbClr val="F96167"/>
            </a:solidFill>
            <a:prstDash val="solid"/>
          </a:ln>
        </p:spPr>
      </p:sp>
      <p:sp>
        <p:nvSpPr>
          <p:cNvPr id="25" name="Text 23"/>
          <p:cNvSpPr/>
          <p:nvPr/>
        </p:nvSpPr>
        <p:spPr>
          <a:xfrm>
            <a:off x="3547872" y="2779776"/>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Variasi </a:t>
            </a:r>
            <a:r>
              <a:rPr lang="en-US" sz="950" dirty="0" err="1">
                <a:solidFill>
                  <a:srgbClr val="1A1740"/>
                </a:solidFill>
                <a:latin typeface="Calibri" pitchFamily="34" charset="0"/>
                <a:ea typeface="Calibri" pitchFamily="34" charset="-122"/>
                <a:cs typeface="Calibri" pitchFamily="34" charset="-120"/>
              </a:rPr>
              <a:t>aktivitas</a:t>
            </a:r>
            <a:r>
              <a:rPr lang="en-US" sz="950" dirty="0">
                <a:solidFill>
                  <a:srgbClr val="1A1740"/>
                </a:solidFill>
                <a:latin typeface="Calibri" pitchFamily="34" charset="0"/>
                <a:ea typeface="Calibri" pitchFamily="34" charset="-122"/>
                <a:cs typeface="Calibri" pitchFamily="34" charset="-120"/>
              </a:rPr>
              <a:t> </a:t>
            </a:r>
            <a:r>
              <a:rPr lang="en-US" sz="950" dirty="0" err="1">
                <a:solidFill>
                  <a:srgbClr val="1A1740"/>
                </a:solidFill>
                <a:latin typeface="Calibri" pitchFamily="34" charset="0"/>
                <a:ea typeface="Calibri" pitchFamily="34" charset="-122"/>
                <a:cs typeface="Calibri" pitchFamily="34" charset="-120"/>
              </a:rPr>
              <a:t>terbatas</a:t>
            </a:r>
            <a:r>
              <a:rPr lang="id-ID" sz="950" dirty="0">
                <a:solidFill>
                  <a:srgbClr val="1A1740"/>
                </a:solidFill>
                <a:latin typeface="Calibri" pitchFamily="34" charset="0"/>
                <a:ea typeface="Calibri" pitchFamily="34" charset="-122"/>
                <a:cs typeface="Calibri" pitchFamily="34" charset="-120"/>
              </a:rPr>
              <a:t> waktu</a:t>
            </a:r>
            <a:endParaRPr lang="en-US" sz="950" dirty="0"/>
          </a:p>
        </p:txBody>
      </p:sp>
      <p:sp>
        <p:nvSpPr>
          <p:cNvPr id="26" name="Shape 24"/>
          <p:cNvSpPr/>
          <p:nvPr/>
        </p:nvSpPr>
        <p:spPr>
          <a:xfrm>
            <a:off x="3364992" y="3465576"/>
            <a:ext cx="109728" cy="109728"/>
          </a:xfrm>
          <a:prstGeom prst="ellipse">
            <a:avLst/>
          </a:prstGeom>
          <a:solidFill>
            <a:srgbClr val="F96167"/>
          </a:solidFill>
          <a:ln w="12700">
            <a:solidFill>
              <a:srgbClr val="F96167"/>
            </a:solidFill>
            <a:prstDash val="solid"/>
          </a:ln>
        </p:spPr>
      </p:sp>
      <p:sp>
        <p:nvSpPr>
          <p:cNvPr id="27" name="Text 25"/>
          <p:cNvSpPr/>
          <p:nvPr/>
        </p:nvSpPr>
        <p:spPr>
          <a:xfrm>
            <a:off x="3547872" y="3401568"/>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Beberapa siswa </a:t>
            </a:r>
            <a:r>
              <a:rPr lang="en-US" sz="950" dirty="0" err="1">
                <a:solidFill>
                  <a:srgbClr val="1A1740"/>
                </a:solidFill>
                <a:latin typeface="Calibri" pitchFamily="34" charset="0"/>
                <a:ea typeface="Calibri" pitchFamily="34" charset="-122"/>
                <a:cs typeface="Calibri" pitchFamily="34" charset="-120"/>
              </a:rPr>
              <a:t>malu</a:t>
            </a:r>
            <a:r>
              <a:rPr lang="en-US" sz="950" dirty="0">
                <a:solidFill>
                  <a:srgbClr val="1A1740"/>
                </a:solidFill>
                <a:latin typeface="Calibri" pitchFamily="34" charset="0"/>
                <a:ea typeface="Calibri" pitchFamily="34" charset="-122"/>
                <a:cs typeface="Calibri" pitchFamily="34" charset="-120"/>
              </a:rPr>
              <a:t> </a:t>
            </a:r>
            <a:r>
              <a:rPr lang="en-US" sz="950" dirty="0" err="1">
                <a:solidFill>
                  <a:srgbClr val="1A1740"/>
                </a:solidFill>
                <a:latin typeface="Calibri" pitchFamily="34" charset="0"/>
                <a:ea typeface="Calibri" pitchFamily="34" charset="-122"/>
                <a:cs typeface="Calibri" pitchFamily="34" charset="-120"/>
              </a:rPr>
              <a:t>saat</a:t>
            </a:r>
            <a:r>
              <a:rPr lang="id-ID" sz="950" dirty="0">
                <a:solidFill>
                  <a:srgbClr val="1A1740"/>
                </a:solidFill>
                <a:latin typeface="Calibri" pitchFamily="34" charset="0"/>
                <a:ea typeface="Calibri" pitchFamily="34" charset="-122"/>
                <a:cs typeface="Calibri" pitchFamily="34" charset="-120"/>
              </a:rPr>
              <a:t> melakukan</a:t>
            </a:r>
            <a:r>
              <a:rPr lang="en-US" sz="950" dirty="0">
                <a:solidFill>
                  <a:srgbClr val="1A1740"/>
                </a:solidFill>
                <a:latin typeface="Calibri" pitchFamily="34" charset="0"/>
                <a:ea typeface="Calibri" pitchFamily="34" charset="-122"/>
                <a:cs typeface="Calibri" pitchFamily="34" charset="-120"/>
              </a:rPr>
              <a:t> role playing</a:t>
            </a:r>
            <a:endParaRPr lang="en-US" sz="950" dirty="0"/>
          </a:p>
        </p:txBody>
      </p:sp>
      <p:sp>
        <p:nvSpPr>
          <p:cNvPr id="28" name="Shape 26"/>
          <p:cNvSpPr/>
          <p:nvPr/>
        </p:nvSpPr>
        <p:spPr>
          <a:xfrm>
            <a:off x="3364992" y="4087368"/>
            <a:ext cx="109728" cy="109728"/>
          </a:xfrm>
          <a:prstGeom prst="ellipse">
            <a:avLst/>
          </a:prstGeom>
          <a:solidFill>
            <a:srgbClr val="F96167"/>
          </a:solidFill>
          <a:ln w="12700">
            <a:solidFill>
              <a:srgbClr val="F96167"/>
            </a:solidFill>
            <a:prstDash val="solid"/>
          </a:ln>
        </p:spPr>
      </p:sp>
      <p:sp>
        <p:nvSpPr>
          <p:cNvPr id="29" name="Text 27"/>
          <p:cNvSpPr/>
          <p:nvPr/>
        </p:nvSpPr>
        <p:spPr>
          <a:xfrm>
            <a:off x="3547872" y="4023360"/>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Desain warna perlu lebih menarik</a:t>
            </a:r>
            <a:endParaRPr lang="en-US" sz="950" dirty="0"/>
          </a:p>
        </p:txBody>
      </p:sp>
      <p:sp>
        <p:nvSpPr>
          <p:cNvPr id="30" name="Shape 28"/>
          <p:cNvSpPr/>
          <p:nvPr/>
        </p:nvSpPr>
        <p:spPr>
          <a:xfrm>
            <a:off x="6035040" y="914400"/>
            <a:ext cx="2697480" cy="384048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txBody>
          <a:bodyPr/>
          <a:lstStyle/>
          <a:p>
            <a:endParaRPr lang="id-ID" dirty="0"/>
          </a:p>
        </p:txBody>
      </p:sp>
      <p:sp>
        <p:nvSpPr>
          <p:cNvPr id="31" name="Shape 29"/>
          <p:cNvSpPr/>
          <p:nvPr/>
        </p:nvSpPr>
        <p:spPr>
          <a:xfrm>
            <a:off x="6035040" y="914400"/>
            <a:ext cx="2697480" cy="73152"/>
          </a:xfrm>
          <a:prstGeom prst="rect">
            <a:avLst/>
          </a:prstGeom>
          <a:solidFill>
            <a:srgbClr val="FF8C42"/>
          </a:solidFill>
          <a:ln w="12700">
            <a:solidFill>
              <a:srgbClr val="FF8C42"/>
            </a:solidFill>
            <a:prstDash val="solid"/>
          </a:ln>
        </p:spPr>
      </p:sp>
      <p:sp>
        <p:nvSpPr>
          <p:cNvPr id="32" name="Text 30"/>
          <p:cNvSpPr/>
          <p:nvPr/>
        </p:nvSpPr>
        <p:spPr>
          <a:xfrm>
            <a:off x="6126480" y="1005840"/>
            <a:ext cx="2514600" cy="384048"/>
          </a:xfrm>
          <a:prstGeom prst="rect">
            <a:avLst/>
          </a:prstGeom>
          <a:noFill/>
          <a:ln/>
        </p:spPr>
        <p:txBody>
          <a:bodyPr wrap="square" rtlCol="0" anchor="ctr"/>
          <a:lstStyle/>
          <a:p>
            <a:pPr marL="0" indent="0">
              <a:buNone/>
            </a:pPr>
            <a:r>
              <a:rPr lang="en-US" sz="1100" b="1" dirty="0">
                <a:solidFill>
                  <a:srgbClr val="FF8C42"/>
                </a:solidFill>
                <a:latin typeface="Calibri" pitchFamily="34" charset="0"/>
                <a:ea typeface="Calibri" pitchFamily="34" charset="-122"/>
                <a:cs typeface="Calibri" pitchFamily="34" charset="-120"/>
              </a:rPr>
              <a:t>💡 Ide Pengguna</a:t>
            </a:r>
            <a:endParaRPr lang="en-US" sz="1100" dirty="0"/>
          </a:p>
        </p:txBody>
      </p:sp>
      <p:sp>
        <p:nvSpPr>
          <p:cNvPr id="33" name="Shape 31"/>
          <p:cNvSpPr/>
          <p:nvPr/>
        </p:nvSpPr>
        <p:spPr>
          <a:xfrm>
            <a:off x="6199632" y="1600200"/>
            <a:ext cx="109728" cy="109728"/>
          </a:xfrm>
          <a:prstGeom prst="ellipse">
            <a:avLst/>
          </a:prstGeom>
          <a:solidFill>
            <a:srgbClr val="FF8C42"/>
          </a:solidFill>
          <a:ln w="12700">
            <a:solidFill>
              <a:srgbClr val="FF8C42"/>
            </a:solidFill>
            <a:prstDash val="solid"/>
          </a:ln>
        </p:spPr>
      </p:sp>
      <p:sp>
        <p:nvSpPr>
          <p:cNvPr id="34" name="Text 32"/>
          <p:cNvSpPr/>
          <p:nvPr/>
        </p:nvSpPr>
        <p:spPr>
          <a:xfrm>
            <a:off x="6382512" y="1536192"/>
            <a:ext cx="2194560" cy="530352"/>
          </a:xfrm>
          <a:prstGeom prst="rect">
            <a:avLst/>
          </a:prstGeom>
          <a:noFill/>
          <a:ln/>
        </p:spPr>
        <p:txBody>
          <a:bodyPr wrap="square" rtlCol="0" anchor="t"/>
          <a:lstStyle/>
          <a:p>
            <a:pPr marL="0" indent="0" algn="l">
              <a:buNone/>
            </a:pPr>
            <a:r>
              <a:rPr lang="en-US" sz="950" dirty="0">
                <a:solidFill>
                  <a:srgbClr val="1A1740"/>
                </a:solidFill>
                <a:latin typeface="Calibri" pitchFamily="34" charset="0"/>
                <a:ea typeface="Calibri" pitchFamily="34" charset="-122"/>
                <a:cs typeface="Calibri" pitchFamily="34" charset="-120"/>
              </a:rPr>
              <a:t>Ganti bahan dengan yang lebih kuat &amp; kokoh</a:t>
            </a:r>
            <a:endParaRPr lang="en-US" sz="950" dirty="0"/>
          </a:p>
        </p:txBody>
      </p:sp>
      <p:sp>
        <p:nvSpPr>
          <p:cNvPr id="35" name="Shape 33"/>
          <p:cNvSpPr/>
          <p:nvPr/>
        </p:nvSpPr>
        <p:spPr>
          <a:xfrm>
            <a:off x="6199632" y="2221992"/>
            <a:ext cx="109728" cy="109728"/>
          </a:xfrm>
          <a:prstGeom prst="ellipse">
            <a:avLst/>
          </a:prstGeom>
          <a:solidFill>
            <a:srgbClr val="FF8C42"/>
          </a:solidFill>
          <a:ln w="12700">
            <a:solidFill>
              <a:srgbClr val="FF8C42"/>
            </a:solidFill>
            <a:prstDash val="solid"/>
          </a:ln>
        </p:spPr>
      </p:sp>
      <p:sp>
        <p:nvSpPr>
          <p:cNvPr id="36" name="Text 34"/>
          <p:cNvSpPr/>
          <p:nvPr/>
        </p:nvSpPr>
        <p:spPr>
          <a:xfrm>
            <a:off x="6382512" y="2157984"/>
            <a:ext cx="2194560" cy="530352"/>
          </a:xfrm>
          <a:prstGeom prst="rect">
            <a:avLst/>
          </a:prstGeom>
          <a:noFill/>
          <a:ln/>
        </p:spPr>
        <p:txBody>
          <a:bodyPr wrap="square" rtlCol="0" anchor="t"/>
          <a:lstStyle/>
          <a:p>
            <a:pPr marL="0" indent="0" algn="l">
              <a:buNone/>
            </a:pPr>
            <a:r>
              <a:rPr lang="id-ID" sz="950" dirty="0">
                <a:solidFill>
                  <a:srgbClr val="1A1740"/>
                </a:solidFill>
                <a:latin typeface="Calibri" pitchFamily="34" charset="0"/>
                <a:ea typeface="Calibri" pitchFamily="34" charset="-122"/>
                <a:cs typeface="Calibri" pitchFamily="34" charset="-120"/>
              </a:rPr>
              <a:t>Perbarui tulisan dalam kertas dengan lebih jelas</a:t>
            </a:r>
            <a:endParaRPr lang="en-US" sz="950" dirty="0"/>
          </a:p>
        </p:txBody>
      </p:sp>
      <p:sp>
        <p:nvSpPr>
          <p:cNvPr id="37" name="Shape 35"/>
          <p:cNvSpPr/>
          <p:nvPr/>
        </p:nvSpPr>
        <p:spPr>
          <a:xfrm>
            <a:off x="6199632" y="2843784"/>
            <a:ext cx="109728" cy="109728"/>
          </a:xfrm>
          <a:prstGeom prst="ellipse">
            <a:avLst/>
          </a:prstGeom>
          <a:solidFill>
            <a:srgbClr val="FF8C42"/>
          </a:solidFill>
          <a:ln w="12700">
            <a:solidFill>
              <a:srgbClr val="FF8C42"/>
            </a:solidFill>
            <a:prstDash val="solid"/>
          </a:ln>
        </p:spPr>
      </p:sp>
      <p:sp>
        <p:nvSpPr>
          <p:cNvPr id="38" name="Text 36"/>
          <p:cNvSpPr/>
          <p:nvPr/>
        </p:nvSpPr>
        <p:spPr>
          <a:xfrm>
            <a:off x="6382512" y="2779776"/>
            <a:ext cx="2194560" cy="530352"/>
          </a:xfrm>
          <a:prstGeom prst="rect">
            <a:avLst/>
          </a:prstGeom>
          <a:noFill/>
          <a:ln/>
        </p:spPr>
        <p:txBody>
          <a:bodyPr wrap="square" rtlCol="0" anchor="t"/>
          <a:lstStyle/>
          <a:p>
            <a:pPr marL="0" indent="0" algn="l">
              <a:buNone/>
            </a:pPr>
            <a:r>
              <a:rPr lang="id-ID" sz="950" dirty="0" err="1">
                <a:solidFill>
                  <a:srgbClr val="1A1740"/>
                </a:solidFill>
                <a:latin typeface="Calibri" pitchFamily="34" charset="0"/>
                <a:ea typeface="Calibri" pitchFamily="34" charset="-122"/>
                <a:cs typeface="Calibri" pitchFamily="34" charset="-120"/>
              </a:rPr>
              <a:t>Manageman</a:t>
            </a:r>
            <a:r>
              <a:rPr lang="id-ID" sz="950" dirty="0">
                <a:solidFill>
                  <a:srgbClr val="1A1740"/>
                </a:solidFill>
                <a:latin typeface="Calibri" pitchFamily="34" charset="0"/>
                <a:ea typeface="Calibri" pitchFamily="34" charset="-122"/>
                <a:cs typeface="Calibri" pitchFamily="34" charset="-120"/>
              </a:rPr>
              <a:t> waktu dengan baik</a:t>
            </a:r>
            <a:endParaRPr lang="en-US" sz="950" dirty="0"/>
          </a:p>
        </p:txBody>
      </p:sp>
      <p:sp>
        <p:nvSpPr>
          <p:cNvPr id="39" name="Shape 37"/>
          <p:cNvSpPr/>
          <p:nvPr/>
        </p:nvSpPr>
        <p:spPr>
          <a:xfrm>
            <a:off x="6199632" y="3465576"/>
            <a:ext cx="109728" cy="109728"/>
          </a:xfrm>
          <a:prstGeom prst="ellipse">
            <a:avLst/>
          </a:prstGeom>
          <a:solidFill>
            <a:srgbClr val="FF8C42"/>
          </a:solidFill>
          <a:ln w="12700">
            <a:solidFill>
              <a:srgbClr val="FF8C42"/>
            </a:solidFill>
            <a:prstDash val="solid"/>
          </a:ln>
        </p:spPr>
      </p:sp>
      <p:sp>
        <p:nvSpPr>
          <p:cNvPr id="40" name="Text 38"/>
          <p:cNvSpPr/>
          <p:nvPr/>
        </p:nvSpPr>
        <p:spPr>
          <a:xfrm>
            <a:off x="6382512" y="3401568"/>
            <a:ext cx="2194560" cy="530352"/>
          </a:xfrm>
          <a:prstGeom prst="rect">
            <a:avLst/>
          </a:prstGeom>
          <a:noFill/>
          <a:ln/>
        </p:spPr>
        <p:txBody>
          <a:bodyPr wrap="square" rtlCol="0" anchor="t"/>
          <a:lstStyle/>
          <a:p>
            <a:pPr marL="0" indent="0" algn="l">
              <a:buNone/>
            </a:pPr>
            <a:r>
              <a:rPr lang="id-ID" sz="950" dirty="0">
                <a:solidFill>
                  <a:srgbClr val="1A1740"/>
                </a:solidFill>
                <a:latin typeface="Calibri" pitchFamily="34" charset="0"/>
                <a:ea typeface="Calibri" pitchFamily="34" charset="-122"/>
                <a:cs typeface="Calibri" pitchFamily="34" charset="-120"/>
              </a:rPr>
              <a:t>Berikan penguatan mendalam</a:t>
            </a:r>
            <a:endParaRPr lang="en-US" sz="950" dirty="0"/>
          </a:p>
        </p:txBody>
      </p:sp>
      <p:sp>
        <p:nvSpPr>
          <p:cNvPr id="41" name="Shape 39"/>
          <p:cNvSpPr/>
          <p:nvPr/>
        </p:nvSpPr>
        <p:spPr>
          <a:xfrm>
            <a:off x="6199632" y="4087368"/>
            <a:ext cx="109728" cy="109728"/>
          </a:xfrm>
          <a:prstGeom prst="ellipse">
            <a:avLst/>
          </a:prstGeom>
          <a:solidFill>
            <a:srgbClr val="FF8C42"/>
          </a:solidFill>
          <a:ln w="12700">
            <a:solidFill>
              <a:srgbClr val="FF8C42"/>
            </a:solidFill>
            <a:prstDash val="solid"/>
          </a:ln>
        </p:spPr>
      </p:sp>
      <p:sp>
        <p:nvSpPr>
          <p:cNvPr id="42" name="Text 40"/>
          <p:cNvSpPr/>
          <p:nvPr/>
        </p:nvSpPr>
        <p:spPr>
          <a:xfrm>
            <a:off x="6382512" y="4023360"/>
            <a:ext cx="2194560" cy="530352"/>
          </a:xfrm>
          <a:prstGeom prst="rect">
            <a:avLst/>
          </a:prstGeom>
          <a:noFill/>
          <a:ln/>
        </p:spPr>
        <p:txBody>
          <a:bodyPr wrap="square" rtlCol="0" anchor="t"/>
          <a:lstStyle/>
          <a:p>
            <a:r>
              <a:rPr lang="en-US" sz="950" dirty="0" err="1">
                <a:solidFill>
                  <a:srgbClr val="1A1740"/>
                </a:solidFill>
                <a:latin typeface="Calibri" pitchFamily="34" charset="0"/>
                <a:ea typeface="Calibri" pitchFamily="34" charset="-122"/>
                <a:cs typeface="Calibri" pitchFamily="34" charset="-120"/>
              </a:rPr>
              <a:t>Gunakan</a:t>
            </a:r>
            <a:r>
              <a:rPr lang="en-US" sz="950" dirty="0">
                <a:solidFill>
                  <a:srgbClr val="1A1740"/>
                </a:solidFill>
                <a:latin typeface="Calibri" pitchFamily="34" charset="0"/>
                <a:ea typeface="Calibri" pitchFamily="34" charset="-122"/>
                <a:cs typeface="Calibri" pitchFamily="34" charset="-120"/>
              </a:rPr>
              <a:t> </a:t>
            </a:r>
            <a:r>
              <a:rPr lang="en-US" sz="950" dirty="0" err="1">
                <a:solidFill>
                  <a:srgbClr val="1A1740"/>
                </a:solidFill>
                <a:latin typeface="Calibri" pitchFamily="34" charset="0"/>
                <a:ea typeface="Calibri" pitchFamily="34" charset="-122"/>
                <a:cs typeface="Calibri" pitchFamily="34" charset="-120"/>
              </a:rPr>
              <a:t>warna-warna</a:t>
            </a:r>
            <a:r>
              <a:rPr lang="en-US" sz="950" dirty="0">
                <a:solidFill>
                  <a:srgbClr val="1A1740"/>
                </a:solidFill>
                <a:latin typeface="Calibri" pitchFamily="34" charset="0"/>
                <a:ea typeface="Calibri" pitchFamily="34" charset="-122"/>
                <a:cs typeface="Calibri" pitchFamily="34" charset="-120"/>
              </a:rPr>
              <a:t> </a:t>
            </a:r>
            <a:r>
              <a:rPr lang="en-US" sz="950" dirty="0" err="1">
                <a:solidFill>
                  <a:srgbClr val="1A1740"/>
                </a:solidFill>
                <a:latin typeface="Calibri" pitchFamily="34" charset="0"/>
                <a:ea typeface="Calibri" pitchFamily="34" charset="-122"/>
                <a:cs typeface="Calibri" pitchFamily="34" charset="-120"/>
              </a:rPr>
              <a:t>lebih</a:t>
            </a:r>
            <a:r>
              <a:rPr lang="en-US" sz="950" dirty="0">
                <a:solidFill>
                  <a:srgbClr val="1A1740"/>
                </a:solidFill>
                <a:latin typeface="Calibri" pitchFamily="34" charset="0"/>
                <a:ea typeface="Calibri" pitchFamily="34" charset="-122"/>
                <a:cs typeface="Calibri" pitchFamily="34" charset="-120"/>
              </a:rPr>
              <a:t> </a:t>
            </a:r>
            <a:r>
              <a:rPr lang="en-US" sz="950" dirty="0" err="1">
                <a:solidFill>
                  <a:srgbClr val="1A1740"/>
                </a:solidFill>
                <a:latin typeface="Calibri" pitchFamily="34" charset="0"/>
                <a:ea typeface="Calibri" pitchFamily="34" charset="-122"/>
                <a:cs typeface="Calibri" pitchFamily="34" charset="-120"/>
              </a:rPr>
              <a:t>cerah</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740"/>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Evaluasi Solusi: 3 Pilar Design Thinking</a:t>
            </a:r>
            <a:endParaRPr lang="en-US" sz="2400" dirty="0"/>
          </a:p>
        </p:txBody>
      </p:sp>
      <p:sp>
        <p:nvSpPr>
          <p:cNvPr id="3" name="Shape 1"/>
          <p:cNvSpPr/>
          <p:nvPr/>
        </p:nvSpPr>
        <p:spPr>
          <a:xfrm>
            <a:off x="457200" y="914400"/>
            <a:ext cx="2697480" cy="3840480"/>
          </a:xfrm>
          <a:prstGeom prst="rect">
            <a:avLst/>
          </a:prstGeom>
          <a:solidFill>
            <a:srgbClr val="FFFFFF">
              <a:alpha val="6000"/>
            </a:srgbClr>
          </a:solidFill>
          <a:ln w="19050">
            <a:solidFill>
              <a:srgbClr val="F96167"/>
            </a:solidFill>
            <a:prstDash val="solid"/>
          </a:ln>
        </p:spPr>
      </p:sp>
      <p:sp>
        <p:nvSpPr>
          <p:cNvPr id="4" name="Text 2"/>
          <p:cNvSpPr/>
          <p:nvPr/>
        </p:nvSpPr>
        <p:spPr>
          <a:xfrm>
            <a:off x="1280160" y="1005840"/>
            <a:ext cx="1051560" cy="6400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5" name="Text 3"/>
          <p:cNvSpPr/>
          <p:nvPr/>
        </p:nvSpPr>
        <p:spPr>
          <a:xfrm>
            <a:off x="548640" y="1664208"/>
            <a:ext cx="2514600" cy="365760"/>
          </a:xfrm>
          <a:prstGeom prst="rect">
            <a:avLst/>
          </a:prstGeom>
          <a:noFill/>
          <a:ln/>
        </p:spPr>
        <p:txBody>
          <a:bodyPr wrap="square" rtlCol="0" anchor="ctr"/>
          <a:lstStyle/>
          <a:p>
            <a:pPr marL="0" indent="0" algn="ctr">
              <a:buNone/>
            </a:pPr>
            <a:r>
              <a:rPr lang="en-US" sz="1500" b="1" dirty="0">
                <a:solidFill>
                  <a:srgbClr val="F96167"/>
                </a:solidFill>
                <a:latin typeface="Calibri" pitchFamily="34" charset="0"/>
                <a:ea typeface="Calibri" pitchFamily="34" charset="-122"/>
                <a:cs typeface="Calibri" pitchFamily="34" charset="-120"/>
              </a:rPr>
              <a:t>Desirability</a:t>
            </a:r>
            <a:endParaRPr lang="en-US" sz="1500" dirty="0"/>
          </a:p>
        </p:txBody>
      </p:sp>
      <p:sp>
        <p:nvSpPr>
          <p:cNvPr id="6" name="Text 4"/>
          <p:cNvSpPr/>
          <p:nvPr/>
        </p:nvSpPr>
        <p:spPr>
          <a:xfrm>
            <a:off x="548640" y="2011680"/>
            <a:ext cx="2514600" cy="256032"/>
          </a:xfrm>
          <a:prstGeom prst="rect">
            <a:avLst/>
          </a:prstGeom>
          <a:noFill/>
          <a:ln/>
        </p:spPr>
        <p:txBody>
          <a:bodyPr wrap="square" rtlCol="0" anchor="ctr"/>
          <a:lstStyle/>
          <a:p>
            <a:pPr marL="0" indent="0" algn="ctr">
              <a:buNone/>
            </a:pPr>
            <a:r>
              <a:rPr lang="en-US" sz="900" dirty="0">
                <a:solidFill>
                  <a:srgbClr val="AAAACC"/>
                </a:solidFill>
                <a:latin typeface="Calibri Light" pitchFamily="34" charset="0"/>
                <a:ea typeface="Calibri Light" pitchFamily="34" charset="-122"/>
                <a:cs typeface="Calibri Light" pitchFamily="34" charset="-120"/>
              </a:rPr>
              <a:t>Respons Pengguna</a:t>
            </a:r>
            <a:endParaRPr lang="en-US" sz="900" dirty="0"/>
          </a:p>
        </p:txBody>
      </p:sp>
      <p:sp>
        <p:nvSpPr>
          <p:cNvPr id="7" name="Shape 5"/>
          <p:cNvSpPr/>
          <p:nvPr/>
        </p:nvSpPr>
        <p:spPr>
          <a:xfrm>
            <a:off x="1143000" y="2377440"/>
            <a:ext cx="1325880" cy="1325880"/>
          </a:xfrm>
          <a:prstGeom prst="ellipse">
            <a:avLst/>
          </a:prstGeom>
          <a:solidFill>
            <a:srgbClr val="F96167"/>
          </a:solidFill>
          <a:ln w="12700">
            <a:solidFill>
              <a:srgbClr val="F96167"/>
            </a:solidFill>
            <a:prstDash val="solid"/>
          </a:ln>
        </p:spPr>
      </p:sp>
      <p:sp>
        <p:nvSpPr>
          <p:cNvPr id="8" name="Text 6"/>
          <p:cNvSpPr/>
          <p:nvPr/>
        </p:nvSpPr>
        <p:spPr>
          <a:xfrm>
            <a:off x="1143000" y="2377440"/>
            <a:ext cx="1325880" cy="1325880"/>
          </a:xfrm>
          <a:prstGeom prst="rect">
            <a:avLst/>
          </a:prstGeom>
          <a:noFill/>
          <a:ln/>
        </p:spPr>
        <p:txBody>
          <a:bodyPr wrap="square" lIns="0" tIns="0" rIns="0" bIns="0" rtlCol="0" anchor="ctr"/>
          <a:lstStyle/>
          <a:p>
            <a:pPr marL="0" indent="0" algn="ctr">
              <a:buNone/>
            </a:pPr>
            <a:r>
              <a:rPr lang="en-US" sz="3000" b="1" dirty="0">
                <a:solidFill>
                  <a:srgbClr val="FFFFFF"/>
                </a:solidFill>
              </a:rPr>
              <a:t>85%</a:t>
            </a:r>
            <a:endParaRPr lang="en-US" sz="3000" dirty="0"/>
          </a:p>
        </p:txBody>
      </p:sp>
      <p:sp>
        <p:nvSpPr>
          <p:cNvPr id="9" name="Text 7"/>
          <p:cNvSpPr/>
          <p:nvPr/>
        </p:nvSpPr>
        <p:spPr>
          <a:xfrm>
            <a:off x="594360" y="3840480"/>
            <a:ext cx="2423160" cy="777240"/>
          </a:xfrm>
          <a:prstGeom prst="rect">
            <a:avLst/>
          </a:prstGeom>
          <a:noFill/>
          <a:ln/>
        </p:spPr>
        <p:txBody>
          <a:bodyPr wrap="square" rtlCol="0" anchor="t"/>
          <a:lstStyle/>
          <a:p>
            <a:pPr marL="0" indent="0" algn="ctr">
              <a:buNone/>
            </a:pPr>
            <a:r>
              <a:rPr lang="en-US" sz="950" dirty="0">
                <a:solidFill>
                  <a:srgbClr val="CCCCDD"/>
                </a:solidFill>
                <a:latin typeface="Calibri" pitchFamily="34" charset="0"/>
                <a:ea typeface="Calibri" pitchFamily="34" charset="-122"/>
                <a:cs typeface="Calibri" pitchFamily="34" charset="-120"/>
              </a:rPr>
              <a:t>Siswa antusias dengan bentuk unik, suasana menyenangkan, dan aktivitas yang interaktif.</a:t>
            </a:r>
            <a:endParaRPr lang="en-US" sz="950" dirty="0"/>
          </a:p>
        </p:txBody>
      </p:sp>
      <p:sp>
        <p:nvSpPr>
          <p:cNvPr id="10" name="Shape 8"/>
          <p:cNvSpPr/>
          <p:nvPr/>
        </p:nvSpPr>
        <p:spPr>
          <a:xfrm>
            <a:off x="3337560" y="914400"/>
            <a:ext cx="2697480" cy="3840480"/>
          </a:xfrm>
          <a:prstGeom prst="rect">
            <a:avLst/>
          </a:prstGeom>
          <a:solidFill>
            <a:srgbClr val="FFFFFF">
              <a:alpha val="6000"/>
            </a:srgbClr>
          </a:solidFill>
          <a:ln w="19050">
            <a:solidFill>
              <a:srgbClr val="FF8C42"/>
            </a:solidFill>
            <a:prstDash val="solid"/>
          </a:ln>
        </p:spPr>
      </p:sp>
      <p:sp>
        <p:nvSpPr>
          <p:cNvPr id="11" name="Text 9"/>
          <p:cNvSpPr/>
          <p:nvPr/>
        </p:nvSpPr>
        <p:spPr>
          <a:xfrm>
            <a:off x="4160520" y="1005840"/>
            <a:ext cx="1051560" cy="6400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2" name="Text 10"/>
          <p:cNvSpPr/>
          <p:nvPr/>
        </p:nvSpPr>
        <p:spPr>
          <a:xfrm>
            <a:off x="3429000" y="1664208"/>
            <a:ext cx="2514600" cy="365760"/>
          </a:xfrm>
          <a:prstGeom prst="rect">
            <a:avLst/>
          </a:prstGeom>
          <a:noFill/>
          <a:ln/>
        </p:spPr>
        <p:txBody>
          <a:bodyPr wrap="square" rtlCol="0" anchor="ctr"/>
          <a:lstStyle/>
          <a:p>
            <a:pPr marL="0" indent="0" algn="ctr">
              <a:buNone/>
            </a:pPr>
            <a:r>
              <a:rPr lang="en-US" sz="1500" b="1" dirty="0">
                <a:solidFill>
                  <a:srgbClr val="FF8C42"/>
                </a:solidFill>
                <a:latin typeface="Calibri" pitchFamily="34" charset="0"/>
                <a:ea typeface="Calibri" pitchFamily="34" charset="-122"/>
                <a:cs typeface="Calibri" pitchFamily="34" charset="-120"/>
              </a:rPr>
              <a:t>Feasibility</a:t>
            </a:r>
            <a:endParaRPr lang="en-US" sz="1500" dirty="0"/>
          </a:p>
        </p:txBody>
      </p:sp>
      <p:sp>
        <p:nvSpPr>
          <p:cNvPr id="13" name="Text 11"/>
          <p:cNvSpPr/>
          <p:nvPr/>
        </p:nvSpPr>
        <p:spPr>
          <a:xfrm>
            <a:off x="3429000" y="2011680"/>
            <a:ext cx="2514600" cy="256032"/>
          </a:xfrm>
          <a:prstGeom prst="rect">
            <a:avLst/>
          </a:prstGeom>
          <a:noFill/>
          <a:ln/>
        </p:spPr>
        <p:txBody>
          <a:bodyPr wrap="square" rtlCol="0" anchor="ctr"/>
          <a:lstStyle/>
          <a:p>
            <a:pPr marL="0" indent="0" algn="ctr">
              <a:buNone/>
            </a:pPr>
            <a:r>
              <a:rPr lang="en-US" sz="900" dirty="0">
                <a:solidFill>
                  <a:srgbClr val="AAAACC"/>
                </a:solidFill>
                <a:latin typeface="Calibri Light" pitchFamily="34" charset="0"/>
                <a:ea typeface="Calibri Light" pitchFamily="34" charset="-122"/>
                <a:cs typeface="Calibri Light" pitchFamily="34" charset="-120"/>
              </a:rPr>
              <a:t>Kemungkinan Implementasi</a:t>
            </a:r>
            <a:endParaRPr lang="en-US" sz="900" dirty="0"/>
          </a:p>
        </p:txBody>
      </p:sp>
      <p:sp>
        <p:nvSpPr>
          <p:cNvPr id="14" name="Shape 12"/>
          <p:cNvSpPr/>
          <p:nvPr/>
        </p:nvSpPr>
        <p:spPr>
          <a:xfrm>
            <a:off x="4023360" y="2377440"/>
            <a:ext cx="1325880" cy="1325880"/>
          </a:xfrm>
          <a:prstGeom prst="ellipse">
            <a:avLst/>
          </a:prstGeom>
          <a:solidFill>
            <a:srgbClr val="FF8C42"/>
          </a:solidFill>
          <a:ln w="12700">
            <a:solidFill>
              <a:srgbClr val="FF8C42"/>
            </a:solidFill>
            <a:prstDash val="solid"/>
          </a:ln>
        </p:spPr>
      </p:sp>
      <p:sp>
        <p:nvSpPr>
          <p:cNvPr id="15" name="Text 13"/>
          <p:cNvSpPr/>
          <p:nvPr/>
        </p:nvSpPr>
        <p:spPr>
          <a:xfrm>
            <a:off x="4023360" y="2377440"/>
            <a:ext cx="1325880" cy="1325880"/>
          </a:xfrm>
          <a:prstGeom prst="rect">
            <a:avLst/>
          </a:prstGeom>
          <a:noFill/>
          <a:ln/>
        </p:spPr>
        <p:txBody>
          <a:bodyPr wrap="square" lIns="0" tIns="0" rIns="0" bIns="0" rtlCol="0" anchor="ctr"/>
          <a:lstStyle/>
          <a:p>
            <a:pPr marL="0" indent="0" algn="ctr">
              <a:buNone/>
            </a:pPr>
            <a:r>
              <a:rPr lang="en-US" sz="3000" b="1" dirty="0">
                <a:solidFill>
                  <a:srgbClr val="FFFFFF"/>
                </a:solidFill>
              </a:rPr>
              <a:t>80%</a:t>
            </a:r>
            <a:endParaRPr lang="en-US" sz="3000" dirty="0"/>
          </a:p>
        </p:txBody>
      </p:sp>
      <p:sp>
        <p:nvSpPr>
          <p:cNvPr id="16" name="Text 14"/>
          <p:cNvSpPr/>
          <p:nvPr/>
        </p:nvSpPr>
        <p:spPr>
          <a:xfrm>
            <a:off x="3474720" y="3840480"/>
            <a:ext cx="2423160" cy="777240"/>
          </a:xfrm>
          <a:prstGeom prst="rect">
            <a:avLst/>
          </a:prstGeom>
          <a:noFill/>
          <a:ln/>
        </p:spPr>
        <p:txBody>
          <a:bodyPr wrap="square" rtlCol="0" anchor="t"/>
          <a:lstStyle/>
          <a:p>
            <a:pPr marL="0" indent="0" algn="ctr">
              <a:buNone/>
            </a:pPr>
            <a:r>
              <a:rPr lang="en-US" sz="950" dirty="0">
                <a:solidFill>
                  <a:srgbClr val="CCCCDD"/>
                </a:solidFill>
                <a:latin typeface="Calibri" pitchFamily="34" charset="0"/>
                <a:ea typeface="Calibri" pitchFamily="34" charset="-122"/>
                <a:cs typeface="Calibri" pitchFamily="34" charset="-120"/>
              </a:rPr>
              <a:t>Bahan mudah diperoleh, biaya terjangkau, tidak perlu teknologi rumit, </a:t>
            </a:r>
            <a:r>
              <a:rPr lang="id-ID" sz="950" dirty="0">
                <a:solidFill>
                  <a:srgbClr val="CCCCDD"/>
                </a:solidFill>
                <a:latin typeface="Calibri" pitchFamily="34" charset="0"/>
                <a:ea typeface="Calibri" pitchFamily="34" charset="-122"/>
                <a:cs typeface="Calibri" pitchFamily="34" charset="-120"/>
              </a:rPr>
              <a:t>dan </a:t>
            </a:r>
            <a:r>
              <a:rPr lang="en-US" sz="950" dirty="0" err="1">
                <a:solidFill>
                  <a:srgbClr val="CCCCDD"/>
                </a:solidFill>
                <a:latin typeface="Calibri" pitchFamily="34" charset="0"/>
                <a:ea typeface="Calibri" pitchFamily="34" charset="-122"/>
                <a:cs typeface="Calibri" pitchFamily="34" charset="-120"/>
              </a:rPr>
              <a:t>mudah</a:t>
            </a:r>
            <a:r>
              <a:rPr lang="en-US" sz="950" dirty="0">
                <a:solidFill>
                  <a:srgbClr val="CCCCDD"/>
                </a:solidFill>
                <a:latin typeface="Calibri" pitchFamily="34" charset="0"/>
                <a:ea typeface="Calibri" pitchFamily="34" charset="-122"/>
                <a:cs typeface="Calibri" pitchFamily="34" charset="-120"/>
              </a:rPr>
              <a:t> </a:t>
            </a:r>
            <a:r>
              <a:rPr lang="en-US" sz="950" dirty="0" err="1">
                <a:solidFill>
                  <a:srgbClr val="CCCCDD"/>
                </a:solidFill>
                <a:latin typeface="Calibri" pitchFamily="34" charset="0"/>
                <a:ea typeface="Calibri" pitchFamily="34" charset="-122"/>
                <a:cs typeface="Calibri" pitchFamily="34" charset="-120"/>
              </a:rPr>
              <a:t>digunakan</a:t>
            </a:r>
            <a:r>
              <a:rPr lang="id-ID" sz="950" dirty="0">
                <a:solidFill>
                  <a:srgbClr val="CCCCDD"/>
                </a:solidFill>
                <a:latin typeface="Calibri" pitchFamily="34" charset="0"/>
                <a:ea typeface="Calibri" pitchFamily="34" charset="-122"/>
                <a:cs typeface="Calibri" pitchFamily="34" charset="-120"/>
              </a:rPr>
              <a:t> oleh</a:t>
            </a:r>
            <a:r>
              <a:rPr lang="en-US" sz="950" dirty="0">
                <a:solidFill>
                  <a:srgbClr val="CCCCDD"/>
                </a:solidFill>
                <a:latin typeface="Calibri" pitchFamily="34" charset="0"/>
                <a:ea typeface="Calibri" pitchFamily="34" charset="-122"/>
                <a:cs typeface="Calibri" pitchFamily="34" charset="-120"/>
              </a:rPr>
              <a:t> guru BK.</a:t>
            </a:r>
            <a:endParaRPr lang="en-US" sz="950" dirty="0"/>
          </a:p>
        </p:txBody>
      </p:sp>
      <p:sp>
        <p:nvSpPr>
          <p:cNvPr id="17" name="Shape 15"/>
          <p:cNvSpPr/>
          <p:nvPr/>
        </p:nvSpPr>
        <p:spPr>
          <a:xfrm>
            <a:off x="6217920" y="914400"/>
            <a:ext cx="2697480" cy="3840480"/>
          </a:xfrm>
          <a:prstGeom prst="rect">
            <a:avLst/>
          </a:prstGeom>
          <a:solidFill>
            <a:srgbClr val="FFFFFF">
              <a:alpha val="6000"/>
            </a:srgbClr>
          </a:solidFill>
          <a:ln w="19050">
            <a:solidFill>
              <a:srgbClr val="3DAA6E"/>
            </a:solidFill>
            <a:prstDash val="solid"/>
          </a:ln>
        </p:spPr>
      </p:sp>
      <p:sp>
        <p:nvSpPr>
          <p:cNvPr id="18" name="Text 16"/>
          <p:cNvSpPr/>
          <p:nvPr/>
        </p:nvSpPr>
        <p:spPr>
          <a:xfrm>
            <a:off x="7040880" y="1005840"/>
            <a:ext cx="1051560" cy="64008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9" name="Text 17"/>
          <p:cNvSpPr/>
          <p:nvPr/>
        </p:nvSpPr>
        <p:spPr>
          <a:xfrm>
            <a:off x="6309360" y="1664208"/>
            <a:ext cx="2514600" cy="365760"/>
          </a:xfrm>
          <a:prstGeom prst="rect">
            <a:avLst/>
          </a:prstGeom>
          <a:noFill/>
          <a:ln/>
        </p:spPr>
        <p:txBody>
          <a:bodyPr wrap="square" rtlCol="0" anchor="ctr"/>
          <a:lstStyle/>
          <a:p>
            <a:pPr marL="0" indent="0" algn="ctr">
              <a:buNone/>
            </a:pPr>
            <a:r>
              <a:rPr lang="en-US" sz="1500" b="1" dirty="0">
                <a:solidFill>
                  <a:srgbClr val="3DAA6E"/>
                </a:solidFill>
                <a:latin typeface="Calibri" pitchFamily="34" charset="0"/>
                <a:ea typeface="Calibri" pitchFamily="34" charset="-122"/>
                <a:cs typeface="Calibri" pitchFamily="34" charset="-120"/>
              </a:rPr>
              <a:t>Viability</a:t>
            </a:r>
            <a:endParaRPr lang="en-US" sz="1500" dirty="0"/>
          </a:p>
        </p:txBody>
      </p:sp>
      <p:sp>
        <p:nvSpPr>
          <p:cNvPr id="20" name="Text 18"/>
          <p:cNvSpPr/>
          <p:nvPr/>
        </p:nvSpPr>
        <p:spPr>
          <a:xfrm>
            <a:off x="6309360" y="2011680"/>
            <a:ext cx="2514600" cy="256032"/>
          </a:xfrm>
          <a:prstGeom prst="rect">
            <a:avLst/>
          </a:prstGeom>
          <a:noFill/>
          <a:ln/>
        </p:spPr>
        <p:txBody>
          <a:bodyPr wrap="square" rtlCol="0" anchor="ctr"/>
          <a:lstStyle/>
          <a:p>
            <a:pPr marL="0" indent="0" algn="ctr">
              <a:buNone/>
            </a:pPr>
            <a:r>
              <a:rPr lang="en-US" sz="900" dirty="0">
                <a:solidFill>
                  <a:srgbClr val="AAAACC"/>
                </a:solidFill>
                <a:latin typeface="Calibri Light" pitchFamily="34" charset="0"/>
                <a:ea typeface="Calibri Light" pitchFamily="34" charset="-122"/>
                <a:cs typeface="Calibri Light" pitchFamily="34" charset="-120"/>
              </a:rPr>
              <a:t>Ketepatgunaan</a:t>
            </a:r>
            <a:endParaRPr lang="en-US" sz="900" dirty="0"/>
          </a:p>
        </p:txBody>
      </p:sp>
      <p:sp>
        <p:nvSpPr>
          <p:cNvPr id="21" name="Shape 19"/>
          <p:cNvSpPr/>
          <p:nvPr/>
        </p:nvSpPr>
        <p:spPr>
          <a:xfrm>
            <a:off x="6903720" y="2377440"/>
            <a:ext cx="1325880" cy="1325880"/>
          </a:xfrm>
          <a:prstGeom prst="ellipse">
            <a:avLst/>
          </a:prstGeom>
          <a:solidFill>
            <a:srgbClr val="3DAA6E"/>
          </a:solidFill>
          <a:ln w="12700">
            <a:solidFill>
              <a:srgbClr val="3DAA6E"/>
            </a:solidFill>
            <a:prstDash val="solid"/>
          </a:ln>
        </p:spPr>
      </p:sp>
      <p:sp>
        <p:nvSpPr>
          <p:cNvPr id="22" name="Text 20"/>
          <p:cNvSpPr/>
          <p:nvPr/>
        </p:nvSpPr>
        <p:spPr>
          <a:xfrm>
            <a:off x="6903720" y="2377440"/>
            <a:ext cx="1325880" cy="1325880"/>
          </a:xfrm>
          <a:prstGeom prst="rect">
            <a:avLst/>
          </a:prstGeom>
          <a:noFill/>
          <a:ln/>
        </p:spPr>
        <p:txBody>
          <a:bodyPr wrap="square" lIns="0" tIns="0" rIns="0" bIns="0" rtlCol="0" anchor="ctr"/>
          <a:lstStyle/>
          <a:p>
            <a:pPr marL="0" indent="0" algn="ctr">
              <a:buNone/>
            </a:pPr>
            <a:r>
              <a:rPr lang="en-US" sz="3000" b="1" dirty="0">
                <a:solidFill>
                  <a:srgbClr val="FFFFFF"/>
                </a:solidFill>
              </a:rPr>
              <a:t>85%</a:t>
            </a:r>
            <a:endParaRPr lang="en-US" sz="3000" dirty="0"/>
          </a:p>
        </p:txBody>
      </p:sp>
      <p:sp>
        <p:nvSpPr>
          <p:cNvPr id="23" name="Text 21"/>
          <p:cNvSpPr/>
          <p:nvPr/>
        </p:nvSpPr>
        <p:spPr>
          <a:xfrm>
            <a:off x="6355080" y="3840480"/>
            <a:ext cx="2423160" cy="777240"/>
          </a:xfrm>
          <a:prstGeom prst="rect">
            <a:avLst/>
          </a:prstGeom>
          <a:noFill/>
          <a:ln/>
        </p:spPr>
        <p:txBody>
          <a:bodyPr wrap="square" rtlCol="0" anchor="t"/>
          <a:lstStyle/>
          <a:p>
            <a:pPr marL="0" indent="0" algn="ctr">
              <a:buNone/>
            </a:pPr>
            <a:r>
              <a:rPr lang="en-US" sz="950" dirty="0">
                <a:solidFill>
                  <a:srgbClr val="CCCCDD"/>
                </a:solidFill>
                <a:latin typeface="Calibri" pitchFamily="34" charset="0"/>
                <a:ea typeface="Calibri" pitchFamily="34" charset="-122"/>
                <a:cs typeface="Calibri" pitchFamily="34" charset="-120"/>
              </a:rPr>
              <a:t>Efektif membantu refleksi diri, pengenalan emosi, dan peningkatan regulasi diri siswa.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72E0"/>
          </a:solidFill>
          <a:ln w="12700">
            <a:solidFill>
              <a:srgbClr val="7C72E0"/>
            </a:solidFill>
            <a:prstDash val="solid"/>
          </a:ln>
        </p:spPr>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600" b="1" dirty="0">
                <a:solidFill>
                  <a:srgbClr val="3D339A"/>
                </a:solidFill>
                <a:latin typeface="Calibri" pitchFamily="34" charset="0"/>
                <a:ea typeface="Calibri" pitchFamily="34" charset="-122"/>
                <a:cs typeface="Calibri" pitchFamily="34" charset="-120"/>
              </a:rPr>
              <a:t>Iterasi: Rencana Perbaikan Prototipe</a:t>
            </a:r>
            <a:endParaRPr lang="en-US" sz="2600" dirty="0"/>
          </a:p>
        </p:txBody>
      </p:sp>
      <p:sp>
        <p:nvSpPr>
          <p:cNvPr id="4" name="Text 2"/>
          <p:cNvSpPr/>
          <p:nvPr/>
        </p:nvSpPr>
        <p:spPr>
          <a:xfrm>
            <a:off x="365760" y="713232"/>
            <a:ext cx="8412480" cy="274320"/>
          </a:xfrm>
          <a:prstGeom prst="rect">
            <a:avLst/>
          </a:prstGeom>
          <a:noFill/>
          <a:ln/>
        </p:spPr>
        <p:txBody>
          <a:bodyPr wrap="square" rtlCol="0" anchor="ctr"/>
          <a:lstStyle/>
          <a:p>
            <a:pPr marL="0" indent="0">
              <a:buNone/>
            </a:pPr>
            <a:r>
              <a:rPr lang="en-US" sz="1100" dirty="0">
                <a:solidFill>
                  <a:srgbClr val="6B7280"/>
                </a:solidFill>
                <a:latin typeface="Calibri Light" pitchFamily="34" charset="0"/>
                <a:ea typeface="Calibri Light" pitchFamily="34" charset="-122"/>
                <a:cs typeface="Calibri Light" pitchFamily="34" charset="-120"/>
              </a:rPr>
              <a:t>Berdasarkan hasil user testing dan diskusi kelompok</a:t>
            </a:r>
            <a:endParaRPr lang="en-US" sz="1100" dirty="0"/>
          </a:p>
        </p:txBody>
      </p:sp>
      <p:sp>
        <p:nvSpPr>
          <p:cNvPr id="5" name="Shape 3"/>
          <p:cNvSpPr/>
          <p:nvPr/>
        </p:nvSpPr>
        <p:spPr>
          <a:xfrm>
            <a:off x="365760" y="1143000"/>
            <a:ext cx="4206240" cy="164592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6" name="Shape 4"/>
          <p:cNvSpPr/>
          <p:nvPr/>
        </p:nvSpPr>
        <p:spPr>
          <a:xfrm>
            <a:off x="365760" y="1143000"/>
            <a:ext cx="502920" cy="1645920"/>
          </a:xfrm>
          <a:prstGeom prst="rect">
            <a:avLst/>
          </a:prstGeom>
          <a:solidFill>
            <a:srgbClr val="EDE9FF"/>
          </a:solidFill>
          <a:ln w="12700">
            <a:solidFill>
              <a:srgbClr val="EDE9FF"/>
            </a:solidFill>
            <a:prstDash val="solid"/>
          </a:ln>
        </p:spPr>
      </p:sp>
      <p:sp>
        <p:nvSpPr>
          <p:cNvPr id="7" name="Text 5"/>
          <p:cNvSpPr/>
          <p:nvPr/>
        </p:nvSpPr>
        <p:spPr>
          <a:xfrm>
            <a:off x="365760" y="1143000"/>
            <a:ext cx="502920" cy="1645920"/>
          </a:xfrm>
          <a:prstGeom prst="rect">
            <a:avLst/>
          </a:prstGeom>
          <a:noFill/>
          <a:ln/>
        </p:spPr>
        <p:txBody>
          <a:bodyPr wrap="square" lIns="0" tIns="0" rIns="0" bIns="0" rtlCol="0" anchor="ctr"/>
          <a:lstStyle/>
          <a:p>
            <a:pPr marL="0" indent="0" algn="ctr">
              <a:buNone/>
            </a:pPr>
            <a:r>
              <a:rPr lang="en-US" sz="1600" b="1" dirty="0">
                <a:solidFill>
                  <a:srgbClr val="5B4FCF"/>
                </a:solidFill>
              </a:rPr>
              <a:t>01</a:t>
            </a:r>
            <a:endParaRPr lang="en-US" sz="1600" dirty="0"/>
          </a:p>
        </p:txBody>
      </p:sp>
      <p:sp>
        <p:nvSpPr>
          <p:cNvPr id="8" name="Text 6"/>
          <p:cNvSpPr/>
          <p:nvPr/>
        </p:nvSpPr>
        <p:spPr>
          <a:xfrm>
            <a:off x="960120" y="1280160"/>
            <a:ext cx="3474720" cy="347472"/>
          </a:xfrm>
          <a:prstGeom prst="rect">
            <a:avLst/>
          </a:prstGeom>
          <a:noFill/>
          <a:ln/>
        </p:spPr>
        <p:txBody>
          <a:bodyPr wrap="square" rtlCol="0" anchor="ctr"/>
          <a:lstStyle/>
          <a:p>
            <a:pPr marL="0" indent="0">
              <a:buNone/>
            </a:pPr>
            <a:r>
              <a:rPr lang="en-US" sz="1300" b="1" dirty="0">
                <a:solidFill>
                  <a:srgbClr val="3D339A"/>
                </a:solidFill>
                <a:latin typeface="Calibri" pitchFamily="34" charset="0"/>
                <a:ea typeface="Calibri" pitchFamily="34" charset="-122"/>
                <a:cs typeface="Calibri" pitchFamily="34" charset="-120"/>
              </a:rPr>
              <a:t>Ganti Bahan</a:t>
            </a:r>
            <a:endParaRPr lang="en-US" sz="1300" dirty="0"/>
          </a:p>
        </p:txBody>
      </p:sp>
      <p:sp>
        <p:nvSpPr>
          <p:cNvPr id="9" name="Text 7"/>
          <p:cNvSpPr/>
          <p:nvPr/>
        </p:nvSpPr>
        <p:spPr>
          <a:xfrm>
            <a:off x="960120" y="1645920"/>
            <a:ext cx="3474720" cy="347472"/>
          </a:xfrm>
          <a:prstGeom prst="rect">
            <a:avLst/>
          </a:prstGeom>
          <a:noFill/>
          <a:ln/>
        </p:spPr>
        <p:txBody>
          <a:bodyPr wrap="square" rtlCol="0" anchor="ctr"/>
          <a:lstStyle/>
          <a:p>
            <a:pPr marL="0" indent="0">
              <a:buNone/>
            </a:pPr>
            <a:r>
              <a:rPr lang="en-US" sz="950" dirty="0">
                <a:solidFill>
                  <a:srgbClr val="F96167"/>
                </a:solidFill>
                <a:latin typeface="Calibri" pitchFamily="34" charset="0"/>
                <a:ea typeface="Calibri" pitchFamily="34" charset="-122"/>
                <a:cs typeface="Calibri" pitchFamily="34" charset="-120"/>
              </a:rPr>
              <a:t>Sebelum: Styrofoam ringan &amp; mudah rusak</a:t>
            </a:r>
            <a:endParaRPr lang="en-US" sz="950" dirty="0"/>
          </a:p>
        </p:txBody>
      </p:sp>
      <p:sp>
        <p:nvSpPr>
          <p:cNvPr id="10" name="Text 8"/>
          <p:cNvSpPr/>
          <p:nvPr/>
        </p:nvSpPr>
        <p:spPr>
          <a:xfrm>
            <a:off x="960120" y="2011680"/>
            <a:ext cx="3474720" cy="594360"/>
          </a:xfrm>
          <a:prstGeom prst="rect">
            <a:avLst/>
          </a:prstGeom>
          <a:noFill/>
          <a:ln/>
        </p:spPr>
        <p:txBody>
          <a:bodyPr wrap="square" rtlCol="0" anchor="ctr"/>
          <a:lstStyle/>
          <a:p>
            <a:pPr marL="0" indent="0">
              <a:buNone/>
            </a:pPr>
            <a:r>
              <a:rPr lang="en-US" sz="950" dirty="0">
                <a:solidFill>
                  <a:srgbClr val="3DAA6E"/>
                </a:solidFill>
                <a:latin typeface="Calibri" pitchFamily="34" charset="0"/>
                <a:ea typeface="Calibri" pitchFamily="34" charset="-122"/>
                <a:cs typeface="Calibri" pitchFamily="34" charset="-120"/>
              </a:rPr>
              <a:t>Sesudah: Material lebih kuat &amp; kokoh agar roda stabil</a:t>
            </a:r>
            <a:endParaRPr lang="en-US" sz="950" dirty="0"/>
          </a:p>
        </p:txBody>
      </p:sp>
      <p:sp>
        <p:nvSpPr>
          <p:cNvPr id="11" name="Shape 9"/>
          <p:cNvSpPr/>
          <p:nvPr/>
        </p:nvSpPr>
        <p:spPr>
          <a:xfrm>
            <a:off x="4800600" y="1143000"/>
            <a:ext cx="4206240" cy="164592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12" name="Shape 10"/>
          <p:cNvSpPr/>
          <p:nvPr/>
        </p:nvSpPr>
        <p:spPr>
          <a:xfrm>
            <a:off x="4800600" y="1143000"/>
            <a:ext cx="502920" cy="1645920"/>
          </a:xfrm>
          <a:prstGeom prst="rect">
            <a:avLst/>
          </a:prstGeom>
          <a:solidFill>
            <a:srgbClr val="EDE9FF"/>
          </a:solidFill>
          <a:ln w="12700">
            <a:solidFill>
              <a:srgbClr val="EDE9FF"/>
            </a:solidFill>
            <a:prstDash val="solid"/>
          </a:ln>
        </p:spPr>
      </p:sp>
      <p:sp>
        <p:nvSpPr>
          <p:cNvPr id="13" name="Text 11"/>
          <p:cNvSpPr/>
          <p:nvPr/>
        </p:nvSpPr>
        <p:spPr>
          <a:xfrm>
            <a:off x="4800600" y="1143000"/>
            <a:ext cx="502920" cy="1645920"/>
          </a:xfrm>
          <a:prstGeom prst="rect">
            <a:avLst/>
          </a:prstGeom>
          <a:noFill/>
          <a:ln/>
        </p:spPr>
        <p:txBody>
          <a:bodyPr wrap="square" lIns="0" tIns="0" rIns="0" bIns="0" rtlCol="0" anchor="ctr"/>
          <a:lstStyle/>
          <a:p>
            <a:pPr marL="0" indent="0" algn="ctr">
              <a:buNone/>
            </a:pPr>
            <a:r>
              <a:rPr lang="en-US" sz="1600" b="1" dirty="0">
                <a:solidFill>
                  <a:srgbClr val="5B4FCF"/>
                </a:solidFill>
              </a:rPr>
              <a:t>02</a:t>
            </a:r>
            <a:endParaRPr lang="en-US" sz="1600" dirty="0"/>
          </a:p>
        </p:txBody>
      </p:sp>
      <p:sp>
        <p:nvSpPr>
          <p:cNvPr id="14" name="Text 12"/>
          <p:cNvSpPr/>
          <p:nvPr/>
        </p:nvSpPr>
        <p:spPr>
          <a:xfrm>
            <a:off x="5394960" y="1280160"/>
            <a:ext cx="3474720" cy="347472"/>
          </a:xfrm>
          <a:prstGeom prst="rect">
            <a:avLst/>
          </a:prstGeom>
          <a:noFill/>
          <a:ln/>
        </p:spPr>
        <p:txBody>
          <a:bodyPr wrap="square" rtlCol="0" anchor="ctr"/>
          <a:lstStyle/>
          <a:p>
            <a:pPr marL="0" indent="0">
              <a:buNone/>
            </a:pPr>
            <a:r>
              <a:rPr lang="en-US" sz="1300" b="1" dirty="0">
                <a:solidFill>
                  <a:srgbClr val="3D339A"/>
                </a:solidFill>
                <a:latin typeface="Calibri" pitchFamily="34" charset="0"/>
                <a:ea typeface="Calibri" pitchFamily="34" charset="-122"/>
                <a:cs typeface="Calibri" pitchFamily="34" charset="-120"/>
              </a:rPr>
              <a:t>Perbesar Visual</a:t>
            </a:r>
            <a:endParaRPr lang="en-US" sz="1300" dirty="0"/>
          </a:p>
        </p:txBody>
      </p:sp>
      <p:sp>
        <p:nvSpPr>
          <p:cNvPr id="15" name="Text 13"/>
          <p:cNvSpPr/>
          <p:nvPr/>
        </p:nvSpPr>
        <p:spPr>
          <a:xfrm>
            <a:off x="5394960" y="1645920"/>
            <a:ext cx="3474720" cy="347472"/>
          </a:xfrm>
          <a:prstGeom prst="rect">
            <a:avLst/>
          </a:prstGeom>
          <a:noFill/>
          <a:ln/>
        </p:spPr>
        <p:txBody>
          <a:bodyPr wrap="square" rtlCol="0" anchor="ctr"/>
          <a:lstStyle/>
          <a:p>
            <a:pPr marL="0" indent="0">
              <a:buNone/>
            </a:pPr>
            <a:r>
              <a:rPr lang="en-US" sz="950" dirty="0">
                <a:solidFill>
                  <a:srgbClr val="F96167"/>
                </a:solidFill>
                <a:latin typeface="Calibri" pitchFamily="34" charset="0"/>
                <a:ea typeface="Calibri" pitchFamily="34" charset="-122"/>
                <a:cs typeface="Calibri" pitchFamily="34" charset="-120"/>
              </a:rPr>
              <a:t>Sebelum: Tulisan </a:t>
            </a:r>
            <a:r>
              <a:rPr lang="en-US" sz="950" dirty="0" err="1">
                <a:solidFill>
                  <a:srgbClr val="F96167"/>
                </a:solidFill>
                <a:latin typeface="Calibri" pitchFamily="34" charset="0"/>
                <a:ea typeface="Calibri" pitchFamily="34" charset="-122"/>
                <a:cs typeface="Calibri" pitchFamily="34" charset="-120"/>
              </a:rPr>
              <a:t>sulit</a:t>
            </a:r>
            <a:r>
              <a:rPr lang="en-US" sz="950" dirty="0">
                <a:solidFill>
                  <a:srgbClr val="F96167"/>
                </a:solidFill>
                <a:latin typeface="Calibri" pitchFamily="34" charset="0"/>
                <a:ea typeface="Calibri" pitchFamily="34" charset="-122"/>
                <a:cs typeface="Calibri" pitchFamily="34" charset="-120"/>
              </a:rPr>
              <a:t> terlihat dari jauh</a:t>
            </a:r>
            <a:endParaRPr lang="en-US" sz="950" dirty="0"/>
          </a:p>
        </p:txBody>
      </p:sp>
      <p:sp>
        <p:nvSpPr>
          <p:cNvPr id="16" name="Text 14"/>
          <p:cNvSpPr/>
          <p:nvPr/>
        </p:nvSpPr>
        <p:spPr>
          <a:xfrm>
            <a:off x="5394960" y="2011680"/>
            <a:ext cx="3474720" cy="594360"/>
          </a:xfrm>
          <a:prstGeom prst="rect">
            <a:avLst/>
          </a:prstGeom>
          <a:noFill/>
          <a:ln/>
        </p:spPr>
        <p:txBody>
          <a:bodyPr wrap="square" rtlCol="0" anchor="ctr"/>
          <a:lstStyle/>
          <a:p>
            <a:pPr marL="0" indent="0">
              <a:buNone/>
            </a:pPr>
            <a:r>
              <a:rPr lang="en-US" sz="950" dirty="0">
                <a:solidFill>
                  <a:srgbClr val="3DAA6E"/>
                </a:solidFill>
                <a:latin typeface="Calibri" pitchFamily="34" charset="0"/>
                <a:ea typeface="Calibri" pitchFamily="34" charset="-122"/>
                <a:cs typeface="Calibri" pitchFamily="34" charset="-120"/>
              </a:rPr>
              <a:t>Sesudah: </a:t>
            </a:r>
            <a:r>
              <a:rPr lang="en-US" sz="950" dirty="0" err="1">
                <a:solidFill>
                  <a:srgbClr val="3DAA6E"/>
                </a:solidFill>
                <a:latin typeface="Calibri" pitchFamily="34" charset="0"/>
                <a:ea typeface="Calibri" pitchFamily="34" charset="-122"/>
                <a:cs typeface="Calibri" pitchFamily="34" charset="-120"/>
              </a:rPr>
              <a:t>Ukuran</a:t>
            </a:r>
            <a:r>
              <a:rPr lang="en-US" sz="950" dirty="0">
                <a:solidFill>
                  <a:srgbClr val="3DAA6E"/>
                </a:solidFill>
                <a:latin typeface="Calibri" pitchFamily="34" charset="0"/>
                <a:ea typeface="Calibri" pitchFamily="34" charset="-122"/>
                <a:cs typeface="Calibri" pitchFamily="34" charset="-120"/>
              </a:rPr>
              <a:t> font diperbesar, warna lebih cerah</a:t>
            </a:r>
            <a:endParaRPr lang="en-US" sz="950" dirty="0"/>
          </a:p>
        </p:txBody>
      </p:sp>
      <p:sp>
        <p:nvSpPr>
          <p:cNvPr id="17" name="Shape 15"/>
          <p:cNvSpPr/>
          <p:nvPr/>
        </p:nvSpPr>
        <p:spPr>
          <a:xfrm>
            <a:off x="365760" y="3063240"/>
            <a:ext cx="4206240" cy="164592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18" name="Shape 16"/>
          <p:cNvSpPr/>
          <p:nvPr/>
        </p:nvSpPr>
        <p:spPr>
          <a:xfrm>
            <a:off x="365760" y="3063240"/>
            <a:ext cx="502920" cy="1645920"/>
          </a:xfrm>
          <a:prstGeom prst="rect">
            <a:avLst/>
          </a:prstGeom>
          <a:solidFill>
            <a:srgbClr val="EDE9FF"/>
          </a:solidFill>
          <a:ln w="12700">
            <a:solidFill>
              <a:srgbClr val="EDE9FF"/>
            </a:solidFill>
            <a:prstDash val="solid"/>
          </a:ln>
        </p:spPr>
      </p:sp>
      <p:sp>
        <p:nvSpPr>
          <p:cNvPr id="19" name="Text 17"/>
          <p:cNvSpPr/>
          <p:nvPr/>
        </p:nvSpPr>
        <p:spPr>
          <a:xfrm>
            <a:off x="365760" y="3063240"/>
            <a:ext cx="502920" cy="1645920"/>
          </a:xfrm>
          <a:prstGeom prst="rect">
            <a:avLst/>
          </a:prstGeom>
          <a:noFill/>
          <a:ln/>
        </p:spPr>
        <p:txBody>
          <a:bodyPr wrap="square" lIns="0" tIns="0" rIns="0" bIns="0" rtlCol="0" anchor="ctr"/>
          <a:lstStyle/>
          <a:p>
            <a:pPr marL="0" indent="0" algn="ctr">
              <a:buNone/>
            </a:pPr>
            <a:r>
              <a:rPr lang="en-US" sz="1600" b="1" dirty="0">
                <a:solidFill>
                  <a:srgbClr val="5B4FCF"/>
                </a:solidFill>
              </a:rPr>
              <a:t>03</a:t>
            </a:r>
            <a:endParaRPr lang="en-US" sz="1600" dirty="0"/>
          </a:p>
        </p:txBody>
      </p:sp>
      <p:sp>
        <p:nvSpPr>
          <p:cNvPr id="20" name="Text 18"/>
          <p:cNvSpPr/>
          <p:nvPr/>
        </p:nvSpPr>
        <p:spPr>
          <a:xfrm>
            <a:off x="960120" y="3200400"/>
            <a:ext cx="3474720" cy="347472"/>
          </a:xfrm>
          <a:prstGeom prst="rect">
            <a:avLst/>
          </a:prstGeom>
          <a:noFill/>
          <a:ln/>
        </p:spPr>
        <p:txBody>
          <a:bodyPr wrap="square" rtlCol="0" anchor="ctr"/>
          <a:lstStyle/>
          <a:p>
            <a:pPr marL="0" indent="0">
              <a:buNone/>
            </a:pPr>
            <a:r>
              <a:rPr lang="en-US" sz="1300" b="1" dirty="0" err="1">
                <a:solidFill>
                  <a:srgbClr val="3D339A"/>
                </a:solidFill>
                <a:latin typeface="Calibri" pitchFamily="34" charset="0"/>
                <a:ea typeface="Calibri" pitchFamily="34" charset="-122"/>
                <a:cs typeface="Calibri" pitchFamily="34" charset="-120"/>
              </a:rPr>
              <a:t>Tambah</a:t>
            </a:r>
            <a:r>
              <a:rPr lang="en-US" sz="1300" b="1" dirty="0">
                <a:solidFill>
                  <a:srgbClr val="3D339A"/>
                </a:solidFill>
                <a:latin typeface="Calibri" pitchFamily="34" charset="0"/>
                <a:ea typeface="Calibri" pitchFamily="34" charset="-122"/>
                <a:cs typeface="Calibri" pitchFamily="34" charset="-120"/>
              </a:rPr>
              <a:t> </a:t>
            </a:r>
            <a:r>
              <a:rPr lang="en-US" sz="1300" b="1" dirty="0" err="1">
                <a:solidFill>
                  <a:srgbClr val="3D339A"/>
                </a:solidFill>
                <a:latin typeface="Calibri" pitchFamily="34" charset="0"/>
                <a:ea typeface="Calibri" pitchFamily="34" charset="-122"/>
                <a:cs typeface="Calibri" pitchFamily="34" charset="-120"/>
              </a:rPr>
              <a:t>Variasi</a:t>
            </a:r>
            <a:r>
              <a:rPr lang="id-ID" sz="1300" b="1" dirty="0">
                <a:solidFill>
                  <a:srgbClr val="3D339A"/>
                </a:solidFill>
                <a:latin typeface="Calibri" pitchFamily="34" charset="0"/>
                <a:ea typeface="Calibri" pitchFamily="34" charset="-122"/>
                <a:cs typeface="Calibri" pitchFamily="34" charset="-120"/>
              </a:rPr>
              <a:t> Warna Menarik</a:t>
            </a:r>
            <a:endParaRPr lang="en-US" sz="1300" dirty="0"/>
          </a:p>
        </p:txBody>
      </p:sp>
      <p:sp>
        <p:nvSpPr>
          <p:cNvPr id="21" name="Text 19"/>
          <p:cNvSpPr/>
          <p:nvPr/>
        </p:nvSpPr>
        <p:spPr>
          <a:xfrm>
            <a:off x="960120" y="3566160"/>
            <a:ext cx="3474720" cy="347472"/>
          </a:xfrm>
          <a:prstGeom prst="rect">
            <a:avLst/>
          </a:prstGeom>
          <a:noFill/>
          <a:ln/>
        </p:spPr>
        <p:txBody>
          <a:bodyPr wrap="square" rtlCol="0" anchor="ctr"/>
          <a:lstStyle/>
          <a:p>
            <a:pPr marL="0" indent="0">
              <a:buNone/>
            </a:pPr>
            <a:r>
              <a:rPr lang="en-US" sz="950" dirty="0">
                <a:solidFill>
                  <a:srgbClr val="F96167"/>
                </a:solidFill>
                <a:latin typeface="Calibri" pitchFamily="34" charset="0"/>
                <a:ea typeface="Calibri" pitchFamily="34" charset="-122"/>
                <a:cs typeface="Calibri" pitchFamily="34" charset="-120"/>
              </a:rPr>
              <a:t>Sebelum: </a:t>
            </a:r>
            <a:r>
              <a:rPr lang="id-ID" sz="950" dirty="0">
                <a:solidFill>
                  <a:srgbClr val="F96167"/>
                </a:solidFill>
                <a:latin typeface="Calibri" pitchFamily="34" charset="0"/>
                <a:ea typeface="Calibri" pitchFamily="34" charset="-122"/>
                <a:cs typeface="Calibri" pitchFamily="34" charset="-120"/>
              </a:rPr>
              <a:t>Warna dominan </a:t>
            </a:r>
            <a:r>
              <a:rPr lang="id-ID" sz="950" dirty="0" err="1">
                <a:solidFill>
                  <a:srgbClr val="F96167"/>
                </a:solidFill>
                <a:latin typeface="Calibri" pitchFamily="34" charset="0"/>
                <a:ea typeface="Calibri" pitchFamily="34" charset="-122"/>
                <a:cs typeface="Calibri" pitchFamily="34" charset="-120"/>
              </a:rPr>
              <a:t>pink</a:t>
            </a:r>
            <a:endParaRPr lang="en-US" sz="950" dirty="0"/>
          </a:p>
        </p:txBody>
      </p:sp>
      <p:sp>
        <p:nvSpPr>
          <p:cNvPr id="22" name="Text 20"/>
          <p:cNvSpPr/>
          <p:nvPr/>
        </p:nvSpPr>
        <p:spPr>
          <a:xfrm>
            <a:off x="960120" y="3931920"/>
            <a:ext cx="3474720" cy="594360"/>
          </a:xfrm>
          <a:prstGeom prst="rect">
            <a:avLst/>
          </a:prstGeom>
          <a:noFill/>
          <a:ln/>
        </p:spPr>
        <p:txBody>
          <a:bodyPr wrap="square" rtlCol="0" anchor="ctr"/>
          <a:lstStyle/>
          <a:p>
            <a:pPr marL="0" indent="0">
              <a:buNone/>
            </a:pPr>
            <a:r>
              <a:rPr lang="en-US" sz="950" dirty="0">
                <a:solidFill>
                  <a:srgbClr val="3DAA6E"/>
                </a:solidFill>
                <a:latin typeface="Calibri" pitchFamily="34" charset="0"/>
                <a:ea typeface="Calibri" pitchFamily="34" charset="-122"/>
                <a:cs typeface="Calibri" pitchFamily="34" charset="-120"/>
              </a:rPr>
              <a:t>Sesudah: </a:t>
            </a:r>
            <a:r>
              <a:rPr lang="id-ID" sz="950" dirty="0">
                <a:solidFill>
                  <a:srgbClr val="3DAA6E"/>
                </a:solidFill>
                <a:latin typeface="Calibri" pitchFamily="34" charset="0"/>
                <a:ea typeface="Calibri" pitchFamily="34" charset="-122"/>
                <a:cs typeface="Calibri" pitchFamily="34" charset="-120"/>
              </a:rPr>
              <a:t>T</a:t>
            </a:r>
            <a:r>
              <a:rPr lang="en-US" sz="950" dirty="0" err="1">
                <a:solidFill>
                  <a:srgbClr val="3DAA6E"/>
                </a:solidFill>
                <a:latin typeface="Calibri" pitchFamily="34" charset="0"/>
                <a:ea typeface="Calibri" pitchFamily="34" charset="-122"/>
                <a:cs typeface="Calibri" pitchFamily="34" charset="-120"/>
              </a:rPr>
              <a:t>ambahkan</a:t>
            </a:r>
            <a:r>
              <a:rPr lang="id-ID" sz="950" dirty="0">
                <a:solidFill>
                  <a:srgbClr val="3DAA6E"/>
                </a:solidFill>
                <a:latin typeface="Calibri" pitchFamily="34" charset="0"/>
                <a:ea typeface="Calibri" pitchFamily="34" charset="-122"/>
                <a:cs typeface="Calibri" pitchFamily="34" charset="-120"/>
              </a:rPr>
              <a:t> warna-warna lain</a:t>
            </a:r>
            <a:endParaRPr lang="en-US" sz="950" dirty="0"/>
          </a:p>
        </p:txBody>
      </p:sp>
      <p:sp>
        <p:nvSpPr>
          <p:cNvPr id="23" name="Shape 21"/>
          <p:cNvSpPr/>
          <p:nvPr/>
        </p:nvSpPr>
        <p:spPr>
          <a:xfrm>
            <a:off x="4800600" y="3063240"/>
            <a:ext cx="4206240" cy="164592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24" name="Shape 22"/>
          <p:cNvSpPr/>
          <p:nvPr/>
        </p:nvSpPr>
        <p:spPr>
          <a:xfrm>
            <a:off x="4800600" y="3063240"/>
            <a:ext cx="502920" cy="1645920"/>
          </a:xfrm>
          <a:prstGeom prst="rect">
            <a:avLst/>
          </a:prstGeom>
          <a:solidFill>
            <a:srgbClr val="EDE9FF"/>
          </a:solidFill>
          <a:ln w="12700">
            <a:solidFill>
              <a:srgbClr val="EDE9FF"/>
            </a:solidFill>
            <a:prstDash val="solid"/>
          </a:ln>
        </p:spPr>
      </p:sp>
      <p:sp>
        <p:nvSpPr>
          <p:cNvPr id="25" name="Text 23"/>
          <p:cNvSpPr/>
          <p:nvPr/>
        </p:nvSpPr>
        <p:spPr>
          <a:xfrm>
            <a:off x="4800600" y="3063240"/>
            <a:ext cx="502920" cy="1645920"/>
          </a:xfrm>
          <a:prstGeom prst="rect">
            <a:avLst/>
          </a:prstGeom>
          <a:noFill/>
          <a:ln/>
        </p:spPr>
        <p:txBody>
          <a:bodyPr wrap="square" lIns="0" tIns="0" rIns="0" bIns="0" rtlCol="0" anchor="ctr"/>
          <a:lstStyle/>
          <a:p>
            <a:pPr marL="0" indent="0" algn="ctr">
              <a:buNone/>
            </a:pPr>
            <a:r>
              <a:rPr lang="en-US" sz="1600" b="1" dirty="0">
                <a:solidFill>
                  <a:srgbClr val="5B4FCF"/>
                </a:solidFill>
              </a:rPr>
              <a:t>04</a:t>
            </a:r>
            <a:endParaRPr lang="en-US" sz="1600" dirty="0"/>
          </a:p>
        </p:txBody>
      </p:sp>
      <p:sp>
        <p:nvSpPr>
          <p:cNvPr id="26" name="Text 24"/>
          <p:cNvSpPr/>
          <p:nvPr/>
        </p:nvSpPr>
        <p:spPr>
          <a:xfrm>
            <a:off x="5394960" y="3200400"/>
            <a:ext cx="3474720" cy="347472"/>
          </a:xfrm>
          <a:prstGeom prst="rect">
            <a:avLst/>
          </a:prstGeom>
          <a:noFill/>
          <a:ln/>
        </p:spPr>
        <p:txBody>
          <a:bodyPr wrap="square" rtlCol="0" anchor="ctr"/>
          <a:lstStyle/>
          <a:p>
            <a:pPr marL="0" indent="0">
              <a:buNone/>
            </a:pPr>
            <a:r>
              <a:rPr lang="en-US" sz="1300" b="1" dirty="0">
                <a:solidFill>
                  <a:srgbClr val="3D339A"/>
                </a:solidFill>
                <a:latin typeface="Calibri" pitchFamily="34" charset="0"/>
                <a:ea typeface="Calibri" pitchFamily="34" charset="-122"/>
                <a:cs typeface="Calibri" pitchFamily="34" charset="-120"/>
              </a:rPr>
              <a:t>Petunjuk Jelas</a:t>
            </a:r>
            <a:endParaRPr lang="en-US" sz="1300" dirty="0"/>
          </a:p>
        </p:txBody>
      </p:sp>
      <p:sp>
        <p:nvSpPr>
          <p:cNvPr id="27" name="Text 25"/>
          <p:cNvSpPr/>
          <p:nvPr/>
        </p:nvSpPr>
        <p:spPr>
          <a:xfrm>
            <a:off x="5394960" y="3566160"/>
            <a:ext cx="3474720" cy="347472"/>
          </a:xfrm>
          <a:prstGeom prst="rect">
            <a:avLst/>
          </a:prstGeom>
          <a:noFill/>
          <a:ln/>
        </p:spPr>
        <p:txBody>
          <a:bodyPr wrap="square" rtlCol="0" anchor="ctr"/>
          <a:lstStyle/>
          <a:p>
            <a:pPr marL="0" indent="0">
              <a:buNone/>
            </a:pPr>
            <a:r>
              <a:rPr lang="en-US" sz="950" dirty="0">
                <a:solidFill>
                  <a:srgbClr val="F96167"/>
                </a:solidFill>
                <a:latin typeface="Calibri" pitchFamily="34" charset="0"/>
                <a:ea typeface="Calibri" pitchFamily="34" charset="-122"/>
                <a:cs typeface="Calibri" pitchFamily="34" charset="-120"/>
              </a:rPr>
              <a:t>Sebelum: Siswa bingung aturan &amp; cara bermain</a:t>
            </a:r>
            <a:endParaRPr lang="en-US" sz="950" dirty="0"/>
          </a:p>
        </p:txBody>
      </p:sp>
      <p:sp>
        <p:nvSpPr>
          <p:cNvPr id="28" name="Text 26"/>
          <p:cNvSpPr/>
          <p:nvPr/>
        </p:nvSpPr>
        <p:spPr>
          <a:xfrm>
            <a:off x="5394960" y="3931920"/>
            <a:ext cx="3474720" cy="594360"/>
          </a:xfrm>
          <a:prstGeom prst="rect">
            <a:avLst/>
          </a:prstGeom>
          <a:noFill/>
          <a:ln/>
        </p:spPr>
        <p:txBody>
          <a:bodyPr wrap="square" rtlCol="0" anchor="ctr"/>
          <a:lstStyle/>
          <a:p>
            <a:pPr marL="0" indent="0">
              <a:buNone/>
            </a:pPr>
            <a:r>
              <a:rPr lang="en-US" sz="950" dirty="0">
                <a:solidFill>
                  <a:srgbClr val="3DAA6E"/>
                </a:solidFill>
                <a:latin typeface="Calibri" pitchFamily="34" charset="0"/>
                <a:ea typeface="Calibri" pitchFamily="34" charset="-122"/>
                <a:cs typeface="Calibri" pitchFamily="34" charset="-120"/>
              </a:rPr>
              <a:t>Sesudah: Petunjuk penggunaan tertulis disertakan dalam media</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96167"/>
          </a:solidFill>
          <a:ln w="12700">
            <a:solidFill>
              <a:srgbClr val="F96167"/>
            </a:solidFill>
            <a:prstDash val="solid"/>
          </a:ln>
        </p:spPr>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400" b="1" dirty="0">
                <a:solidFill>
                  <a:srgbClr val="3D339A"/>
                </a:solidFill>
                <a:latin typeface="Calibri" pitchFamily="34" charset="0"/>
                <a:ea typeface="Calibri" pitchFamily="34" charset="-122"/>
                <a:cs typeface="Calibri" pitchFamily="34" charset="-120"/>
              </a:rPr>
              <a:t>Refleksi: Ruang Implementasi di Sekolah</a:t>
            </a:r>
            <a:endParaRPr lang="en-US" sz="2400" dirty="0"/>
          </a:p>
        </p:txBody>
      </p:sp>
      <p:sp>
        <p:nvSpPr>
          <p:cNvPr id="4" name="Shape 2"/>
          <p:cNvSpPr/>
          <p:nvPr/>
        </p:nvSpPr>
        <p:spPr>
          <a:xfrm>
            <a:off x="365760" y="914400"/>
            <a:ext cx="4114800" cy="384048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5" name="Shape 3"/>
          <p:cNvSpPr/>
          <p:nvPr/>
        </p:nvSpPr>
        <p:spPr>
          <a:xfrm>
            <a:off x="365760" y="914400"/>
            <a:ext cx="4114800" cy="64008"/>
          </a:xfrm>
          <a:prstGeom prst="rect">
            <a:avLst/>
          </a:prstGeom>
          <a:solidFill>
            <a:srgbClr val="F96167"/>
          </a:solidFill>
          <a:ln w="12700">
            <a:solidFill>
              <a:srgbClr val="F96167"/>
            </a:solidFill>
            <a:prstDash val="solid"/>
          </a:ln>
        </p:spPr>
      </p:sp>
      <p:sp>
        <p:nvSpPr>
          <p:cNvPr id="6" name="Text 4"/>
          <p:cNvSpPr/>
          <p:nvPr/>
        </p:nvSpPr>
        <p:spPr>
          <a:xfrm>
            <a:off x="502920" y="1005840"/>
            <a:ext cx="3840480" cy="411480"/>
          </a:xfrm>
          <a:prstGeom prst="rect">
            <a:avLst/>
          </a:prstGeom>
          <a:noFill/>
          <a:ln/>
        </p:spPr>
        <p:txBody>
          <a:bodyPr wrap="square"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  Hambatan Implementasi</a:t>
            </a:r>
            <a:endParaRPr lang="en-US" sz="1200" dirty="0"/>
          </a:p>
        </p:txBody>
      </p:sp>
      <p:sp>
        <p:nvSpPr>
          <p:cNvPr id="7" name="Text 5"/>
          <p:cNvSpPr/>
          <p:nvPr/>
        </p:nvSpPr>
        <p:spPr>
          <a:xfrm>
            <a:off x="548640" y="157276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Fasilitas &amp; bahan masih sederhana, mudah rusak</a:t>
            </a:r>
            <a:endParaRPr lang="en-US" sz="1000" dirty="0"/>
          </a:p>
        </p:txBody>
      </p:sp>
      <p:sp>
        <p:nvSpPr>
          <p:cNvPr id="8" name="Text 6"/>
          <p:cNvSpPr/>
          <p:nvPr/>
        </p:nvSpPr>
        <p:spPr>
          <a:xfrm>
            <a:off x="548640" y="216712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Tidak semua siswa percaya diri saat role playing</a:t>
            </a:r>
            <a:endParaRPr lang="en-US" sz="1000" dirty="0"/>
          </a:p>
        </p:txBody>
      </p:sp>
      <p:sp>
        <p:nvSpPr>
          <p:cNvPr id="9" name="Text 7"/>
          <p:cNvSpPr/>
          <p:nvPr/>
        </p:nvSpPr>
        <p:spPr>
          <a:xfrm>
            <a:off x="548640" y="276148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Waktu layanan BK terbatas di sekolah</a:t>
            </a:r>
            <a:endParaRPr lang="en-US" sz="1000" dirty="0"/>
          </a:p>
        </p:txBody>
      </p:sp>
      <p:sp>
        <p:nvSpPr>
          <p:cNvPr id="10" name="Text 8"/>
          <p:cNvSpPr/>
          <p:nvPr/>
        </p:nvSpPr>
        <p:spPr>
          <a:xfrm>
            <a:off x="548640" y="335584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Kurangnya pemahaman pentingnya regulasi diri</a:t>
            </a:r>
            <a:endParaRPr lang="en-US" sz="1000" dirty="0"/>
          </a:p>
        </p:txBody>
      </p:sp>
      <p:sp>
        <p:nvSpPr>
          <p:cNvPr id="11" name="Text 9"/>
          <p:cNvSpPr/>
          <p:nvPr/>
        </p:nvSpPr>
        <p:spPr>
          <a:xfrm>
            <a:off x="548640" y="395020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Budaya sekolah kurang terbuka ekspresi perasaan</a:t>
            </a:r>
            <a:endParaRPr lang="en-US" sz="1000" dirty="0"/>
          </a:p>
        </p:txBody>
      </p:sp>
      <p:sp>
        <p:nvSpPr>
          <p:cNvPr id="12" name="Shape 10"/>
          <p:cNvSpPr/>
          <p:nvPr/>
        </p:nvSpPr>
        <p:spPr>
          <a:xfrm>
            <a:off x="4663440" y="914400"/>
            <a:ext cx="4114800" cy="3840480"/>
          </a:xfrm>
          <a:prstGeom prst="rect">
            <a:avLst/>
          </a:prstGeom>
          <a:solidFill>
            <a:srgbClr val="FFFFFF"/>
          </a:solidFill>
          <a:ln w="12700">
            <a:solidFill>
              <a:srgbClr val="E5E7EB"/>
            </a:solidFill>
            <a:prstDash val="solid"/>
          </a:ln>
          <a:effectLst>
            <a:outerShdw blurRad="76200" dist="25400" dir="8100000" algn="bl" rotWithShape="0">
              <a:srgbClr val="000000">
                <a:alpha val="7000"/>
              </a:srgbClr>
            </a:outerShdw>
          </a:effectLst>
        </p:spPr>
      </p:sp>
      <p:sp>
        <p:nvSpPr>
          <p:cNvPr id="13" name="Shape 11"/>
          <p:cNvSpPr/>
          <p:nvPr/>
        </p:nvSpPr>
        <p:spPr>
          <a:xfrm>
            <a:off x="4663440" y="914400"/>
            <a:ext cx="4114800" cy="64008"/>
          </a:xfrm>
          <a:prstGeom prst="rect">
            <a:avLst/>
          </a:prstGeom>
          <a:solidFill>
            <a:srgbClr val="3DAA6E"/>
          </a:solidFill>
          <a:ln w="12700">
            <a:solidFill>
              <a:srgbClr val="3DAA6E"/>
            </a:solidFill>
            <a:prstDash val="solid"/>
          </a:ln>
        </p:spPr>
      </p:sp>
      <p:sp>
        <p:nvSpPr>
          <p:cNvPr id="14" name="Text 12"/>
          <p:cNvSpPr/>
          <p:nvPr/>
        </p:nvSpPr>
        <p:spPr>
          <a:xfrm>
            <a:off x="4800600" y="1005840"/>
            <a:ext cx="3840480" cy="411480"/>
          </a:xfrm>
          <a:prstGeom prst="rect">
            <a:avLst/>
          </a:prstGeom>
          <a:noFill/>
          <a:ln/>
        </p:spPr>
        <p:txBody>
          <a:bodyPr wrap="square" rtlCol="0" anchor="ctr"/>
          <a:lstStyle/>
          <a:p>
            <a:pPr marL="0" indent="0">
              <a:buNone/>
            </a:pPr>
            <a:r>
              <a:rPr lang="en-US" sz="1200" b="1" dirty="0">
                <a:solidFill>
                  <a:srgbClr val="3DAA6E"/>
                </a:solidFill>
                <a:latin typeface="Calibri" pitchFamily="34" charset="0"/>
                <a:ea typeface="Calibri" pitchFamily="34" charset="-122"/>
                <a:cs typeface="Calibri" pitchFamily="34" charset="-120"/>
              </a:rPr>
              <a:t>🚀  Faktor Kemudahan</a:t>
            </a:r>
            <a:endParaRPr lang="en-US" sz="1200" dirty="0"/>
          </a:p>
        </p:txBody>
      </p:sp>
      <p:sp>
        <p:nvSpPr>
          <p:cNvPr id="15" name="Text 13"/>
          <p:cNvSpPr/>
          <p:nvPr/>
        </p:nvSpPr>
        <p:spPr>
          <a:xfrm>
            <a:off x="4846320" y="157276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Media sederhana, tidak butuh teknologi rumit</a:t>
            </a:r>
            <a:endParaRPr lang="en-US" sz="1000" dirty="0"/>
          </a:p>
        </p:txBody>
      </p:sp>
      <p:sp>
        <p:nvSpPr>
          <p:cNvPr id="16" name="Text 14"/>
          <p:cNvSpPr/>
          <p:nvPr/>
        </p:nvSpPr>
        <p:spPr>
          <a:xfrm>
            <a:off x="4846320" y="216712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Bahan mudah diperoleh dengan biaya terjangkau</a:t>
            </a:r>
            <a:endParaRPr lang="en-US" sz="1000" dirty="0"/>
          </a:p>
        </p:txBody>
      </p:sp>
      <p:sp>
        <p:nvSpPr>
          <p:cNvPr id="17" name="Text 15"/>
          <p:cNvSpPr/>
          <p:nvPr/>
        </p:nvSpPr>
        <p:spPr>
          <a:xfrm>
            <a:off x="4846320" y="276148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Konsep permainan: siswa lebih tertarik &amp; aktif</a:t>
            </a:r>
            <a:endParaRPr lang="en-US" sz="1000" dirty="0"/>
          </a:p>
        </p:txBody>
      </p:sp>
      <p:sp>
        <p:nvSpPr>
          <p:cNvPr id="18" name="Text 16"/>
          <p:cNvSpPr/>
          <p:nvPr/>
        </p:nvSpPr>
        <p:spPr>
          <a:xfrm>
            <a:off x="4846320" y="335584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Dukungan guru BK &amp; lingkungan sekolah</a:t>
            </a:r>
            <a:endParaRPr lang="en-US" sz="1000" dirty="0"/>
          </a:p>
        </p:txBody>
      </p:sp>
      <p:sp>
        <p:nvSpPr>
          <p:cNvPr id="19" name="Text 17"/>
          <p:cNvSpPr/>
          <p:nvPr/>
        </p:nvSpPr>
        <p:spPr>
          <a:xfrm>
            <a:off x="4846320" y="3950208"/>
            <a:ext cx="3703320" cy="502920"/>
          </a:xfrm>
          <a:prstGeom prst="rect">
            <a:avLst/>
          </a:prstGeom>
          <a:noFill/>
          <a:ln/>
        </p:spPr>
        <p:txBody>
          <a:bodyPr wrap="square" rtlCol="0" anchor="t"/>
          <a:lstStyle/>
          <a:p>
            <a:pPr marL="342900" indent="-342900">
              <a:buSzPct val="100000"/>
              <a:buChar char="•"/>
            </a:pPr>
            <a:r>
              <a:rPr lang="en-US" sz="1000" dirty="0">
                <a:solidFill>
                  <a:srgbClr val="1A1740"/>
                </a:solidFill>
                <a:latin typeface="Calibri" pitchFamily="34" charset="0"/>
                <a:ea typeface="Calibri" pitchFamily="34" charset="-122"/>
                <a:cs typeface="Calibri" pitchFamily="34" charset="-120"/>
              </a:rPr>
              <a:t>Siswa SMA menyukai kegiatan interaktif</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339A"/>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Mendorong Empati, Kolaborasi &amp; Inovasi</a:t>
            </a:r>
            <a:endParaRPr lang="en-US" sz="2400" dirty="0"/>
          </a:p>
        </p:txBody>
      </p:sp>
      <p:sp>
        <p:nvSpPr>
          <p:cNvPr id="3" name="Text 1"/>
          <p:cNvSpPr/>
          <p:nvPr/>
        </p:nvSpPr>
        <p:spPr>
          <a:xfrm>
            <a:off x="457200" y="713232"/>
            <a:ext cx="8229600" cy="274320"/>
          </a:xfrm>
          <a:prstGeom prst="rect">
            <a:avLst/>
          </a:prstGeom>
          <a:noFill/>
          <a:ln/>
        </p:spPr>
        <p:txBody>
          <a:bodyPr wrap="square" rtlCol="0" anchor="ctr"/>
          <a:lstStyle/>
          <a:p>
            <a:pPr marL="0" indent="0">
              <a:buNone/>
            </a:pPr>
            <a:r>
              <a:rPr lang="en-US" sz="1100" dirty="0">
                <a:solidFill>
                  <a:srgbClr val="BBAAEE"/>
                </a:solidFill>
                <a:latin typeface="Calibri Light" pitchFamily="34" charset="0"/>
                <a:ea typeface="Calibri Light" pitchFamily="34" charset="-122"/>
                <a:cs typeface="Calibri Light" pitchFamily="34" charset="-120"/>
              </a:rPr>
              <a:t>Potensi Pengembangan Media Roda Kendali</a:t>
            </a:r>
            <a:endParaRPr lang="en-US" sz="1100" dirty="0"/>
          </a:p>
        </p:txBody>
      </p:sp>
      <p:sp>
        <p:nvSpPr>
          <p:cNvPr id="4" name="Shape 2"/>
          <p:cNvSpPr/>
          <p:nvPr/>
        </p:nvSpPr>
        <p:spPr>
          <a:xfrm>
            <a:off x="457200" y="1097280"/>
            <a:ext cx="2697480" cy="3474720"/>
          </a:xfrm>
          <a:prstGeom prst="rect">
            <a:avLst/>
          </a:prstGeom>
          <a:solidFill>
            <a:srgbClr val="FFFFFF">
              <a:alpha val="8000"/>
            </a:srgbClr>
          </a:solidFill>
          <a:ln w="19050">
            <a:solidFill>
              <a:srgbClr val="F96167"/>
            </a:solidFill>
            <a:prstDash val="solid"/>
          </a:ln>
        </p:spPr>
      </p:sp>
      <p:sp>
        <p:nvSpPr>
          <p:cNvPr id="5" name="Shape 3"/>
          <p:cNvSpPr/>
          <p:nvPr/>
        </p:nvSpPr>
        <p:spPr>
          <a:xfrm>
            <a:off x="1371600" y="1188720"/>
            <a:ext cx="868680" cy="868680"/>
          </a:xfrm>
          <a:prstGeom prst="ellipse">
            <a:avLst/>
          </a:prstGeom>
          <a:solidFill>
            <a:srgbClr val="F96167"/>
          </a:solidFill>
          <a:ln w="12700">
            <a:solidFill>
              <a:srgbClr val="F96167"/>
            </a:solidFill>
            <a:prstDash val="solid"/>
          </a:ln>
        </p:spPr>
      </p:sp>
      <p:sp>
        <p:nvSpPr>
          <p:cNvPr id="6" name="Text 4"/>
          <p:cNvSpPr/>
          <p:nvPr/>
        </p:nvSpPr>
        <p:spPr>
          <a:xfrm>
            <a:off x="1371600" y="1188720"/>
            <a:ext cx="868680" cy="8686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7" name="Text 5"/>
          <p:cNvSpPr/>
          <p:nvPr/>
        </p:nvSpPr>
        <p:spPr>
          <a:xfrm>
            <a:off x="548640" y="2212848"/>
            <a:ext cx="2514600" cy="365760"/>
          </a:xfrm>
          <a:prstGeom prst="rect">
            <a:avLst/>
          </a:prstGeom>
          <a:noFill/>
          <a:ln/>
        </p:spPr>
        <p:txBody>
          <a:bodyPr wrap="square" rtlCol="0" anchor="ctr"/>
          <a:lstStyle/>
          <a:p>
            <a:pPr marL="0" indent="0" algn="ctr">
              <a:buNone/>
            </a:pPr>
            <a:r>
              <a:rPr lang="en-US" sz="1500" b="1" dirty="0">
                <a:solidFill>
                  <a:srgbClr val="F96167"/>
                </a:solidFill>
                <a:latin typeface="Calibri" pitchFamily="34" charset="0"/>
                <a:ea typeface="Calibri" pitchFamily="34" charset="-122"/>
                <a:cs typeface="Calibri" pitchFamily="34" charset="-120"/>
              </a:rPr>
              <a:t>Empati</a:t>
            </a:r>
            <a:endParaRPr lang="en-US" sz="1500" dirty="0"/>
          </a:p>
        </p:txBody>
      </p:sp>
      <p:sp>
        <p:nvSpPr>
          <p:cNvPr id="8" name="Text 6"/>
          <p:cNvSpPr/>
          <p:nvPr/>
        </p:nvSpPr>
        <p:spPr>
          <a:xfrm>
            <a:off x="685800" y="2697480"/>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Role playing lintas perspektif</a:t>
            </a:r>
            <a:endParaRPr lang="en-US" sz="950" dirty="0"/>
          </a:p>
        </p:txBody>
      </p:sp>
      <p:sp>
        <p:nvSpPr>
          <p:cNvPr id="9" name="Text 7"/>
          <p:cNvSpPr/>
          <p:nvPr/>
        </p:nvSpPr>
        <p:spPr>
          <a:xfrm>
            <a:off x="685800" y="3264408"/>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Siswa memahami sudut pandang orang lain</a:t>
            </a:r>
            <a:endParaRPr lang="en-US" sz="950" dirty="0"/>
          </a:p>
        </p:txBody>
      </p:sp>
      <p:sp>
        <p:nvSpPr>
          <p:cNvPr id="10" name="Text 8"/>
          <p:cNvSpPr/>
          <p:nvPr/>
        </p:nvSpPr>
        <p:spPr>
          <a:xfrm>
            <a:off x="685800" y="3831336"/>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Belajar mendengarkan tanpa menghakimi</a:t>
            </a:r>
            <a:endParaRPr lang="en-US" sz="950" dirty="0"/>
          </a:p>
        </p:txBody>
      </p:sp>
      <p:sp>
        <p:nvSpPr>
          <p:cNvPr id="11" name="Shape 9"/>
          <p:cNvSpPr/>
          <p:nvPr/>
        </p:nvSpPr>
        <p:spPr>
          <a:xfrm>
            <a:off x="3337560" y="1097280"/>
            <a:ext cx="2697480" cy="3474720"/>
          </a:xfrm>
          <a:prstGeom prst="rect">
            <a:avLst/>
          </a:prstGeom>
          <a:solidFill>
            <a:srgbClr val="FFFFFF">
              <a:alpha val="8000"/>
            </a:srgbClr>
          </a:solidFill>
          <a:ln w="19050">
            <a:solidFill>
              <a:srgbClr val="FF8C42"/>
            </a:solidFill>
            <a:prstDash val="solid"/>
          </a:ln>
        </p:spPr>
      </p:sp>
      <p:sp>
        <p:nvSpPr>
          <p:cNvPr id="12" name="Shape 10"/>
          <p:cNvSpPr/>
          <p:nvPr/>
        </p:nvSpPr>
        <p:spPr>
          <a:xfrm>
            <a:off x="4251960" y="1188720"/>
            <a:ext cx="868680" cy="868680"/>
          </a:xfrm>
          <a:prstGeom prst="ellipse">
            <a:avLst/>
          </a:prstGeom>
          <a:solidFill>
            <a:srgbClr val="FF8C42"/>
          </a:solidFill>
          <a:ln w="12700">
            <a:solidFill>
              <a:srgbClr val="FF8C42"/>
            </a:solidFill>
            <a:prstDash val="solid"/>
          </a:ln>
        </p:spPr>
      </p:sp>
      <p:sp>
        <p:nvSpPr>
          <p:cNvPr id="13" name="Text 11"/>
          <p:cNvSpPr/>
          <p:nvPr/>
        </p:nvSpPr>
        <p:spPr>
          <a:xfrm>
            <a:off x="4251960" y="1188720"/>
            <a:ext cx="868680" cy="8686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3429000" y="2212848"/>
            <a:ext cx="2514600" cy="365760"/>
          </a:xfrm>
          <a:prstGeom prst="rect">
            <a:avLst/>
          </a:prstGeom>
          <a:noFill/>
          <a:ln/>
        </p:spPr>
        <p:txBody>
          <a:bodyPr wrap="square" rtlCol="0" anchor="ctr"/>
          <a:lstStyle/>
          <a:p>
            <a:pPr marL="0" indent="0" algn="ctr">
              <a:buNone/>
            </a:pPr>
            <a:r>
              <a:rPr lang="en-US" sz="1500" b="1" dirty="0">
                <a:solidFill>
                  <a:srgbClr val="FF8C42"/>
                </a:solidFill>
                <a:latin typeface="Calibri" pitchFamily="34" charset="0"/>
                <a:ea typeface="Calibri" pitchFamily="34" charset="-122"/>
                <a:cs typeface="Calibri" pitchFamily="34" charset="-120"/>
              </a:rPr>
              <a:t>Kolaborasi</a:t>
            </a:r>
            <a:endParaRPr lang="en-US" sz="1500" dirty="0"/>
          </a:p>
        </p:txBody>
      </p:sp>
      <p:sp>
        <p:nvSpPr>
          <p:cNvPr id="15" name="Text 13"/>
          <p:cNvSpPr/>
          <p:nvPr/>
        </p:nvSpPr>
        <p:spPr>
          <a:xfrm>
            <a:off x="3566160" y="2697480"/>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Kegiatan dalam kelompok kecil</a:t>
            </a:r>
            <a:endParaRPr lang="en-US" sz="950" dirty="0"/>
          </a:p>
        </p:txBody>
      </p:sp>
      <p:sp>
        <p:nvSpPr>
          <p:cNvPr id="16" name="Text 14"/>
          <p:cNvSpPr/>
          <p:nvPr/>
        </p:nvSpPr>
        <p:spPr>
          <a:xfrm>
            <a:off x="3566160" y="3264408"/>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Misi diselesaikan bersama</a:t>
            </a:r>
            <a:endParaRPr lang="en-US" sz="950" dirty="0"/>
          </a:p>
        </p:txBody>
      </p:sp>
      <p:sp>
        <p:nvSpPr>
          <p:cNvPr id="17" name="Text 15"/>
          <p:cNvSpPr/>
          <p:nvPr/>
        </p:nvSpPr>
        <p:spPr>
          <a:xfrm>
            <a:off x="3566160" y="3831336"/>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Saling memberikan dukungan positif</a:t>
            </a:r>
            <a:endParaRPr lang="en-US" sz="950" dirty="0"/>
          </a:p>
        </p:txBody>
      </p:sp>
      <p:sp>
        <p:nvSpPr>
          <p:cNvPr id="18" name="Shape 16"/>
          <p:cNvSpPr/>
          <p:nvPr/>
        </p:nvSpPr>
        <p:spPr>
          <a:xfrm>
            <a:off x="6217920" y="1097280"/>
            <a:ext cx="2697480" cy="3474720"/>
          </a:xfrm>
          <a:prstGeom prst="rect">
            <a:avLst/>
          </a:prstGeom>
          <a:solidFill>
            <a:srgbClr val="FFFFFF">
              <a:alpha val="8000"/>
            </a:srgbClr>
          </a:solidFill>
          <a:ln w="19050">
            <a:solidFill>
              <a:srgbClr val="3DAA6E"/>
            </a:solidFill>
            <a:prstDash val="solid"/>
          </a:ln>
        </p:spPr>
      </p:sp>
      <p:sp>
        <p:nvSpPr>
          <p:cNvPr id="19" name="Shape 17"/>
          <p:cNvSpPr/>
          <p:nvPr/>
        </p:nvSpPr>
        <p:spPr>
          <a:xfrm>
            <a:off x="7132320" y="1188720"/>
            <a:ext cx="868680" cy="868680"/>
          </a:xfrm>
          <a:prstGeom prst="ellipse">
            <a:avLst/>
          </a:prstGeom>
          <a:solidFill>
            <a:srgbClr val="3DAA6E"/>
          </a:solidFill>
          <a:ln w="12700">
            <a:solidFill>
              <a:srgbClr val="3DAA6E"/>
            </a:solidFill>
            <a:prstDash val="solid"/>
          </a:ln>
        </p:spPr>
      </p:sp>
      <p:sp>
        <p:nvSpPr>
          <p:cNvPr id="20" name="Text 18"/>
          <p:cNvSpPr/>
          <p:nvPr/>
        </p:nvSpPr>
        <p:spPr>
          <a:xfrm>
            <a:off x="7132320" y="1188720"/>
            <a:ext cx="868680" cy="86868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6309360" y="2212848"/>
            <a:ext cx="2514600" cy="365760"/>
          </a:xfrm>
          <a:prstGeom prst="rect">
            <a:avLst/>
          </a:prstGeom>
          <a:noFill/>
          <a:ln/>
        </p:spPr>
        <p:txBody>
          <a:bodyPr wrap="square" rtlCol="0" anchor="ctr"/>
          <a:lstStyle/>
          <a:p>
            <a:pPr marL="0" indent="0" algn="ctr">
              <a:buNone/>
            </a:pPr>
            <a:r>
              <a:rPr lang="en-US" sz="1500" b="1" dirty="0">
                <a:solidFill>
                  <a:srgbClr val="3DAA6E"/>
                </a:solidFill>
                <a:latin typeface="Calibri" pitchFamily="34" charset="0"/>
                <a:ea typeface="Calibri" pitchFamily="34" charset="-122"/>
                <a:cs typeface="Calibri" pitchFamily="34" charset="-120"/>
              </a:rPr>
              <a:t>Inovasi</a:t>
            </a:r>
            <a:endParaRPr lang="en-US" sz="1500" dirty="0"/>
          </a:p>
        </p:txBody>
      </p:sp>
      <p:sp>
        <p:nvSpPr>
          <p:cNvPr id="22" name="Text 20"/>
          <p:cNvSpPr/>
          <p:nvPr/>
        </p:nvSpPr>
        <p:spPr>
          <a:xfrm>
            <a:off x="6446520" y="2697480"/>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Siswa </a:t>
            </a:r>
            <a:r>
              <a:rPr lang="en-US" sz="950" dirty="0" err="1">
                <a:solidFill>
                  <a:srgbClr val="DDDDEE"/>
                </a:solidFill>
                <a:latin typeface="Calibri" pitchFamily="34" charset="0"/>
                <a:ea typeface="Calibri" pitchFamily="34" charset="-122"/>
                <a:cs typeface="Calibri" pitchFamily="34" charset="-120"/>
              </a:rPr>
              <a:t>ikut</a:t>
            </a:r>
            <a:r>
              <a:rPr lang="en-US" sz="950" dirty="0">
                <a:solidFill>
                  <a:srgbClr val="DDDDEE"/>
                </a:solidFill>
                <a:latin typeface="Calibri" pitchFamily="34" charset="0"/>
                <a:ea typeface="Calibri" pitchFamily="34" charset="-122"/>
                <a:cs typeface="Calibri" pitchFamily="34" charset="-120"/>
              </a:rPr>
              <a:t> me</a:t>
            </a:r>
            <a:r>
              <a:rPr lang="id-ID" sz="950" dirty="0" err="1">
                <a:solidFill>
                  <a:srgbClr val="DDDDEE"/>
                </a:solidFill>
                <a:latin typeface="Calibri" pitchFamily="34" charset="0"/>
                <a:ea typeface="Calibri" pitchFamily="34" charset="-122"/>
                <a:cs typeface="Calibri" pitchFamily="34" charset="-120"/>
              </a:rPr>
              <a:t>mberikan</a:t>
            </a:r>
            <a:r>
              <a:rPr lang="en-US" sz="950" dirty="0">
                <a:solidFill>
                  <a:srgbClr val="DDDDEE"/>
                </a:solidFill>
                <a:latin typeface="Calibri" pitchFamily="34" charset="0"/>
                <a:ea typeface="Calibri" pitchFamily="34" charset="-122"/>
                <a:cs typeface="Calibri" pitchFamily="34" charset="-120"/>
              </a:rPr>
              <a:t> ide baru</a:t>
            </a:r>
            <a:endParaRPr lang="en-US" sz="950" dirty="0"/>
          </a:p>
        </p:txBody>
      </p:sp>
      <p:sp>
        <p:nvSpPr>
          <p:cNvPr id="23" name="Text 21"/>
          <p:cNvSpPr/>
          <p:nvPr/>
        </p:nvSpPr>
        <p:spPr>
          <a:xfrm>
            <a:off x="6446520" y="3264408"/>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Terlibat dalam pengembangan media</a:t>
            </a:r>
            <a:endParaRPr lang="en-US" sz="950" dirty="0"/>
          </a:p>
        </p:txBody>
      </p:sp>
      <p:sp>
        <p:nvSpPr>
          <p:cNvPr id="24" name="Text 22"/>
          <p:cNvSpPr/>
          <p:nvPr/>
        </p:nvSpPr>
        <p:spPr>
          <a:xfrm>
            <a:off x="6446520" y="3831336"/>
            <a:ext cx="2286000" cy="502920"/>
          </a:xfrm>
          <a:prstGeom prst="rect">
            <a:avLst/>
          </a:prstGeom>
          <a:noFill/>
          <a:ln/>
        </p:spPr>
        <p:txBody>
          <a:bodyPr wrap="square" rtlCol="0" anchor="ctr"/>
          <a:lstStyle/>
          <a:p>
            <a:pPr marL="342900" indent="-342900">
              <a:buSzPct val="100000"/>
              <a:buChar char="•"/>
            </a:pPr>
            <a:r>
              <a:rPr lang="en-US" sz="950" dirty="0">
                <a:solidFill>
                  <a:srgbClr val="DDDDEE"/>
                </a:solidFill>
                <a:latin typeface="Calibri" pitchFamily="34" charset="0"/>
                <a:ea typeface="Calibri" pitchFamily="34" charset="-122"/>
                <a:cs typeface="Calibri" pitchFamily="34" charset="-120"/>
              </a:rPr>
              <a:t>Menciptakan budaya kreatif &amp; inovatif</a:t>
            </a:r>
            <a:endParaRPr lang="en-US" sz="950" dirty="0"/>
          </a:p>
        </p:txBody>
      </p:sp>
      <p:sp>
        <p:nvSpPr>
          <p:cNvPr id="25" name="Shape 23"/>
          <p:cNvSpPr/>
          <p:nvPr/>
        </p:nvSpPr>
        <p:spPr>
          <a:xfrm>
            <a:off x="457200" y="4663440"/>
            <a:ext cx="3474720" cy="0"/>
          </a:xfrm>
          <a:prstGeom prst="rect">
            <a:avLst/>
          </a:prstGeom>
          <a:solidFill>
            <a:srgbClr val="E5E7EB"/>
          </a:solidFill>
          <a:ln w="12700">
            <a:solidFill>
              <a:srgbClr val="E5E7EB"/>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740"/>
        </a:solidFill>
        <a:effectLst/>
      </p:bgPr>
    </p:bg>
    <p:spTree>
      <p:nvGrpSpPr>
        <p:cNvPr id="1" name=""/>
        <p:cNvGrpSpPr/>
        <p:nvPr/>
      </p:nvGrpSpPr>
      <p:grpSpPr>
        <a:xfrm>
          <a:off x="0" y="0"/>
          <a:ext cx="0" cy="0"/>
          <a:chOff x="0" y="0"/>
          <a:chExt cx="0" cy="0"/>
        </a:xfrm>
      </p:grpSpPr>
      <p:sp>
        <p:nvSpPr>
          <p:cNvPr id="2" name="Shape 0"/>
          <p:cNvSpPr/>
          <p:nvPr/>
        </p:nvSpPr>
        <p:spPr>
          <a:xfrm>
            <a:off x="6217920" y="-731520"/>
            <a:ext cx="3657600" cy="3657600"/>
          </a:xfrm>
          <a:prstGeom prst="ellipse">
            <a:avLst/>
          </a:prstGeom>
          <a:solidFill>
            <a:srgbClr val="5B4FCF">
              <a:alpha val="40000"/>
            </a:srgbClr>
          </a:solidFill>
          <a:ln w="12700">
            <a:solidFill>
              <a:srgbClr val="5B4FCF">
                <a:alpha val="40000"/>
              </a:srgbClr>
            </a:solidFill>
            <a:prstDash val="solid"/>
          </a:ln>
        </p:spPr>
      </p:sp>
      <p:sp>
        <p:nvSpPr>
          <p:cNvPr id="3" name="Shape 1"/>
          <p:cNvSpPr/>
          <p:nvPr/>
        </p:nvSpPr>
        <p:spPr>
          <a:xfrm>
            <a:off x="-457200" y="3474720"/>
            <a:ext cx="2743200" cy="2743200"/>
          </a:xfrm>
          <a:prstGeom prst="ellipse">
            <a:avLst/>
          </a:prstGeom>
          <a:solidFill>
            <a:srgbClr val="F96167">
              <a:alpha val="30000"/>
            </a:srgbClr>
          </a:solidFill>
          <a:ln w="12700">
            <a:solidFill>
              <a:srgbClr val="F96167">
                <a:alpha val="30000"/>
              </a:srgbClr>
            </a:solidFill>
            <a:prstDash val="solid"/>
          </a:ln>
        </p:spPr>
      </p:sp>
      <p:sp>
        <p:nvSpPr>
          <p:cNvPr id="4" name="Text 2"/>
          <p:cNvSpPr/>
          <p:nvPr/>
        </p:nvSpPr>
        <p:spPr>
          <a:xfrm>
            <a:off x="914400" y="1188720"/>
            <a:ext cx="7315200" cy="1097280"/>
          </a:xfrm>
          <a:prstGeom prst="rect">
            <a:avLst/>
          </a:prstGeom>
          <a:noFill/>
          <a:ln/>
        </p:spPr>
        <p:txBody>
          <a:bodyPr wrap="square"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Terima Kasih</a:t>
            </a:r>
            <a:endParaRPr lang="en-US" sz="5200" dirty="0"/>
          </a:p>
        </p:txBody>
      </p:sp>
      <p:sp>
        <p:nvSpPr>
          <p:cNvPr id="5" name="Text 3"/>
          <p:cNvSpPr/>
          <p:nvPr/>
        </p:nvSpPr>
        <p:spPr>
          <a:xfrm>
            <a:off x="914400" y="2331720"/>
            <a:ext cx="7315200" cy="457200"/>
          </a:xfrm>
          <a:prstGeom prst="rect">
            <a:avLst/>
          </a:prstGeom>
          <a:noFill/>
          <a:ln/>
        </p:spPr>
        <p:txBody>
          <a:bodyPr wrap="square" rtlCol="0" anchor="ctr"/>
          <a:lstStyle/>
          <a:p>
            <a:pPr marL="0" indent="0" algn="ctr">
              <a:buNone/>
            </a:pPr>
            <a:r>
              <a:rPr lang="en-US" sz="1400" dirty="0">
                <a:solidFill>
                  <a:srgbClr val="BBAAEE"/>
                </a:solidFill>
                <a:latin typeface="Calibri Light" pitchFamily="34" charset="0"/>
                <a:ea typeface="Calibri Light" pitchFamily="34" charset="-122"/>
                <a:cs typeface="Calibri Light" pitchFamily="34" charset="-120"/>
              </a:rPr>
              <a:t>Media Layanan "Roda Kendali" </a:t>
            </a:r>
            <a:r>
              <a:rPr lang="en-US" sz="1400" dirty="0" err="1">
                <a:solidFill>
                  <a:srgbClr val="BBAAEE"/>
                </a:solidFill>
                <a:latin typeface="Calibri Light" pitchFamily="34" charset="0"/>
                <a:ea typeface="Calibri Light" pitchFamily="34" charset="-122"/>
                <a:cs typeface="Calibri Light" pitchFamily="34" charset="-120"/>
              </a:rPr>
              <a:t>Untuk</a:t>
            </a:r>
            <a:r>
              <a:rPr lang="en-US" sz="1400" dirty="0">
                <a:solidFill>
                  <a:srgbClr val="BBAAEE"/>
                </a:solidFill>
                <a:latin typeface="Calibri Light" pitchFamily="34" charset="0"/>
                <a:ea typeface="Calibri Light" pitchFamily="34" charset="-122"/>
                <a:cs typeface="Calibri Light" pitchFamily="34" charset="-120"/>
              </a:rPr>
              <a:t> Regulasi Diri yang Lebih Baik</a:t>
            </a:r>
            <a:endParaRPr lang="en-US" sz="1400" dirty="0"/>
          </a:p>
        </p:txBody>
      </p:sp>
      <p:sp>
        <p:nvSpPr>
          <p:cNvPr id="6" name="Shape 4"/>
          <p:cNvSpPr/>
          <p:nvPr/>
        </p:nvSpPr>
        <p:spPr>
          <a:xfrm>
            <a:off x="3200400" y="2926080"/>
            <a:ext cx="2743200" cy="45720"/>
          </a:xfrm>
          <a:prstGeom prst="rect">
            <a:avLst/>
          </a:prstGeom>
          <a:solidFill>
            <a:srgbClr val="F96167"/>
          </a:solidFill>
          <a:ln w="12700">
            <a:solidFill>
              <a:srgbClr val="F96167"/>
            </a:solidFill>
            <a:prstDash val="solid"/>
          </a:ln>
        </p:spPr>
      </p:sp>
      <p:sp>
        <p:nvSpPr>
          <p:cNvPr id="7" name="Text 5"/>
          <p:cNvSpPr/>
          <p:nvPr/>
        </p:nvSpPr>
        <p:spPr>
          <a:xfrm>
            <a:off x="914400" y="3154680"/>
            <a:ext cx="7315200" cy="320040"/>
          </a:xfrm>
          <a:prstGeom prst="rect">
            <a:avLst/>
          </a:prstGeom>
          <a:noFill/>
          <a:ln/>
        </p:spPr>
        <p:txBody>
          <a:bodyPr wrap="square" rtlCol="0" anchor="ctr"/>
          <a:lstStyle/>
          <a:p>
            <a:pPr marL="0" indent="0" algn="ctr">
              <a:buNone/>
            </a:pPr>
            <a:r>
              <a:rPr lang="en-US" sz="1100" dirty="0">
                <a:solidFill>
                  <a:srgbClr val="AAAACC"/>
                </a:solidFill>
                <a:latin typeface="Calibri Light" pitchFamily="34" charset="0"/>
                <a:ea typeface="Calibri Light" pitchFamily="34" charset="-122"/>
                <a:cs typeface="Calibri Light" pitchFamily="34" charset="-120"/>
              </a:rPr>
              <a:t>Kelompok 1 | Program Studi Bimbingan dan Konseling</a:t>
            </a:r>
            <a:endParaRPr lang="en-US" sz="1100" dirty="0"/>
          </a:p>
        </p:txBody>
      </p:sp>
      <p:sp>
        <p:nvSpPr>
          <p:cNvPr id="8" name="Shape 6"/>
          <p:cNvSpPr/>
          <p:nvPr/>
        </p:nvSpPr>
        <p:spPr>
          <a:xfrm>
            <a:off x="2926080" y="3657600"/>
            <a:ext cx="3291840" cy="1097280"/>
          </a:xfrm>
          <a:prstGeom prst="roundRect">
            <a:avLst>
              <a:gd name="adj" fmla="val 8333"/>
            </a:avLst>
          </a:prstGeom>
          <a:solidFill>
            <a:srgbClr val="C8C8C8">
              <a:alpha val="45000"/>
            </a:srgbClr>
          </a:solidFill>
          <a:ln w="12700">
            <a:solidFill>
              <a:srgbClr val="888888"/>
            </a:solidFill>
            <a:prstDash val="solid"/>
          </a:ln>
        </p:spPr>
      </p:sp>
      <p:sp>
        <p:nvSpPr>
          <p:cNvPr id="9" name="Text 7"/>
          <p:cNvSpPr/>
          <p:nvPr/>
        </p:nvSpPr>
        <p:spPr>
          <a:xfrm>
            <a:off x="2926080" y="3657600"/>
            <a:ext cx="3291840" cy="1097280"/>
          </a:xfrm>
          <a:prstGeom prst="rect">
            <a:avLst/>
          </a:prstGeom>
          <a:noFill/>
          <a:ln/>
        </p:spPr>
        <p:txBody>
          <a:bodyPr wrap="square" rtlCol="0" anchor="ctr"/>
          <a:lstStyle/>
          <a:p>
            <a:pPr marL="0" indent="0" algn="ctr">
              <a:buNone/>
            </a:pPr>
            <a:r>
              <a:rPr lang="en-US" sz="950" dirty="0">
                <a:solidFill>
                  <a:srgbClr val="888888"/>
                </a:solidFill>
              </a:rPr>
              <a:t>📷  Foto Kelompok / Dokumentasi Kegiatan</a:t>
            </a:r>
            <a:endParaRPr lang="en-US" sz="950" dirty="0"/>
          </a:p>
        </p:txBody>
      </p:sp>
      <p:pic>
        <p:nvPicPr>
          <p:cNvPr id="11" name="Gambar 10">
            <a:extLst>
              <a:ext uri="{FF2B5EF4-FFF2-40B4-BE49-F238E27FC236}">
                <a16:creationId xmlns:a16="http://schemas.microsoft.com/office/drawing/2014/main" id="{6CADABB8-2389-4A98-0CA1-A489A852A310}"/>
              </a:ext>
            </a:extLst>
          </p:cNvPr>
          <p:cNvPicPr>
            <a:picLocks noChangeAspect="1"/>
          </p:cNvPicPr>
          <p:nvPr/>
        </p:nvPicPr>
        <p:blipFill>
          <a:blip r:embed="rId3"/>
          <a:srcRect l="185" t="30937" r="3687"/>
          <a:stretch>
            <a:fillRect/>
          </a:stretch>
        </p:blipFill>
        <p:spPr>
          <a:xfrm>
            <a:off x="2926080" y="3561486"/>
            <a:ext cx="3350362" cy="128483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1128</Words>
  <Application>Microsoft Office PowerPoint</Application>
  <PresentationFormat>Peragaan Layar (16:9)</PresentationFormat>
  <Paragraphs>179</Paragraphs>
  <Slides>12</Slides>
  <Notes>12</Notes>
  <HiddenSlides>0</HiddenSlides>
  <MMClips>0</MMClips>
  <ScaleCrop>false</ScaleCrop>
  <HeadingPairs>
    <vt:vector size="6" baseType="variant">
      <vt:variant>
        <vt:lpstr>Font Dipakai</vt:lpstr>
      </vt:variant>
      <vt:variant>
        <vt:i4>3</vt:i4>
      </vt:variant>
      <vt:variant>
        <vt:lpstr>Tema</vt:lpstr>
      </vt:variant>
      <vt:variant>
        <vt:i4>1</vt:i4>
      </vt:variant>
      <vt:variant>
        <vt:lpstr>Judul Slide</vt:lpstr>
      </vt:variant>
      <vt:variant>
        <vt:i4>12</vt:i4>
      </vt:variant>
    </vt:vector>
  </HeadingPairs>
  <TitlesOfParts>
    <vt:vector size="16" baseType="lpstr">
      <vt:lpstr>Arial</vt:lpstr>
      <vt:lpstr>Calibri</vt:lpstr>
      <vt:lpstr>Calibri Light</vt:lpstr>
      <vt:lpstr>Office Theme</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lpstr>Presentasi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 Layanan Roda Kendali</dc:title>
  <dc:subject>PptxGenJS Presentation</dc:subject>
  <dc:creator>Fahira Firzha Wianda</dc:creator>
  <cp:lastModifiedBy>LIA FAZRIAWATI</cp:lastModifiedBy>
  <cp:revision>3</cp:revision>
  <dcterms:created xsi:type="dcterms:W3CDTF">2026-05-29T03:34:32Z</dcterms:created>
  <dcterms:modified xsi:type="dcterms:W3CDTF">2026-05-29T14:40:28Z</dcterms:modified>
</cp:coreProperties>
</file>