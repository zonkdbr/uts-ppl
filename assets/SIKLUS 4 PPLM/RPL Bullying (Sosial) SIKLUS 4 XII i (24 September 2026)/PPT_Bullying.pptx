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614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114800"/>
            <a:ext cx="4572000" cy="4572000"/>
          </a:xfrm>
          <a:prstGeom prst="ellipse">
            <a:avLst/>
          </a:prstGeom>
          <a:solidFill>
            <a:srgbClr val="E4572E">
              <a:alpha val="2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DAN KONSELING  •  BIDANG SOSIAL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dan Mencegah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Perilaku Bullying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(Perundungan) di Lingkungan Sekolah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28016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Dasar  |  Fungsi: Pemahaman dan Pencegahan  |  1 x 45 menit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</a:t>
            </a:r>
            <a:endParaRPr lang="en-US" sz="32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Bullying?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663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4846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ini bisa terjadi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siapa saja, kapan saja.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731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(perundungan) adalah tindakan agresif yang dilakukan secara sengaja dan berulang-ulang oleh seseorang atau sekelompok orang yang memiliki kekuatan lebih besar terhadap orang lain yang dianggap lebih lemah.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283464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306324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77840" y="2926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Disengaja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3246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Dilakukan dengan sadar untuk menyakiti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93192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41605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77840" y="40233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Berulang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4343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lebih dari satu kali, bukan insiden tunggal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50292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525780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77840" y="5120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ketimpangan kekuatan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5440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Pelaku merasa lebih kuat/berkuasa dari korban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dan Mencegah Perilaku Bullying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Jenis-jenis Bullying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353312" y="20574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53312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FISIK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21579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Memukul, mendorong, menendang, merusak barang milik korban.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4169664" y="2057400"/>
            <a:ext cx="1005840" cy="100584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69664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32461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749040"/>
            <a:ext cx="21579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Mengejek, menghina, memberi julukan buruk, mengancam.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986016" y="205740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86016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32461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SOSIAL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749040"/>
            <a:ext cx="21579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Mengucilkan, menyebarkan gosip, memanipulasi pertemanan.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97696" y="1737360"/>
            <a:ext cx="2615184" cy="4206240"/>
          </a:xfrm>
          <a:prstGeom prst="roundRect">
            <a:avLst>
              <a:gd name="adj" fmla="val 3497"/>
            </a:avLst>
          </a:prstGeom>
          <a:solidFill>
            <a:srgbClr val="F4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802368" y="2057400"/>
            <a:ext cx="1005840" cy="1005840"/>
          </a:xfrm>
          <a:prstGeom prst="ellipse">
            <a:avLst/>
          </a:prstGeom>
          <a:solidFill>
            <a:srgbClr val="5C4A9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02368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134856" y="32461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749040"/>
            <a:ext cx="21579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Menghina/mengancam lewat media sosial atau pesan daring.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dan Mencegah Perilaku Bullying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Pelaku, Korban, dan Saksi (Bystander)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09728" cy="14173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Pelaku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90195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Cenderung ingin mendominasi, kurang berempati, mencari pengakuan atau kekuasaan atas orang lain.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37560"/>
            <a:ext cx="10972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50215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Korban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50215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merasa cemas, menyendiri, prestasi belajarnya menurun, dan enggan pergi ke sekolah.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937760"/>
            <a:ext cx="109728" cy="141732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10235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Saksi (Bystander)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510235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 kejadian namun memilih diam atau ikut-ikutan — meski ada juga yang berani membela korban.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dan Mencegah Perilaku Bullying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A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Bullying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9312" cy="4206240"/>
          </a:xfrm>
          <a:prstGeom prst="roundRect">
            <a:avLst>
              <a:gd name="adj" fmla="val 2513"/>
            </a:avLst>
          </a:prstGeom>
          <a:solidFill>
            <a:srgbClr val="1F446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Bagi Korban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psikologis, rasa takut, rendah diri, prestasi menurun, hingga menghindari sekolah.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43984" y="1737360"/>
            <a:ext cx="3639312" cy="4206240"/>
          </a:xfrm>
          <a:prstGeom prst="roundRect">
            <a:avLst>
              <a:gd name="adj" fmla="val 2513"/>
            </a:avLst>
          </a:prstGeom>
          <a:solidFill>
            <a:srgbClr val="1F4460"/>
          </a:solidFill>
          <a:ln/>
        </p:spPr>
      </p:sp>
      <p:sp>
        <p:nvSpPr>
          <p:cNvPr id="10" name="Shape 8"/>
          <p:cNvSpPr/>
          <p:nvPr/>
        </p:nvSpPr>
        <p:spPr>
          <a:xfrm>
            <a:off x="4764024" y="210312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402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64024" y="29718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Bagi Pelaku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3657600"/>
            <a:ext cx="2999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Berisiko mengembangkan pola perilaku agresif yang menetap dan menerima sanksi sekolah.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39328" y="1737360"/>
            <a:ext cx="3639312" cy="4206240"/>
          </a:xfrm>
          <a:prstGeom prst="roundRect">
            <a:avLst>
              <a:gd name="adj" fmla="val 2513"/>
            </a:avLst>
          </a:prstGeom>
          <a:solidFill>
            <a:srgbClr val="1F4460"/>
          </a:solidFill>
          <a:ln/>
        </p:spPr>
      </p:sp>
      <p:sp>
        <p:nvSpPr>
          <p:cNvPr id="15" name="Shape 13"/>
          <p:cNvSpPr/>
          <p:nvPr/>
        </p:nvSpPr>
        <p:spPr>
          <a:xfrm>
            <a:off x="8659368" y="210312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5936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59368" y="29718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Bagi Lingkungan Sekolah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59368" y="3657600"/>
            <a:ext cx="2999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Suasana belajar tidak nyaman dan hubungan antarsiswa menjadi kurang harmonis.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dan Mencegah Perilaku Bullying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Mencegah dan Menghadapi Bullying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sikap saling menghargai dan berempati terhadap sesama teman.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328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Berani melapor kepada Guru BK, wali kelas, atau orang tua jika mengalami atau menyaksikan bullying.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015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diam ketika melihat bullying terjadi — menjadi upstander (pembela), bukan bystander pasif.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70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Menjalin pertemanan yang sehat dan saling mendukung.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389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Sekolah membangun aturan anti-bullying serta sosialisasi secara rutin.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dan Mencegah Perilaku Bullying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5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Jadilah Upstander,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Bukan Bystander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 saat melihat bullying membiarkannya terus terjadi. Beranilah bersuara, membela, dan melaporkan — satu tindakan kecilmu bisa menyelamatkan hari seseorang.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9601200" cy="1280160"/>
          </a:xfrm>
          <a:prstGeom prst="roundRect">
            <a:avLst>
              <a:gd name="adj" fmla="val 7143"/>
            </a:avLst>
          </a:prstGeom>
          <a:solidFill>
            <a:srgbClr val="C245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484632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"Aku berani bersikap, karena diam bukan pilihan yang aman bagi teman yang membutuhkan bantuan."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dan Mencegah Perilaku Bullying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Saatnya Beraksi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lanjutkan dengan diskusi kelompok dan pengerjaan LKPD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F446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306324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434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Simak dan diskusikan kasus bullying di sekolah bersama kelompokmu.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27432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F4460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306324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LKPD Aksi Anti-Bullying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434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lembar kerja "Aksi Anti-Bullying" secara individu/kelompok.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7432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F446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306324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Surat Komitmen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434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rencana aksi dan komitmenmu untuk mencegah bullying.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Bersama kita ciptakan sekolah yang ramah dan bebas dari bullying.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Layar Lebar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LIA FAZRIAWATI</cp:lastModifiedBy>
  <cp:revision>1</cp:revision>
  <dcterms:created xsi:type="dcterms:W3CDTF">2026-09-23T09:29:12Z</dcterms:created>
  <dcterms:modified xsi:type="dcterms:W3CDTF">2026-09-24T06:51:55Z</dcterms:modified>
</cp:coreProperties>
</file>