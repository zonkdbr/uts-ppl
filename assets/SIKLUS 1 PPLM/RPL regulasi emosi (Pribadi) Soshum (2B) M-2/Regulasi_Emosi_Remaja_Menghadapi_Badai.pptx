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3D3163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3D316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22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LAYANAN BK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Menghadapi Badai Emosi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Regulasi Emosi pada Remaja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8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mengenali, memahami, dan mengelola emosi — supaya kita tetap tenang saat menghadapi badai kehidupan.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257800"/>
            <a:ext cx="868680" cy="868680"/>
          </a:xfrm>
          <a:prstGeom prst="ellipse">
            <a:avLst/>
          </a:prstGeom>
          <a:solidFill>
            <a:srgbClr val="3D316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440680"/>
            <a:ext cx="502920" cy="5029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965960" y="5257800"/>
            <a:ext cx="868680" cy="868680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5440680"/>
            <a:ext cx="502920" cy="5029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108960" y="5257800"/>
            <a:ext cx="868680" cy="868680"/>
          </a:xfrm>
          <a:prstGeom prst="ellipse">
            <a:avLst/>
          </a:prstGeom>
          <a:solidFill>
            <a:srgbClr val="4FB6B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54406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MENGENAL DIRI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Emosi?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Emosi adalah bagian yang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terpisahkan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dari kehidupan manusia, termasuk pada masa remaja. Emosi bukanlah sesuatu yang baik atau buruk — melainkan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yang memberi informasi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tentang apa yang sedang terjadi dalam diri seseorang.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5943600" cy="1600200"/>
          </a:xfrm>
          <a:prstGeom prst="roundRect">
            <a:avLst>
              <a:gd name="adj" fmla="val 8000"/>
            </a:avLst>
          </a:prstGeom>
          <a:solidFill>
            <a:srgbClr val="E9F7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703320"/>
            <a:ext cx="5349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2B2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penting bukan menghilangkan emosi, tapi belajar mengenali, memahami, dan mengelolanya agar bisa diekspresikan dengan cara yang tepat.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68312" y="1897380"/>
            <a:ext cx="640080" cy="640080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16" y="204368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18120" y="1600200"/>
            <a:ext cx="1325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400032" y="160020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564624" y="1897380"/>
            <a:ext cx="640080" cy="640080"/>
          </a:xfrm>
          <a:prstGeom prst="ellipse">
            <a:avLst/>
          </a:prstGeom>
          <a:solidFill>
            <a:srgbClr val="4FB6B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204368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314432" y="1600200"/>
            <a:ext cx="1325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Sedih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903720" y="2999232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68312" y="3296412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344271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18120" y="2999232"/>
            <a:ext cx="1325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Malu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9400032" y="2999232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64624" y="3296412"/>
            <a:ext cx="640080" cy="640080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28" y="3442716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314432" y="2999232"/>
            <a:ext cx="1325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Bangga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903720" y="4398264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068312" y="4695444"/>
            <a:ext cx="640080" cy="640080"/>
          </a:xfrm>
          <a:prstGeom prst="ellipse">
            <a:avLst/>
          </a:prstGeom>
          <a:solidFill>
            <a:srgbClr val="4FB6B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16" y="4841748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818120" y="4398264"/>
            <a:ext cx="1325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Marah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9400032" y="4398264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9564624" y="4695444"/>
            <a:ext cx="640080" cy="64008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0928" y="4841748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314432" y="4398264"/>
            <a:ext cx="1325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Cemas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KONTEKS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Remaja dan Gejolak Emosi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remaja ditandai berbagai perubahan fisik, kognitif, sosial, dan emosional. Berbagai tuntutan di bawah ini bisa memicu emosi yang kuat: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48256" cy="2286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4148" y="2606040"/>
            <a:ext cx="777240" cy="777240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884" y="277977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566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Tekanan Akademik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79776" y="2331720"/>
            <a:ext cx="2048256" cy="2286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5284" y="2606040"/>
            <a:ext cx="777240" cy="777240"/>
          </a:xfrm>
          <a:prstGeom prst="ellipse">
            <a:avLst/>
          </a:prstGeom>
          <a:solidFill>
            <a:srgbClr val="4FB6B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2779776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9504" y="3566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Teman Sebaya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10912" y="2331720"/>
            <a:ext cx="2048256" cy="2286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46420" y="2606040"/>
            <a:ext cx="777240" cy="77724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156" y="2779776"/>
            <a:ext cx="429768" cy="4297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20640" y="3566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 Keluarga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242048" y="2331720"/>
            <a:ext cx="2048256" cy="2286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77556" y="2606040"/>
            <a:ext cx="777240" cy="777240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292" y="2779776"/>
            <a:ext cx="429768" cy="4297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51776" y="3566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 Identitas Diri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9473184" y="2331720"/>
            <a:ext cx="2048256" cy="2286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108692" y="2606040"/>
            <a:ext cx="777240" cy="777240"/>
          </a:xfrm>
          <a:prstGeom prst="ellipse">
            <a:avLst/>
          </a:prstGeom>
          <a:solidFill>
            <a:srgbClr val="4FB6B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2428" y="2779776"/>
            <a:ext cx="429768" cy="4297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582912" y="3566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Kekhawatiran Masa Depan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48640" y="4983480"/>
            <a:ext cx="11064240" cy="1170432"/>
          </a:xfrm>
          <a:prstGeom prst="roundRect">
            <a:avLst>
              <a:gd name="adj" fmla="val 10938"/>
            </a:avLst>
          </a:prstGeom>
          <a:solidFill>
            <a:srgbClr val="2B2245"/>
          </a:solidFill>
          <a:ln/>
        </p:spPr>
      </p:sp>
      <p:sp>
        <p:nvSpPr>
          <p:cNvPr id="26" name="Text 19"/>
          <p:cNvSpPr/>
          <p:nvPr/>
        </p:nvSpPr>
        <p:spPr>
          <a:xfrm>
            <a:off x="868680" y="4983480"/>
            <a:ext cx="104241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Kata WHO: </a:t>
            </a:r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mengelola emosi, menghadapi stres, memecahkan masalah, dan membangun hubungan sehat adalah keterampilan penting yang perlu dikembangkan remaja.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KONSEP KUNCI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Regulasi Emosi?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480560"/>
          </a:xfrm>
          <a:prstGeom prst="roundRect">
            <a:avLst>
              <a:gd name="adj" fmla="val 3265"/>
            </a:avLst>
          </a:prstGeom>
          <a:solidFill>
            <a:srgbClr val="FFEDE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7627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03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Menurut Gross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Regulasi emosi mencakup proses yang digunakan seseorang untuk memengaruhi emosi yang dirasakan, kapan emosi itu muncul, serta bagaimana emosi dialami dan diekspresikan.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4434840"/>
            <a:ext cx="5852160" cy="0"/>
          </a:xfrm>
          <a:prstGeom prst="line">
            <a:avLst/>
          </a:prstGeom>
          <a:noFill/>
          <a:ln w="19050">
            <a:solidFill>
              <a:srgbClr val="F3C9C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617720"/>
            <a:ext cx="5852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Regulasi emosi 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berarti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harus selalu tenang atau tidak boleh marah, sedih, maupun kecewa — melainkan mampu 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jeda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memahami apa yang dirasakan, lalu memilih respons yang sesuai situasi.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315200" y="17830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Manfaatnya bagi remaja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315200" y="2331720"/>
            <a:ext cx="43434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4F2F1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16368" y="2560320"/>
            <a:ext cx="640080" cy="640080"/>
          </a:xfrm>
          <a:prstGeom prst="ellipse">
            <a:avLst/>
          </a:prstGeom>
          <a:solidFill>
            <a:srgbClr val="4FB6B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270662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21040" y="23317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Mengendalikan perilaku impulsif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7315200" y="3630168"/>
            <a:ext cx="43434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4F2F1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516368" y="3858768"/>
            <a:ext cx="640080" cy="640080"/>
          </a:xfrm>
          <a:prstGeom prst="ellipse">
            <a:avLst/>
          </a:prstGeom>
          <a:solidFill>
            <a:srgbClr val="4FB6B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400507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3630168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siap menghadapi tekanan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7315200" y="4928616"/>
            <a:ext cx="43434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4F2F1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16368" y="5157216"/>
            <a:ext cx="640080" cy="640080"/>
          </a:xfrm>
          <a:prstGeom prst="ellipse">
            <a:avLst/>
          </a:prstGeom>
          <a:solidFill>
            <a:srgbClr val="4FB6B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530352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21040" y="4928616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keputusan lebih bijak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KESADARAN DIRI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"Badai Emosi"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mengelola emosi, kenali dulu lima hal ini yang terjadi dalam sebuah "badai emosi":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874520" cy="310896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31720"/>
            <a:ext cx="1874520" cy="320040"/>
          </a:xfrm>
          <a:prstGeom prst="roundRect">
            <a:avLst>
              <a:gd name="adj" fmla="val 40000"/>
            </a:avLst>
          </a:prstGeom>
          <a:solidFill>
            <a:srgbClr val="2B224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96312"/>
            <a:ext cx="1874520" cy="155448"/>
          </a:xfrm>
          <a:prstGeom prst="rect">
            <a:avLst/>
          </a:prstGeom>
          <a:solidFill>
            <a:srgbClr val="2B224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6716" y="2834640"/>
            <a:ext cx="658368" cy="658368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2980944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" y="3630168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Pemicu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02336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Peristiwa penyebab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munculnya emosi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414016" y="3749040"/>
            <a:ext cx="274320" cy="274320"/>
          </a:xfrm>
          <a:prstGeom prst="ellipse">
            <a:avLst/>
          </a:prstGeom>
          <a:solidFill>
            <a:srgbClr val="2B2245"/>
          </a:solidFill>
          <a:ln/>
        </p:spPr>
      </p:sp>
      <p:sp>
        <p:nvSpPr>
          <p:cNvPr id="14" name="Text 11"/>
          <p:cNvSpPr/>
          <p:nvPr/>
        </p:nvSpPr>
        <p:spPr>
          <a:xfrm>
            <a:off x="2414016" y="3739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79192" y="2331720"/>
            <a:ext cx="1874520" cy="310896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679192" y="2331720"/>
            <a:ext cx="1874520" cy="320040"/>
          </a:xfrm>
          <a:prstGeom prst="roundRect">
            <a:avLst>
              <a:gd name="adj" fmla="val 40000"/>
            </a:avLst>
          </a:prstGeom>
          <a:solidFill>
            <a:srgbClr val="2B2245"/>
          </a:solidFill>
          <a:ln/>
        </p:spPr>
      </p:sp>
      <p:sp>
        <p:nvSpPr>
          <p:cNvPr id="17" name="Shape 14"/>
          <p:cNvSpPr/>
          <p:nvPr/>
        </p:nvSpPr>
        <p:spPr>
          <a:xfrm>
            <a:off x="2679192" y="2496312"/>
            <a:ext cx="1874520" cy="155448"/>
          </a:xfrm>
          <a:prstGeom prst="rect">
            <a:avLst/>
          </a:prstGeom>
          <a:solidFill>
            <a:srgbClr val="2B2245"/>
          </a:solidFill>
          <a:ln/>
        </p:spPr>
      </p:sp>
      <p:sp>
        <p:nvSpPr>
          <p:cNvPr id="18" name="Text 15"/>
          <p:cNvSpPr/>
          <p:nvPr/>
        </p:nvSpPr>
        <p:spPr>
          <a:xfrm>
            <a:off x="2679192" y="23317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87268" y="2834640"/>
            <a:ext cx="658368" cy="658368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572" y="2980944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752344" y="3630168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Pikiran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2770632" y="402336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"Aku tidak mampu",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"Tidak ada yang mengerti"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544568" y="3749040"/>
            <a:ext cx="274320" cy="274320"/>
          </a:xfrm>
          <a:prstGeom prst="ellipse">
            <a:avLst/>
          </a:prstGeom>
          <a:solidFill>
            <a:srgbClr val="2B2245"/>
          </a:solidFill>
          <a:ln/>
        </p:spPr>
      </p:sp>
      <p:sp>
        <p:nvSpPr>
          <p:cNvPr id="24" name="Text 20"/>
          <p:cNvSpPr/>
          <p:nvPr/>
        </p:nvSpPr>
        <p:spPr>
          <a:xfrm>
            <a:off x="4544568" y="3739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809744" y="2331720"/>
            <a:ext cx="1874520" cy="310896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809744" y="2331720"/>
            <a:ext cx="1874520" cy="320040"/>
          </a:xfrm>
          <a:prstGeom prst="roundRect">
            <a:avLst>
              <a:gd name="adj" fmla="val 40000"/>
            </a:avLst>
          </a:prstGeom>
          <a:solidFill>
            <a:srgbClr val="2B2245"/>
          </a:solidFill>
          <a:ln/>
        </p:spPr>
      </p:sp>
      <p:sp>
        <p:nvSpPr>
          <p:cNvPr id="27" name="Shape 23"/>
          <p:cNvSpPr/>
          <p:nvPr/>
        </p:nvSpPr>
        <p:spPr>
          <a:xfrm>
            <a:off x="4809744" y="2496312"/>
            <a:ext cx="1874520" cy="155448"/>
          </a:xfrm>
          <a:prstGeom prst="rect">
            <a:avLst/>
          </a:prstGeom>
          <a:solidFill>
            <a:srgbClr val="2B2245"/>
          </a:solidFill>
          <a:ln/>
        </p:spPr>
      </p:sp>
      <p:sp>
        <p:nvSpPr>
          <p:cNvPr id="28" name="Text 24"/>
          <p:cNvSpPr/>
          <p:nvPr/>
        </p:nvSpPr>
        <p:spPr>
          <a:xfrm>
            <a:off x="4809744" y="23317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417820" y="2834640"/>
            <a:ext cx="658368" cy="658368"/>
          </a:xfrm>
          <a:prstGeom prst="ellipse">
            <a:avLst/>
          </a:prstGeom>
          <a:solidFill>
            <a:srgbClr val="4FB6B0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124" y="2980944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882896" y="3630168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Perasaan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4901184" y="402336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Marah, sedih, kecewa,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malu, atau cemas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675120" y="3749040"/>
            <a:ext cx="274320" cy="274320"/>
          </a:xfrm>
          <a:prstGeom prst="ellipse">
            <a:avLst/>
          </a:prstGeom>
          <a:solidFill>
            <a:srgbClr val="2B2245"/>
          </a:solidFill>
          <a:ln/>
        </p:spPr>
      </p:sp>
      <p:sp>
        <p:nvSpPr>
          <p:cNvPr id="34" name="Text 29"/>
          <p:cNvSpPr/>
          <p:nvPr/>
        </p:nvSpPr>
        <p:spPr>
          <a:xfrm>
            <a:off x="6675120" y="3739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940296" y="2331720"/>
            <a:ext cx="1874520" cy="310896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940296" y="2331720"/>
            <a:ext cx="1874520" cy="320040"/>
          </a:xfrm>
          <a:prstGeom prst="roundRect">
            <a:avLst>
              <a:gd name="adj" fmla="val 40000"/>
            </a:avLst>
          </a:prstGeom>
          <a:solidFill>
            <a:srgbClr val="2B2245"/>
          </a:solidFill>
          <a:ln/>
        </p:spPr>
      </p:sp>
      <p:sp>
        <p:nvSpPr>
          <p:cNvPr id="37" name="Shape 32"/>
          <p:cNvSpPr/>
          <p:nvPr/>
        </p:nvSpPr>
        <p:spPr>
          <a:xfrm>
            <a:off x="6940296" y="2496312"/>
            <a:ext cx="1874520" cy="155448"/>
          </a:xfrm>
          <a:prstGeom prst="rect">
            <a:avLst/>
          </a:prstGeom>
          <a:solidFill>
            <a:srgbClr val="2B2245"/>
          </a:solidFill>
          <a:ln/>
        </p:spPr>
      </p:sp>
      <p:sp>
        <p:nvSpPr>
          <p:cNvPr id="38" name="Text 33"/>
          <p:cNvSpPr/>
          <p:nvPr/>
        </p:nvSpPr>
        <p:spPr>
          <a:xfrm>
            <a:off x="6940296" y="23317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7548372" y="2834640"/>
            <a:ext cx="658368" cy="658368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676" y="2980944"/>
            <a:ext cx="365760" cy="36576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013448" y="3630168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Tubuh</a:t>
            </a:r>
            <a:endParaRPr lang="en-US" sz="1400" dirty="0"/>
          </a:p>
        </p:txBody>
      </p:sp>
      <p:sp>
        <p:nvSpPr>
          <p:cNvPr id="42" name="Text 36"/>
          <p:cNvSpPr/>
          <p:nvPr/>
        </p:nvSpPr>
        <p:spPr>
          <a:xfrm>
            <a:off x="7031736" y="402336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Jantung berdebar,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tubuh tegang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8805672" y="3749040"/>
            <a:ext cx="274320" cy="274320"/>
          </a:xfrm>
          <a:prstGeom prst="ellipse">
            <a:avLst/>
          </a:prstGeom>
          <a:solidFill>
            <a:srgbClr val="2B2245"/>
          </a:solidFill>
          <a:ln/>
        </p:spPr>
      </p:sp>
      <p:sp>
        <p:nvSpPr>
          <p:cNvPr id="44" name="Text 38"/>
          <p:cNvSpPr/>
          <p:nvPr/>
        </p:nvSpPr>
        <p:spPr>
          <a:xfrm>
            <a:off x="8805672" y="3739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9070848" y="2331720"/>
            <a:ext cx="1874520" cy="310896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DEAF6"/>
            </a:solidFill>
            <a:prstDash val="solid"/>
          </a:ln>
          <a:effectLst>
            <a:outerShdw sx="100000" sy="100000" kx="0" ky="0" algn="bl" rotWithShape="0" blurRad="76200" dist="25400" dir="5400000">
              <a:srgbClr val="2B2245">
                <a:alpha val="10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9070848" y="2331720"/>
            <a:ext cx="1874520" cy="320040"/>
          </a:xfrm>
          <a:prstGeom prst="roundRect">
            <a:avLst>
              <a:gd name="adj" fmla="val 40000"/>
            </a:avLst>
          </a:prstGeom>
          <a:solidFill>
            <a:srgbClr val="2B2245"/>
          </a:solidFill>
          <a:ln/>
        </p:spPr>
      </p:sp>
      <p:sp>
        <p:nvSpPr>
          <p:cNvPr id="47" name="Shape 41"/>
          <p:cNvSpPr/>
          <p:nvPr/>
        </p:nvSpPr>
        <p:spPr>
          <a:xfrm>
            <a:off x="9070848" y="2496312"/>
            <a:ext cx="1874520" cy="155448"/>
          </a:xfrm>
          <a:prstGeom prst="rect">
            <a:avLst/>
          </a:prstGeom>
          <a:solidFill>
            <a:srgbClr val="2B2245"/>
          </a:solidFill>
          <a:ln/>
        </p:spPr>
      </p:sp>
      <p:sp>
        <p:nvSpPr>
          <p:cNvPr id="48" name="Text 42"/>
          <p:cNvSpPr/>
          <p:nvPr/>
        </p:nvSpPr>
        <p:spPr>
          <a:xfrm>
            <a:off x="9070848" y="23317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Shape 43"/>
          <p:cNvSpPr/>
          <p:nvPr/>
        </p:nvSpPr>
        <p:spPr>
          <a:xfrm>
            <a:off x="9678924" y="2834640"/>
            <a:ext cx="658368" cy="658368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228" y="2980944"/>
            <a:ext cx="365760" cy="36576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9144000" y="3630168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</a:t>
            </a:r>
            <a:endParaRPr lang="en-US" sz="1400" dirty="0"/>
          </a:p>
        </p:txBody>
      </p:sp>
      <p:sp>
        <p:nvSpPr>
          <p:cNvPr id="52" name="Text 45"/>
          <p:cNvSpPr/>
          <p:nvPr/>
        </p:nvSpPr>
        <p:spPr>
          <a:xfrm>
            <a:off x="9162288" y="402336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Berteriak, menjauh,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terburu-buru</a:t>
            </a:r>
            <a:endParaRPr lang="en-US" sz="1050" dirty="0"/>
          </a:p>
        </p:txBody>
      </p:sp>
      <p:sp>
        <p:nvSpPr>
          <p:cNvPr id="53" name="Text 4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931920"/>
            <a:ext cx="3840480" cy="3840480"/>
          </a:xfrm>
          <a:prstGeom prst="ellipse">
            <a:avLst/>
          </a:prstGeom>
          <a:solidFill>
            <a:srgbClr val="3D316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4FB6B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INTI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STOP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8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keterampilan dari Dialectical Behavior Therapy (DBT) untuk memberi jeda sebelum merespons situasi yang memicu emosi.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606040" cy="3291840"/>
          </a:xfrm>
          <a:prstGeom prst="roundRect">
            <a:avLst>
              <a:gd name="adj" fmla="val 5614"/>
            </a:avLst>
          </a:prstGeom>
          <a:solidFill>
            <a:srgbClr val="3D316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485900" y="3977640"/>
            <a:ext cx="731520" cy="731520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414223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" y="4892040"/>
            <a:ext cx="2386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383280" y="2743200"/>
            <a:ext cx="2606040" cy="3291840"/>
          </a:xfrm>
          <a:prstGeom prst="roundRect">
            <a:avLst>
              <a:gd name="adj" fmla="val 5614"/>
            </a:avLst>
          </a:prstGeom>
          <a:solidFill>
            <a:srgbClr val="3D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28803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5400" dirty="0"/>
          </a:p>
        </p:txBody>
      </p:sp>
      <p:sp>
        <p:nvSpPr>
          <p:cNvPr id="14" name="Shape 11"/>
          <p:cNvSpPr/>
          <p:nvPr/>
        </p:nvSpPr>
        <p:spPr>
          <a:xfrm>
            <a:off x="4320540" y="3977640"/>
            <a:ext cx="731520" cy="73152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414223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93008" y="4892040"/>
            <a:ext cx="2386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Step Back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217920" y="2743200"/>
            <a:ext cx="2606040" cy="3291840"/>
          </a:xfrm>
          <a:prstGeom prst="roundRect">
            <a:avLst>
              <a:gd name="adj" fmla="val 5614"/>
            </a:avLst>
          </a:prstGeom>
          <a:solidFill>
            <a:srgbClr val="3D3163"/>
          </a:solidFill>
          <a:ln/>
        </p:spPr>
      </p:sp>
      <p:sp>
        <p:nvSpPr>
          <p:cNvPr id="18" name="Text 14"/>
          <p:cNvSpPr/>
          <p:nvPr/>
        </p:nvSpPr>
        <p:spPr>
          <a:xfrm>
            <a:off x="6217920" y="28803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FB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5400" dirty="0"/>
          </a:p>
        </p:txBody>
      </p:sp>
      <p:sp>
        <p:nvSpPr>
          <p:cNvPr id="19" name="Shape 15"/>
          <p:cNvSpPr/>
          <p:nvPr/>
        </p:nvSpPr>
        <p:spPr>
          <a:xfrm>
            <a:off x="7155180" y="3977640"/>
            <a:ext cx="731520" cy="731520"/>
          </a:xfrm>
          <a:prstGeom prst="ellipse">
            <a:avLst/>
          </a:prstGeom>
          <a:solidFill>
            <a:srgbClr val="4FB6B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414223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27648" y="4892040"/>
            <a:ext cx="2386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9052560" y="2743200"/>
            <a:ext cx="2606040" cy="3291840"/>
          </a:xfrm>
          <a:prstGeom prst="roundRect">
            <a:avLst>
              <a:gd name="adj" fmla="val 5614"/>
            </a:avLst>
          </a:prstGeom>
          <a:solidFill>
            <a:srgbClr val="3D3163"/>
          </a:solidFill>
          <a:ln/>
        </p:spPr>
      </p:sp>
      <p:sp>
        <p:nvSpPr>
          <p:cNvPr id="23" name="Text 18"/>
          <p:cNvSpPr/>
          <p:nvPr/>
        </p:nvSpPr>
        <p:spPr>
          <a:xfrm>
            <a:off x="9052560" y="28803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5400" dirty="0"/>
          </a:p>
        </p:txBody>
      </p:sp>
      <p:sp>
        <p:nvSpPr>
          <p:cNvPr id="24" name="Shape 19"/>
          <p:cNvSpPr/>
          <p:nvPr/>
        </p:nvSpPr>
        <p:spPr>
          <a:xfrm>
            <a:off x="9989820" y="3977640"/>
            <a:ext cx="731520" cy="731520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412" y="414223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62288" y="4892040"/>
            <a:ext cx="2386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Mindfully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TEKNIK STOP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17320" cy="1417320"/>
          </a:xfrm>
          <a:prstGeom prst="roundRect">
            <a:avLst>
              <a:gd name="adj" fmla="val 14194"/>
            </a:avLst>
          </a:prstGeom>
          <a:solidFill>
            <a:srgbClr val="FF6F5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148840" y="960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48840" y="14813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 dari 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966960" y="868680"/>
            <a:ext cx="1417320" cy="1417320"/>
          </a:xfrm>
          <a:prstGeom prst="ellipse">
            <a:avLst/>
          </a:prstGeom>
          <a:solidFill>
            <a:srgbClr val="FFED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1197864"/>
            <a:ext cx="758952" cy="7589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606040"/>
            <a:ext cx="6675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Berhenti sejenak dan tidak langsung bertindak berdasarkan dorongan emosional. Memberi jeda dapat membantu mencegah tindakan impulsif yang mungkin kemudian disesali.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543800" y="2606040"/>
            <a:ext cx="4114800" cy="3200400"/>
          </a:xfrm>
          <a:prstGeom prst="roundRect">
            <a:avLst>
              <a:gd name="adj" fmla="val 4571"/>
            </a:avLst>
          </a:prstGeom>
          <a:solidFill>
            <a:srgbClr val="FFEDE9"/>
          </a:solidFill>
          <a:ln/>
        </p:spPr>
      </p:sp>
      <p:sp>
        <p:nvSpPr>
          <p:cNvPr id="11" name="Text 8"/>
          <p:cNvSpPr/>
          <p:nvPr/>
        </p:nvSpPr>
        <p:spPr>
          <a:xfrm>
            <a:off x="78181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18120" y="32004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i="1" dirty="0">
                <a:solidFill>
                  <a:srgbClr val="2B2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"Saat sedang marah, aku tidak perlu langsung membalas perkataan teman atau mengirim pesan dalam keadaan emosi."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TEKNIK STOP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17320" cy="1417320"/>
          </a:xfrm>
          <a:prstGeom prst="roundRect">
            <a:avLst>
              <a:gd name="adj" fmla="val 14194"/>
            </a:avLst>
          </a:prstGeom>
          <a:solidFill>
            <a:srgbClr val="FFC8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148840" y="960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Step Back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48840" y="14813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 dari 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966960" y="868680"/>
            <a:ext cx="1417320" cy="1417320"/>
          </a:xfrm>
          <a:prstGeom prst="ellipse">
            <a:avLst/>
          </a:prstGeom>
          <a:solidFill>
            <a:srgbClr val="FFF6E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1197864"/>
            <a:ext cx="758952" cy="7589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606040"/>
            <a:ext cx="6675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jarak sejenak dari situasi yang memicu emosi — tidak harus pergi jauh, cukup berhenti bicara sebentar, menarik napas perlahan, atau memberi waktu untuk menjadi lebih tenang.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543800" y="2606040"/>
            <a:ext cx="4114800" cy="3200400"/>
          </a:xfrm>
          <a:prstGeom prst="roundRect">
            <a:avLst>
              <a:gd name="adj" fmla="val 4571"/>
            </a:avLst>
          </a:prstGeom>
          <a:solidFill>
            <a:srgbClr val="FFF6E3"/>
          </a:solidFill>
          <a:ln/>
        </p:spPr>
      </p:sp>
      <p:sp>
        <p:nvSpPr>
          <p:cNvPr id="11" name="Text 8"/>
          <p:cNvSpPr/>
          <p:nvPr/>
        </p:nvSpPr>
        <p:spPr>
          <a:xfrm>
            <a:off x="78181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18120" y="32004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i="1" dirty="0">
                <a:solidFill>
                  <a:srgbClr val="2B2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"Saat emosi sedang sangat kuat, mengambil jeda membantu kita berpikir dulu sebelum bertindak."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TEKNIK STOP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17320" cy="1417320"/>
          </a:xfrm>
          <a:prstGeom prst="roundRect">
            <a:avLst>
              <a:gd name="adj" fmla="val 14194"/>
            </a:avLst>
          </a:prstGeom>
          <a:solidFill>
            <a:srgbClr val="4FB6B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148840" y="960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48840" y="14813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 dari 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966960" y="868680"/>
            <a:ext cx="1417320" cy="1417320"/>
          </a:xfrm>
          <a:prstGeom prst="ellipse">
            <a:avLst/>
          </a:prstGeom>
          <a:solidFill>
            <a:srgbClr val="E9F7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1197864"/>
            <a:ext cx="758952" cy="7589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606040"/>
            <a:ext cx="6675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Mengamati apa yang sedang terjadi dalam diri dan lingkungan sekitar. Bertanya pada diri sendiri: "Apa yang sebenarnya terjadi?", "Apa yang aku rasakan dan pikirkan?", "Apakah pikiranku sesuai fakta?"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543800" y="2606040"/>
            <a:ext cx="4114800" cy="3200400"/>
          </a:xfrm>
          <a:prstGeom prst="roundRect">
            <a:avLst>
              <a:gd name="adj" fmla="val 4571"/>
            </a:avLst>
          </a:prstGeom>
          <a:solidFill>
            <a:srgbClr val="E9F7F6"/>
          </a:solidFill>
          <a:ln/>
        </p:spPr>
      </p:sp>
      <p:sp>
        <p:nvSpPr>
          <p:cNvPr id="11" name="Text 8"/>
          <p:cNvSpPr/>
          <p:nvPr/>
        </p:nvSpPr>
        <p:spPr>
          <a:xfrm>
            <a:off x="78181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18120" y="32004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i="1" dirty="0">
                <a:solidFill>
                  <a:srgbClr val="2B2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"Temanku belum membalas pesan — mungkin dia bukan mengabaikanku, tapi sedang sibuk atau belum melihatnya."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TEKNIK STOP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417320" cy="1417320"/>
          </a:xfrm>
          <a:prstGeom prst="roundRect">
            <a:avLst>
              <a:gd name="adj" fmla="val 14194"/>
            </a:avLst>
          </a:prstGeom>
          <a:solidFill>
            <a:srgbClr val="FF6F5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148840" y="960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Mindfully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48840" y="14813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dari 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966960" y="868680"/>
            <a:ext cx="1417320" cy="1417320"/>
          </a:xfrm>
          <a:prstGeom prst="ellipse">
            <a:avLst/>
          </a:prstGeom>
          <a:solidFill>
            <a:srgbClr val="FFED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1197864"/>
            <a:ext cx="758952" cy="7589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606040"/>
            <a:ext cx="6675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Melanjutkan tindakan secara sadar setelah memahami situasi. Pilih respons yang paling tepat dan tidak merugikan diri sendiri maupun orang lain.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543800" y="2606040"/>
            <a:ext cx="4114800" cy="3200400"/>
          </a:xfrm>
          <a:prstGeom prst="roundRect">
            <a:avLst>
              <a:gd name="adj" fmla="val 4571"/>
            </a:avLst>
          </a:prstGeom>
          <a:solidFill>
            <a:srgbClr val="FFEDE9"/>
          </a:solidFill>
          <a:ln/>
        </p:spPr>
      </p:sp>
      <p:sp>
        <p:nvSpPr>
          <p:cNvPr id="11" name="Text 8"/>
          <p:cNvSpPr/>
          <p:nvPr/>
        </p:nvSpPr>
        <p:spPr>
          <a:xfrm>
            <a:off x="78181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18120" y="32004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i="1" dirty="0">
                <a:solidFill>
                  <a:srgbClr val="2B22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"Saat dikritik teman, aku memilih mendengarkan dan bertanya penjelasannya — bukan membalas dengan kasar."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HUBUNGAN KONSEP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Regulasi Emosi &amp; Pembelajaran Sosial Emosional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regulasi emosi berkaitan erat dengan dua kompetensi inti dalam Pembelajaran Sosial Emosional (PSE):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2834640"/>
          </a:xfrm>
          <a:prstGeom prst="roundRect">
            <a:avLst>
              <a:gd name="adj" fmla="val 5161"/>
            </a:avLst>
          </a:prstGeom>
          <a:solidFill>
            <a:srgbClr val="FFEDE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06040"/>
            <a:ext cx="914400" cy="914400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80720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606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370332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mengenali emosi, pikiran, kekuatan, dan keterbatasan diri sendiri.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80760" y="2286000"/>
            <a:ext cx="5349240" cy="2834640"/>
          </a:xfrm>
          <a:prstGeom prst="roundRect">
            <a:avLst>
              <a:gd name="adj" fmla="val 5161"/>
            </a:avLst>
          </a:prstGeom>
          <a:solidFill>
            <a:srgbClr val="E9F7F6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2606040"/>
            <a:ext cx="914400" cy="914400"/>
          </a:xfrm>
          <a:prstGeom prst="ellipse">
            <a:avLst/>
          </a:prstGeom>
          <a:solidFill>
            <a:srgbClr val="4FB6B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80720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606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Self-Management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00800" y="370332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mengelola emosi, pikiran, dan perilaku secara efektif dalam berbagai situasi.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5440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4FB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Melalui latihan mengenali emosi dan teknik STOP, remaja belajar mengendalikan reaksi sesaat sekaligus memahami diri dan memilih perilaku yang sesuai nilai-nilainya.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206240" cy="4206240"/>
          </a:xfrm>
          <a:prstGeom prst="ellipse">
            <a:avLst/>
          </a:prstGeom>
          <a:solidFill>
            <a:srgbClr val="3D3163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840480" cy="3840480"/>
          </a:xfrm>
          <a:prstGeom prst="ellipse">
            <a:avLst/>
          </a:prstGeom>
          <a:solidFill>
            <a:srgbClr val="3D3163"/>
          </a:solidFill>
          <a:ln/>
        </p:spPr>
      </p:sp>
      <p:sp>
        <p:nvSpPr>
          <p:cNvPr id="4" name="Shape 2"/>
          <p:cNvSpPr/>
          <p:nvPr/>
        </p:nvSpPr>
        <p:spPr>
          <a:xfrm>
            <a:off x="4495648" y="777240"/>
            <a:ext cx="822960" cy="82296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8528" y="96012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92928" y="777240"/>
            <a:ext cx="822960" cy="822960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08" y="960120"/>
            <a:ext cx="45720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90208" y="777240"/>
            <a:ext cx="822960" cy="822960"/>
          </a:xfrm>
          <a:prstGeom prst="ellipse">
            <a:avLst/>
          </a:prstGeom>
          <a:solidFill>
            <a:srgbClr val="4FB6B0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088" y="96012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148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Remaja Akan Menghadapi Badai</a:t>
            </a:r>
            <a:endParaRPr lang="en-US" sz="3000" dirty="0"/>
          </a:p>
        </p:txBody>
      </p:sp>
      <p:sp>
        <p:nvSpPr>
          <p:cNvPr id="11" name="Text 6"/>
          <p:cNvSpPr/>
          <p:nvPr/>
        </p:nvSpPr>
        <p:spPr>
          <a:xfrm>
            <a:off x="1828800" y="30632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8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kuat bukan berarti tidak boleh sedih atau takut — tapi berani mengakui perasaan, beristirahat, mencari cara sehat menghadapi masalah, dan meminta bantuan saat membutuhkannya.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1965960" y="4206240"/>
            <a:ext cx="8229600" cy="1417320"/>
          </a:xfrm>
          <a:prstGeom prst="roundRect">
            <a:avLst>
              <a:gd name="adj" fmla="val 11613"/>
            </a:avLst>
          </a:prstGeom>
          <a:solidFill>
            <a:srgbClr val="3D3163"/>
          </a:solidFill>
          <a:ln/>
        </p:spPr>
      </p:sp>
      <p:sp>
        <p:nvSpPr>
          <p:cNvPr id="13" name="Text 8"/>
          <p:cNvSpPr/>
          <p:nvPr/>
        </p:nvSpPr>
        <p:spPr>
          <a:xfrm>
            <a:off x="2286000" y="4206240"/>
            <a:ext cx="7589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i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"Emosi bukanlah musuh yang harus dilawan, melainkan sinyal yang perlu dikenali dan dikelola."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914400" y="60807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Singer Menghadapi Badai · Regulasi Emosi Remaja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01368"/>
            <a:ext cx="91440" cy="91440"/>
          </a:xfrm>
          <a:prstGeom prst="ellipse">
            <a:avLst/>
          </a:prstGeom>
          <a:solidFill>
            <a:srgbClr val="4FB6B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Gross, J. J. (2015). Emotion regulation: Current status and future prospects. Psychological Inquiry, 26(1), 1–26.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91440" cy="91440"/>
          </a:xfrm>
          <a:prstGeom prst="ellipse">
            <a:avLst/>
          </a:prstGeom>
          <a:solidFill>
            <a:srgbClr val="4FB6B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0487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Linehan, M. M. (2015). DBT Skills Training Manual (2nd ed.). New York: Guilford Press.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227832"/>
            <a:ext cx="91440" cy="91440"/>
          </a:xfrm>
          <a:prstGeom prst="ellipse">
            <a:avLst/>
          </a:prstGeom>
          <a:solidFill>
            <a:srgbClr val="4FB6B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181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Schweizer, S., Gotlib, I. H., &amp; Blakemore, S.-J. (2020). The role of affective control in emotion regulation during adolescence. Emotion, 20(1), 80–86.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941064"/>
            <a:ext cx="91440" cy="91440"/>
          </a:xfrm>
          <a:prstGeom prst="ellipse">
            <a:avLst/>
          </a:prstGeom>
          <a:solidFill>
            <a:srgbClr val="4FB6B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3133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(2021). Guidelines on mental health promotive and preventive interventions for adolescents. Geneva: WHO.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654296"/>
            <a:ext cx="91440" cy="91440"/>
          </a:xfrm>
          <a:prstGeom prst="ellipse">
            <a:avLst/>
          </a:prstGeom>
          <a:solidFill>
            <a:srgbClr val="4FB6B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4456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CASEL. (2020). CASEL’s SEL Framework: What Are the Core Competence Areas and Where Are They Promoted? Collaborative for Academic, Social, and Emotional Learning.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2026-09-15T00:12:09Z</dcterms:created>
  <dcterms:modified xsi:type="dcterms:W3CDTF">2026-09-15T00:12:09Z</dcterms:modified>
</cp:coreProperties>
</file>