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Commissioner Black"/>
      <p:regular r:id="rId201314"/>
    </p:embeddedFont>
    <p:embeddedFont>
      <p:font typeface="Onest"/>
      <p:regular r:id="rId201315"/>
    </p:embeddedFont>
    <p:embeddedFont>
      <p:font typeface="Onest SemiBold"/>
      <p:regular r:id="rId201316"/>
    </p:embeddedFont>
    <p:embeddedFont>
      <p:font typeface="Onest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86A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DCCE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86A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DCCE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508000"/>
            <a:ext cx="7111822" cy="2854623"/>
          </a:xfrm>
          <a:prstGeom prst="rect">
            <a:avLst/>
          </a:prstGeom>
          <a:solidFill>
            <a:srgbClr val="E1F7FF"/>
          </a:solidFill>
          <a:ln/>
        </p:spPr>
      </p:sp>
      <p:sp>
        <p:nvSpPr>
          <p:cNvPr id="3" name="Text 1"/>
          <p:cNvSpPr/>
          <p:nvPr/>
        </p:nvSpPr>
        <p:spPr>
          <a:xfrm>
            <a:off x="863578" y="685800"/>
            <a:ext cx="721342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spc="12" kern="0" dirty="0">
                <a:solidFill>
                  <a:srgbClr val="12364A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MENJELANG KELULUSAN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63578" y="969963"/>
            <a:ext cx="6603835" cy="1692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6800" spc="-136" kern="0" dirty="0">
                <a:solidFill>
                  <a:srgbClr val="12364A"/>
                </a:solidFill>
                <a:latin typeface="Commissioner Black" pitchFamily="34" charset="0"/>
                <a:ea typeface="Commissioner Black" pitchFamily="34" charset="-122"/>
                <a:cs typeface="Commissioner Black" pitchFamily="34" charset="-120"/>
              </a:rPr>
              <a:t>SINGER Terhadap Target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863578" y="2878336"/>
            <a:ext cx="7213420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2364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Atur hari ini agar langkah menuju target terasa lebih ringan.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7518212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spc="12" kern="0" dirty="0">
                <a:solidFill>
                  <a:srgbClr val="12364A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MULAI DARI KESADARAN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09585" y="893762"/>
            <a:ext cx="6908627" cy="1082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100" spc="-61" kern="0" dirty="0">
                <a:solidFill>
                  <a:srgbClr val="12364A"/>
                </a:solidFill>
                <a:latin typeface="Commissioner Black" pitchFamily="34" charset="0"/>
                <a:ea typeface="Commissioner Black" pitchFamily="34" charset="-122"/>
                <a:cs typeface="Commissioner Black" pitchFamily="34" charset="-120"/>
              </a:rPr>
              <a:t>Manajemen waktu berarti mengarahkan energi</a:t>
            </a:r>
            <a:endParaRPr lang="en-US" sz="4100" dirty="0"/>
          </a:p>
        </p:txBody>
      </p:sp>
      <p:sp>
        <p:nvSpPr>
          <p:cNvPr id="4" name="Text 2"/>
          <p:cNvSpPr/>
          <p:nvPr/>
        </p:nvSpPr>
        <p:spPr>
          <a:xfrm>
            <a:off x="609585" y="2192536"/>
            <a:ext cx="6908627" cy="1726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spcAft>
                <a:spcPts val="1500"/>
              </a:spcAft>
              <a:buNone/>
            </a:pPr>
            <a:r>
              <a:rPr lang="en-US" sz="1700" dirty="0">
                <a:solidFill>
                  <a:srgbClr val="12364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Merencanakan, mengatur, lalu menggunakan waktu secara efektif membantu kita bergerak menuju tujuan.</a:t>
            </a:r>
            <a:endParaRPr lang="en-US" sz="17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2364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Belajar, tugas, ujian, istirahat, dan kegiatan lain perlu terlihat dalam rencana. Coba tanya diri sendiri: ke mana waktu saya paling banyak pergi?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09585" y="4112320"/>
            <a:ext cx="2099615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2364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Rencanakan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585" y="4548485"/>
            <a:ext cx="2099615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2364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Tentukan arah.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013992" y="4112320"/>
            <a:ext cx="2099714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2364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Atur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013992" y="4548485"/>
            <a:ext cx="2099714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2364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Susun kegiatan.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18498" y="4112320"/>
            <a:ext cx="2099714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2364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Gunakan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18498" y="4548485"/>
            <a:ext cx="2099714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2364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Jalankan dengan sadar.</a:t>
            </a:r>
            <a:endParaRPr lang="en-US" sz="17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797" y="0"/>
            <a:ext cx="406389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063898" cy="541863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73483" y="609600"/>
            <a:ext cx="7518212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spc="12" kern="0" dirty="0">
                <a:solidFill>
                  <a:srgbClr val="12364A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KENALI POLANYA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4673483" y="893762"/>
            <a:ext cx="6908627" cy="1082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100" spc="-61" kern="0" dirty="0">
                <a:solidFill>
                  <a:srgbClr val="12364A"/>
                </a:solidFill>
                <a:latin typeface="Commissioner Black" pitchFamily="34" charset="0"/>
                <a:ea typeface="Commissioner Black" pitchFamily="34" charset="-122"/>
                <a:cs typeface="Commissioner Black" pitchFamily="34" charset="-120"/>
              </a:rPr>
              <a:t>Prokrastinasi membuat target terasa makin jauh</a:t>
            </a:r>
            <a:endParaRPr lang="en-US" sz="4100" dirty="0"/>
          </a:p>
        </p:txBody>
      </p:sp>
      <p:sp>
        <p:nvSpPr>
          <p:cNvPr id="5" name="Text 2"/>
          <p:cNvSpPr/>
          <p:nvPr/>
        </p:nvSpPr>
        <p:spPr>
          <a:xfrm>
            <a:off x="4673483" y="2192536"/>
            <a:ext cx="7518212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2364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Kenali tiga pola yang membuat target makin berat dikejar: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4673483" y="2692698"/>
            <a:ext cx="6908627" cy="1333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8000"/>
              </a:lnSpc>
              <a:buSzPct val="100000"/>
              <a:buChar char="•"/>
            </a:pPr>
            <a:r>
              <a:rPr lang="en-US" sz="1700" dirty="0">
                <a:solidFill>
                  <a:srgbClr val="12364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Menunda tugas hingga mendekati tenggat waktu.</a:t>
            </a:r>
            <a:endParaRPr lang="en-US" sz="1700" dirty="0"/>
          </a:p>
          <a:p>
            <a:pPr algn="l" marL="345440" indent="-345440">
              <a:lnSpc>
                <a:spcPct val="118000"/>
              </a:lnSpc>
              <a:buSzPct val="100000"/>
              <a:buChar char="•"/>
            </a:pPr>
            <a:r>
              <a:rPr lang="en-US" sz="1700" dirty="0">
                <a:solidFill>
                  <a:srgbClr val="12364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Terlalu lama di media sosial, game, atau hiburan.</a:t>
            </a:r>
            <a:endParaRPr lang="en-US" sz="1700" dirty="0"/>
          </a:p>
          <a:p>
            <a:pPr algn="l" marL="345440" indent="-345440">
              <a:lnSpc>
                <a:spcPct val="118000"/>
              </a:lnSpc>
              <a:buSzPct val="100000"/>
              <a:buChar char="•"/>
            </a:pPr>
            <a:r>
              <a:rPr lang="en-US" sz="1700" dirty="0">
                <a:solidFill>
                  <a:srgbClr val="12364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Tidak punya jadwal, sehingga sulit membedakan yang penting dari yang hanya mendesak.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673483" y="4220270"/>
            <a:ext cx="6908627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2364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Kenali pemicunya. Kebiasaan kecil apa yang ingin kamu ubah lebih dulu?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spc="12" kern="0" dirty="0">
                <a:solidFill>
                  <a:srgbClr val="12364A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MATRiks PRIORITAS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09585" y="893762"/>
            <a:ext cx="10972526" cy="541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100" spc="-61" kern="0" dirty="0">
                <a:solidFill>
                  <a:srgbClr val="12364A"/>
                </a:solidFill>
                <a:latin typeface="Commissioner Black" pitchFamily="34" charset="0"/>
                <a:ea typeface="Commissioner Black" pitchFamily="34" charset="-122"/>
                <a:cs typeface="Commissioner Black" pitchFamily="34" charset="-120"/>
              </a:rPr>
              <a:t>Bedakan penting dan mendesak</a:t>
            </a:r>
            <a:endParaRPr lang="en-US" sz="4100" dirty="0"/>
          </a:p>
        </p:txBody>
      </p:sp>
      <p:sp>
        <p:nvSpPr>
          <p:cNvPr id="4" name="Text 2"/>
          <p:cNvSpPr/>
          <p:nvPr/>
        </p:nvSpPr>
        <p:spPr>
          <a:xfrm>
            <a:off x="609585" y="1651099"/>
            <a:ext cx="10972526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2364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Matriks Prioritas membantu kita memilih tindakan, bukan sekadar membuat daftar tugas. Tempatkan kegiatanmu, lalu tentukan langkah berikutnya.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9585" y="2457748"/>
            <a:ext cx="5410065" cy="1611213"/>
          </a:xfrm>
          <a:prstGeom prst="rect">
            <a:avLst/>
          </a:prstGeom>
          <a:solidFill>
            <a:srgbClr val="FFE34D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2686348"/>
            <a:ext cx="518147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spc="12" kern="0" dirty="0">
                <a:solidFill>
                  <a:srgbClr val="000000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PENTING · MENDESAK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38179" y="2970510"/>
            <a:ext cx="4952876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000" spc="-45" kern="0" dirty="0">
                <a:solidFill>
                  <a:srgbClr val="000000"/>
                </a:solidFill>
                <a:latin typeface="Commissioner Black" pitchFamily="34" charset="0"/>
                <a:ea typeface="Commissioner Black" pitchFamily="34" charset="-122"/>
                <a:cs typeface="Commissioner Black" pitchFamily="34" charset="-120"/>
              </a:rPr>
              <a:t>K1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38179" y="3493691"/>
            <a:ext cx="4952876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Lakukan segera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172046" y="2457748"/>
            <a:ext cx="5410065" cy="1611213"/>
          </a:xfrm>
          <a:prstGeom prst="rect">
            <a:avLst/>
          </a:prstGeom>
          <a:solidFill>
            <a:srgbClr val="5DCCE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640" y="2686348"/>
            <a:ext cx="518147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spc="12" kern="0" dirty="0">
                <a:solidFill>
                  <a:srgbClr val="000000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PENTING · TIDAK MENDESAK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640" y="2970510"/>
            <a:ext cx="4952876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000" spc="-45" kern="0" dirty="0">
                <a:solidFill>
                  <a:srgbClr val="000000"/>
                </a:solidFill>
                <a:latin typeface="Commissioner Black" pitchFamily="34" charset="0"/>
                <a:ea typeface="Commissioner Black" pitchFamily="34" charset="-122"/>
                <a:cs typeface="Commissioner Black" pitchFamily="34" charset="-120"/>
              </a:rPr>
              <a:t>K2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00640" y="3493691"/>
            <a:ext cx="4952876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Jadwalkan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609585" y="4221361"/>
            <a:ext cx="5410065" cy="1611213"/>
          </a:xfrm>
          <a:prstGeom prst="rect">
            <a:avLst/>
          </a:prstGeom>
          <a:solidFill>
            <a:srgbClr val="5DCCEA"/>
          </a:solidFill>
          <a:ln/>
        </p:spPr>
      </p:sp>
      <p:sp>
        <p:nvSpPr>
          <p:cNvPr id="14" name="Text 12"/>
          <p:cNvSpPr/>
          <p:nvPr/>
        </p:nvSpPr>
        <p:spPr>
          <a:xfrm>
            <a:off x="838179" y="4449961"/>
            <a:ext cx="518147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spc="12" kern="0" dirty="0">
                <a:solidFill>
                  <a:srgbClr val="000000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TIDAK PENTING · MENDESAK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38179" y="4734123"/>
            <a:ext cx="4952876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000" spc="-45" kern="0" dirty="0">
                <a:solidFill>
                  <a:srgbClr val="000000"/>
                </a:solidFill>
                <a:latin typeface="Commissioner Black" pitchFamily="34" charset="0"/>
                <a:ea typeface="Commissioner Black" pitchFamily="34" charset="-122"/>
                <a:cs typeface="Commissioner Black" pitchFamily="34" charset="-120"/>
              </a:rPr>
              <a:t>K3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38179" y="5257304"/>
            <a:ext cx="4952876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Batasi atau delegasikan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6172046" y="4221361"/>
            <a:ext cx="5410065" cy="1611213"/>
          </a:xfrm>
          <a:prstGeom prst="rect">
            <a:avLst/>
          </a:prstGeom>
          <a:solidFill>
            <a:srgbClr val="FFE34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640" y="4449961"/>
            <a:ext cx="518147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spc="12" kern="0" dirty="0">
                <a:solidFill>
                  <a:srgbClr val="000000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TIDAK PENTING · TIDAK MENDESAK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640" y="4734123"/>
            <a:ext cx="4952876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000" spc="-45" kern="0" dirty="0">
                <a:solidFill>
                  <a:srgbClr val="000000"/>
                </a:solidFill>
                <a:latin typeface="Commissioner Black" pitchFamily="34" charset="0"/>
                <a:ea typeface="Commissioner Black" pitchFamily="34" charset="-122"/>
                <a:cs typeface="Commissioner Black" pitchFamily="34" charset="-120"/>
              </a:rPr>
              <a:t>K4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400640" y="5257304"/>
            <a:ext cx="4952876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Pangkas atau buang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spc="12" kern="0" dirty="0">
                <a:solidFill>
                  <a:srgbClr val="12364A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ARAHKAN WAKTU KE K2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09585" y="893762"/>
            <a:ext cx="10972526" cy="541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100" spc="-61" kern="0" dirty="0">
                <a:solidFill>
                  <a:srgbClr val="12364A"/>
                </a:solidFill>
                <a:latin typeface="Commissioner Black" pitchFamily="34" charset="0"/>
                <a:ea typeface="Commissioner Black" pitchFamily="34" charset="-122"/>
                <a:cs typeface="Commissioner Black" pitchFamily="34" charset="-120"/>
              </a:rPr>
              <a:t>Kebiasaan K2 membawa kita lebih siap</a:t>
            </a:r>
            <a:endParaRPr lang="en-US" sz="4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628874"/>
            <a:ext cx="7450447" cy="41909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7518212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spc="12" kern="0" dirty="0">
                <a:solidFill>
                  <a:srgbClr val="12364A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LATIHAN BERSAMA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09585" y="893762"/>
            <a:ext cx="6908627" cy="1082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100" spc="-61" kern="0" dirty="0">
                <a:solidFill>
                  <a:srgbClr val="12364A"/>
                </a:solidFill>
                <a:latin typeface="Commissioner Black" pitchFamily="34" charset="0"/>
                <a:ea typeface="Commissioner Black" pitchFamily="34" charset="-122"/>
                <a:cs typeface="Commissioner Black" pitchFamily="34" charset="-120"/>
              </a:rPr>
              <a:t>Latihan: petakan 24 jam milikmu</a:t>
            </a:r>
            <a:endParaRPr lang="en-US" sz="4100" dirty="0"/>
          </a:p>
        </p:txBody>
      </p:sp>
      <p:sp>
        <p:nvSpPr>
          <p:cNvPr id="4" name="Text 2"/>
          <p:cNvSpPr/>
          <p:nvPr/>
        </p:nvSpPr>
        <p:spPr>
          <a:xfrm>
            <a:off x="609585" y="2192536"/>
            <a:ext cx="6908627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2364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Gunakan LKPD “Bener Melangkah: Menguasai Matriks Prioritas Hidup”. Ikuti langkahnya, lalu pilih perubahan kecil yang bisa dicoba.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09585" y="2999184"/>
            <a:ext cx="83480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2364A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09585" y="3301405"/>
            <a:ext cx="3301917" cy="19050"/>
          </a:xfrm>
          <a:prstGeom prst="rect">
            <a:avLst/>
          </a:prstGeom>
          <a:solidFill>
            <a:srgbClr val="FF783D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3449935"/>
            <a:ext cx="3301917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2364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Warnai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09585" y="3886101"/>
            <a:ext cx="3301917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2364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Tandai waktu yang bermakna dan waktu yang terbuang.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216295" y="2999184"/>
            <a:ext cx="870623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2364A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216295" y="3301405"/>
            <a:ext cx="3301917" cy="19050"/>
          </a:xfrm>
          <a:prstGeom prst="rect">
            <a:avLst/>
          </a:prstGeom>
          <a:solidFill>
            <a:srgbClr val="FF783D"/>
          </a:solidFill>
          <a:ln/>
        </p:spPr>
      </p:sp>
      <p:sp>
        <p:nvSpPr>
          <p:cNvPr id="11" name="Text 9"/>
          <p:cNvSpPr/>
          <p:nvPr/>
        </p:nvSpPr>
        <p:spPr>
          <a:xfrm>
            <a:off x="4216295" y="3449935"/>
            <a:ext cx="3301917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2364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Catat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216295" y="3886101"/>
            <a:ext cx="3301917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2364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Kenali kegiatan yang paling sering menggeser target.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09585" y="4803874"/>
            <a:ext cx="883819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2364A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09585" y="5106095"/>
            <a:ext cx="3301917" cy="19050"/>
          </a:xfrm>
          <a:prstGeom prst="rect">
            <a:avLst/>
          </a:prstGeom>
          <a:solidFill>
            <a:srgbClr val="FF783D"/>
          </a:solidFill>
          <a:ln/>
        </p:spPr>
      </p:sp>
      <p:sp>
        <p:nvSpPr>
          <p:cNvPr id="15" name="Text 13"/>
          <p:cNvSpPr/>
          <p:nvPr/>
        </p:nvSpPr>
        <p:spPr>
          <a:xfrm>
            <a:off x="609585" y="5254625"/>
            <a:ext cx="3301917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2364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Kelompokkan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09585" y="5690791"/>
            <a:ext cx="3301917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2364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Tempatkan kegiatan di K1, K2, K3, atau K4.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216295" y="4803874"/>
            <a:ext cx="88967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2364A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216295" y="5106095"/>
            <a:ext cx="3301917" cy="19050"/>
          </a:xfrm>
          <a:prstGeom prst="rect">
            <a:avLst/>
          </a:prstGeom>
          <a:solidFill>
            <a:srgbClr val="FF783D"/>
          </a:solidFill>
          <a:ln/>
        </p:spPr>
      </p:sp>
      <p:sp>
        <p:nvSpPr>
          <p:cNvPr id="19" name="Text 17"/>
          <p:cNvSpPr/>
          <p:nvPr/>
        </p:nvSpPr>
        <p:spPr>
          <a:xfrm>
            <a:off x="4216295" y="5254625"/>
            <a:ext cx="3301917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2364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Pilih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216295" y="5690791"/>
            <a:ext cx="3301917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2364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Kurangi satu kegiatan K4, jadwalkan satu kegiatan K2.</a:t>
            </a:r>
            <a:endParaRPr lang="en-US" sz="17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797" y="0"/>
            <a:ext cx="4063898" cy="69133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spc="12" kern="0" dirty="0">
                <a:solidFill>
                  <a:srgbClr val="12364A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RENCANA YANG REALISTIS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09585" y="893762"/>
            <a:ext cx="10972526" cy="1082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100" spc="-61" kern="0" dirty="0">
                <a:solidFill>
                  <a:srgbClr val="12364A"/>
                </a:solidFill>
                <a:latin typeface="Commissioner Black" pitchFamily="34" charset="0"/>
                <a:ea typeface="Commissioner Black" pitchFamily="34" charset="-122"/>
                <a:cs typeface="Commissioner Black" pitchFamily="34" charset="-120"/>
              </a:rPr>
              <a:t>Susun rencana yang benar-benar bisa dijalankan</a:t>
            </a:r>
            <a:endParaRPr lang="en-US" sz="4100" dirty="0"/>
          </a:p>
        </p:txBody>
      </p:sp>
      <p:sp>
        <p:nvSpPr>
          <p:cNvPr id="4" name="Text 2"/>
          <p:cNvSpPr/>
          <p:nvPr/>
        </p:nvSpPr>
        <p:spPr>
          <a:xfrm>
            <a:off x="609585" y="2192536"/>
            <a:ext cx="10972526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2364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Pilih satu target belajar atau target masa depan. Pecah menjadi kegiatan harian atau mingguan; tetapkan waktu, durasi, dan tanda selesai.</a:t>
            </a:r>
            <a:endParaRPr lang="en-US" sz="1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999184"/>
          <a:ext cx="9143771" cy="914400"/>
        </p:xfrm>
        <a:graphic>
          <a:graphicData uri="http://schemas.openxmlformats.org/drawingml/2006/table">
            <a:tbl>
              <a:tblPr/>
              <a:tblGrid>
                <a:gridCol w="2413956"/>
                <a:gridCol w="4279285"/>
                <a:gridCol w="4279285"/>
              </a:tblGrid>
              <a:tr h="4918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364A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Bagian hari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5D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3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364A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Kegiatan terencana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5D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3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364A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Tanda selesai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5D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3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18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364A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Pagi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5D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3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3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364A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Pilih satu kegiatan K2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5D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3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3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364A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Mulai sesuai rencana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5D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3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3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18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364A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Sepulang sekolah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5D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3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3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364A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Kerjakan satu bagian tugas/latihan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5D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3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3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364A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Bagian yang dipilih tuntas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5D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3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3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18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364A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Sore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5D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3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3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364A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Sisakan waktu untuk istirahat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5D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3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3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364A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Berhenti dan beristirahat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5D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3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3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91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364A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Akhir hari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5D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3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364A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Evaluasi; tentukan langkah esok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5D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3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364A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Rencana esok lebih jelas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5D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3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585" y="5639296"/>
            <a:ext cx="11582110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2364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Rencana realistis lebih kuat daripada jadwal sempurna yang tidak dijalankan.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7797" cy="6858000"/>
          </a:xfrm>
          <a:prstGeom prst="rect">
            <a:avLst/>
          </a:prstGeom>
          <a:solidFill>
            <a:srgbClr val="E1F7FF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609600"/>
            <a:ext cx="7518212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spc="12" kern="0" dirty="0">
                <a:solidFill>
                  <a:srgbClr val="12364A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LANGKAH MINGGU INI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09585" y="893762"/>
            <a:ext cx="6908627" cy="1082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100" spc="-61" kern="0" dirty="0">
                <a:solidFill>
                  <a:srgbClr val="12364A"/>
                </a:solidFill>
                <a:latin typeface="Commissioner Black" pitchFamily="34" charset="0"/>
                <a:ea typeface="Commissioner Black" pitchFamily="34" charset="-122"/>
                <a:cs typeface="Commissioner Black" pitchFamily="34" charset="-120"/>
              </a:rPr>
              <a:t>Satu komitmen kecil untuk minggu ini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609585" y="2192536"/>
            <a:ext cx="6908627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2364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Tuliskan satu kebiasaan yang akan dikurangi dan satu tindakan yang akan dimulai.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585" y="2957909"/>
            <a:ext cx="6908627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2364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Komitmen saya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09585" y="3512542"/>
            <a:ext cx="6908528" cy="31651"/>
          </a:xfrm>
          <a:prstGeom prst="roundRect">
            <a:avLst>
              <a:gd name="adj" fmla="val 49998"/>
            </a:avLst>
          </a:prstGeom>
          <a:solidFill>
            <a:srgbClr val="12364A"/>
          </a:solidFill>
          <a:ln/>
        </p:spPr>
      </p:sp>
      <p:sp>
        <p:nvSpPr>
          <p:cNvPr id="8" name="Text 6"/>
          <p:cNvSpPr/>
          <p:nvPr/>
        </p:nvSpPr>
        <p:spPr>
          <a:xfrm>
            <a:off x="609585" y="3901380"/>
            <a:ext cx="6908627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2364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Waktu pelaksanaan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09585" y="4456013"/>
            <a:ext cx="6908528" cy="31651"/>
          </a:xfrm>
          <a:prstGeom prst="roundRect">
            <a:avLst>
              <a:gd name="adj" fmla="val 49998"/>
            </a:avLst>
          </a:prstGeom>
          <a:solidFill>
            <a:srgbClr val="12364A"/>
          </a:solidFill>
          <a:ln/>
        </p:spPr>
      </p:sp>
      <p:sp>
        <p:nvSpPr>
          <p:cNvPr id="10" name="Text 8"/>
          <p:cNvSpPr/>
          <p:nvPr/>
        </p:nvSpPr>
        <p:spPr>
          <a:xfrm>
            <a:off x="609585" y="4844852"/>
            <a:ext cx="6908627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2364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Indikator berhasil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09585" y="5399484"/>
            <a:ext cx="6908528" cy="31651"/>
          </a:xfrm>
          <a:prstGeom prst="roundRect">
            <a:avLst>
              <a:gd name="adj" fmla="val 49998"/>
            </a:avLst>
          </a:prstGeom>
          <a:solidFill>
            <a:srgbClr val="12364A"/>
          </a:solidFill>
          <a:ln/>
        </p:spPr>
      </p:sp>
      <p:sp>
        <p:nvSpPr>
          <p:cNvPr id="12" name="Text 10"/>
          <p:cNvSpPr/>
          <p:nvPr/>
        </p:nvSpPr>
        <p:spPr>
          <a:xfrm>
            <a:off x="609585" y="5636022"/>
            <a:ext cx="7518212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2364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Manajemen waktu adalah cara menjaga arah menuju target.</a:t>
            </a:r>
            <a:endParaRPr lang="en-US" sz="17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797" y="0"/>
            <a:ext cx="406389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2026-09-28T06:33:13Z</dcterms:created>
  <dcterms:modified xsi:type="dcterms:W3CDTF">2026-09-28T06:33:13Z</dcterms:modified>
</cp:coreProperties>
</file>